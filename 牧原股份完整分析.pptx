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7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8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9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dd99d301f4caf" /><Relationship Type="http://schemas.openxmlformats.org/officeDocument/2006/relationships/extended-properties" Target="/docProps/app.xml" Id="Rb8112823ee614e1b" /><Relationship Type="http://schemas.openxmlformats.org/officeDocument/2006/relationships/officeDocument" Target="/ppt/presentation.xml" Id="R0be911ca303f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2a0fe90bd4eb2"/>
  </p:sldMasterIdLst>
  <p:notesMasterIdLst>
    <p:notesMasterId xmlns:r="http://schemas.openxmlformats.org/officeDocument/2006/relationships" r:id="Ra3e8eaac7e9a4a6b"/>
  </p:notesMasterIdLst>
  <p:sldIdLst>
    <p:sldId xmlns:r="http://schemas.openxmlformats.org/officeDocument/2006/relationships" id="256" r:id="R0f453a46b1e045aa"/>
    <p:sldId xmlns:r="http://schemas.openxmlformats.org/officeDocument/2006/relationships" id="257" r:id="R7e3128bf933246b1"/>
    <p:sldId xmlns:r="http://schemas.openxmlformats.org/officeDocument/2006/relationships" id="258" r:id="R9cf6023c03e74b05"/>
    <p:sldId xmlns:r="http://schemas.openxmlformats.org/officeDocument/2006/relationships" id="259" r:id="R10f23bbd386a41ff"/>
    <p:sldId xmlns:r="http://schemas.openxmlformats.org/officeDocument/2006/relationships" id="260" r:id="Rf7db485341d94f9d"/>
    <p:sldId xmlns:r="http://schemas.openxmlformats.org/officeDocument/2006/relationships" id="261" r:id="R8ce3baac879f41d9"/>
    <p:sldId xmlns:r="http://schemas.openxmlformats.org/officeDocument/2006/relationships" id="262" r:id="R29558c6ef8434258"/>
    <p:sldId xmlns:r="http://schemas.openxmlformats.org/officeDocument/2006/relationships" id="263" r:id="Rcfdf672bcca047c4"/>
    <p:sldId xmlns:r="http://schemas.openxmlformats.org/officeDocument/2006/relationships" id="264" r:id="R9c2109f4e43d4eeb"/>
    <p:sldId xmlns:r="http://schemas.openxmlformats.org/officeDocument/2006/relationships" id="265" r:id="R81a4da9c3a01458c"/>
    <p:sldId xmlns:r="http://schemas.openxmlformats.org/officeDocument/2006/relationships" id="266" r:id="R2d4d86da8b1e4556"/>
    <p:sldId xmlns:r="http://schemas.openxmlformats.org/officeDocument/2006/relationships" id="267" r:id="Rfa9fe5ae02334037"/>
    <p:sldId xmlns:r="http://schemas.openxmlformats.org/officeDocument/2006/relationships" id="268" r:id="R552ce16c95a24c62"/>
    <p:sldId xmlns:r="http://schemas.openxmlformats.org/officeDocument/2006/relationships" id="269" r:id="R0c724fc889e441b0"/>
    <p:sldId xmlns:r="http://schemas.openxmlformats.org/officeDocument/2006/relationships" id="270" r:id="Rf4c5683ed5ab46d3"/>
    <p:sldId xmlns:r="http://schemas.openxmlformats.org/officeDocument/2006/relationships" id="271" r:id="R08339a9506344dec"/>
    <p:sldId xmlns:r="http://schemas.openxmlformats.org/officeDocument/2006/relationships" id="272" r:id="R50db36b90be1499c"/>
    <p:sldId xmlns:r="http://schemas.openxmlformats.org/officeDocument/2006/relationships" id="273" r:id="Re099cb56ef3a4005"/>
    <p:sldId xmlns:r="http://schemas.openxmlformats.org/officeDocument/2006/relationships" id="274" r:id="R1fa42ef9996b4ff2"/>
    <p:sldId xmlns:r="http://schemas.openxmlformats.org/officeDocument/2006/relationships" id="275" r:id="R5b59ebd5bf10432a"/>
    <p:sldId xmlns:r="http://schemas.openxmlformats.org/officeDocument/2006/relationships" id="276" r:id="R68fb2c538c1f4f3b"/>
    <p:sldId xmlns:r="http://schemas.openxmlformats.org/officeDocument/2006/relationships" id="277" r:id="R9964b32049614c1c"/>
    <p:sldId xmlns:r="http://schemas.openxmlformats.org/officeDocument/2006/relationships" id="278" r:id="R831cfdba43eb41c6"/>
    <p:sldId xmlns:r="http://schemas.openxmlformats.org/officeDocument/2006/relationships" id="279" r:id="R0c575230db4f46dd"/>
    <p:sldId xmlns:r="http://schemas.openxmlformats.org/officeDocument/2006/relationships" id="280" r:id="Rf89a493b3ab140e7"/>
    <p:sldId xmlns:r="http://schemas.openxmlformats.org/officeDocument/2006/relationships" id="281" r:id="R61eb28ae8ae14dc3"/>
    <p:sldId xmlns:r="http://schemas.openxmlformats.org/officeDocument/2006/relationships" id="282" r:id="Rfc58361accbe488b"/>
    <p:sldId xmlns:r="http://schemas.openxmlformats.org/officeDocument/2006/relationships" id="283" r:id="R0bc7d55a170747e8"/>
    <p:sldId xmlns:r="http://schemas.openxmlformats.org/officeDocument/2006/relationships" id="284" r:id="Rbd80125b232d402c"/>
    <p:sldId xmlns:r="http://schemas.openxmlformats.org/officeDocument/2006/relationships" id="285" r:id="Rdc704db2e78d4b74"/>
    <p:sldId xmlns:r="http://schemas.openxmlformats.org/officeDocument/2006/relationships" id="286" r:id="Rb7496eabfc9540b8"/>
    <p:sldId xmlns:r="http://schemas.openxmlformats.org/officeDocument/2006/relationships" id="287" r:id="R0e21fc743b154549"/>
    <p:sldId xmlns:r="http://schemas.openxmlformats.org/officeDocument/2006/relationships" id="288" r:id="R2d257946e5c44e11"/>
    <p:sldId xmlns:r="http://schemas.openxmlformats.org/officeDocument/2006/relationships" id="289" r:id="R23d6a9a5387b4eed"/>
    <p:sldId xmlns:r="http://schemas.openxmlformats.org/officeDocument/2006/relationships" id="290" r:id="R995e03609b184bcd"/>
    <p:sldId xmlns:r="http://schemas.openxmlformats.org/officeDocument/2006/relationships" id="291" r:id="R4a13b3aadc194b46"/>
    <p:sldId xmlns:r="http://schemas.openxmlformats.org/officeDocument/2006/relationships" id="292" r:id="R972b45724bec45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d2b9e85314878" /><Relationship Type="http://schemas.openxmlformats.org/officeDocument/2006/relationships/slideMaster" Target="/ppt/slideMasters/slideMaster1.xml" Id="Re172a0fe90bd4eb2" /><Relationship Type="http://schemas.openxmlformats.org/officeDocument/2006/relationships/notesMaster" Target="/ppt/notesMasters/notesMaster1.xml" Id="Ra3e8eaac7e9a4a6b" /><Relationship Type="http://schemas.openxmlformats.org/officeDocument/2006/relationships/presProps" Target="/ppt/presProps.xml" Id="Rd083ab132c2c41ee" /><Relationship Type="http://schemas.openxmlformats.org/officeDocument/2006/relationships/viewProps" Target="/ppt/viewProps.xml" Id="R032c128d723646cf" /><Relationship Type="http://schemas.openxmlformats.org/officeDocument/2006/relationships/tableStyles" Target="/ppt/tableStyles.xml" Id="R958a42b5f80041b6" /><Relationship Type="http://schemas.openxmlformats.org/officeDocument/2006/relationships/slide" Target="/ppt/slides/slide1.xml" Id="R0f453a46b1e045aa" /><Relationship Type="http://schemas.openxmlformats.org/officeDocument/2006/relationships/slide" Target="/ppt/slides/slide2.xml" Id="R7e3128bf933246b1" /><Relationship Type="http://schemas.openxmlformats.org/officeDocument/2006/relationships/slide" Target="/ppt/slides/slide3.xml" Id="R9cf6023c03e74b05" /><Relationship Type="http://schemas.openxmlformats.org/officeDocument/2006/relationships/slide" Target="/ppt/slides/slide4.xml" Id="R10f23bbd386a41ff" /><Relationship Type="http://schemas.openxmlformats.org/officeDocument/2006/relationships/slide" Target="/ppt/slides/slide5.xml" Id="Rf7db485341d94f9d" /><Relationship Type="http://schemas.openxmlformats.org/officeDocument/2006/relationships/slide" Target="/ppt/slides/slide6.xml" Id="R8ce3baac879f41d9" /><Relationship Type="http://schemas.openxmlformats.org/officeDocument/2006/relationships/slide" Target="/ppt/slides/slide7.xml" Id="R29558c6ef8434258" /><Relationship Type="http://schemas.openxmlformats.org/officeDocument/2006/relationships/slide" Target="/ppt/slides/slide8.xml" Id="Rcfdf672bcca047c4" /><Relationship Type="http://schemas.openxmlformats.org/officeDocument/2006/relationships/slide" Target="/ppt/slides/slide9.xml" Id="R9c2109f4e43d4eeb" /><Relationship Type="http://schemas.openxmlformats.org/officeDocument/2006/relationships/slide" Target="/ppt/slides/slide10.xml" Id="R81a4da9c3a01458c" /><Relationship Type="http://schemas.openxmlformats.org/officeDocument/2006/relationships/slide" Target="/ppt/slides/slide11.xml" Id="R2d4d86da8b1e4556" /><Relationship Type="http://schemas.openxmlformats.org/officeDocument/2006/relationships/slide" Target="/ppt/slides/slide12.xml" Id="Rfa9fe5ae02334037" /><Relationship Type="http://schemas.openxmlformats.org/officeDocument/2006/relationships/slide" Target="/ppt/slides/slide13.xml" Id="R552ce16c95a24c62" /><Relationship Type="http://schemas.openxmlformats.org/officeDocument/2006/relationships/slide" Target="/ppt/slides/slide14.xml" Id="R0c724fc889e441b0" /><Relationship Type="http://schemas.openxmlformats.org/officeDocument/2006/relationships/slide" Target="/ppt/slides/slide15.xml" Id="Rf4c5683ed5ab46d3" /><Relationship Type="http://schemas.openxmlformats.org/officeDocument/2006/relationships/slide" Target="/ppt/slides/slide16.xml" Id="R08339a9506344dec" /><Relationship Type="http://schemas.openxmlformats.org/officeDocument/2006/relationships/slide" Target="/ppt/slides/slide17.xml" Id="R50db36b90be1499c" /><Relationship Type="http://schemas.openxmlformats.org/officeDocument/2006/relationships/slide" Target="/ppt/slides/slide18.xml" Id="Re099cb56ef3a4005" /><Relationship Type="http://schemas.openxmlformats.org/officeDocument/2006/relationships/slide" Target="/ppt/slides/slide19.xml" Id="R1fa42ef9996b4ff2" /><Relationship Type="http://schemas.openxmlformats.org/officeDocument/2006/relationships/slide" Target="/ppt/slides/slide20.xml" Id="R5b59ebd5bf10432a" /><Relationship Type="http://schemas.openxmlformats.org/officeDocument/2006/relationships/slide" Target="/ppt/slides/slide21.xml" Id="R68fb2c538c1f4f3b" /><Relationship Type="http://schemas.openxmlformats.org/officeDocument/2006/relationships/slide" Target="/ppt/slides/slide22.xml" Id="R9964b32049614c1c" /><Relationship Type="http://schemas.openxmlformats.org/officeDocument/2006/relationships/slide" Target="/ppt/slides/slide23.xml" Id="R831cfdba43eb41c6" /><Relationship Type="http://schemas.openxmlformats.org/officeDocument/2006/relationships/slide" Target="/ppt/slides/slide24.xml" Id="R0c575230db4f46dd" /><Relationship Type="http://schemas.openxmlformats.org/officeDocument/2006/relationships/slide" Target="/ppt/slides/slide25.xml" Id="Rf89a493b3ab140e7" /><Relationship Type="http://schemas.openxmlformats.org/officeDocument/2006/relationships/slide" Target="/ppt/slides/slide26.xml" Id="R61eb28ae8ae14dc3" /><Relationship Type="http://schemas.openxmlformats.org/officeDocument/2006/relationships/slide" Target="/ppt/slides/slide27.xml" Id="Rfc58361accbe488b" /><Relationship Type="http://schemas.openxmlformats.org/officeDocument/2006/relationships/slide" Target="/ppt/slides/slide28.xml" Id="R0bc7d55a170747e8" /><Relationship Type="http://schemas.openxmlformats.org/officeDocument/2006/relationships/slide" Target="/ppt/slides/slide29.xml" Id="Rbd80125b232d402c" /><Relationship Type="http://schemas.openxmlformats.org/officeDocument/2006/relationships/slide" Target="/ppt/slides/slide30.xml" Id="Rdc704db2e78d4b74" /><Relationship Type="http://schemas.openxmlformats.org/officeDocument/2006/relationships/slide" Target="/ppt/slides/slide31.xml" Id="Rb7496eabfc9540b8" /><Relationship Type="http://schemas.openxmlformats.org/officeDocument/2006/relationships/slide" Target="/ppt/slides/slide32.xml" Id="R0e21fc743b154549" /><Relationship Type="http://schemas.openxmlformats.org/officeDocument/2006/relationships/slide" Target="/ppt/slides/slide33.xml" Id="R2d257946e5c44e11" /><Relationship Type="http://schemas.openxmlformats.org/officeDocument/2006/relationships/slide" Target="/ppt/slides/slide34.xml" Id="R23d6a9a5387b4eed" /><Relationship Type="http://schemas.openxmlformats.org/officeDocument/2006/relationships/slide" Target="/ppt/slides/slide35.xml" Id="R995e03609b184bcd" /><Relationship Type="http://schemas.openxmlformats.org/officeDocument/2006/relationships/slide" Target="/ppt/slides/slide36.xml" Id="R4a13b3aadc194b46" /><Relationship Type="http://schemas.openxmlformats.org/officeDocument/2006/relationships/slide" Target="/ppt/slides/slide37.xml" Id="R972b45724bec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2b030fc1c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56f07aac34cce" /><Relationship Type="http://schemas.openxmlformats.org/officeDocument/2006/relationships/notesMaster" Target="/ppt/notesMasters/notesMaster1.xml" Id="R4145873fbf06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f3c2078784b44" /><Relationship Type="http://schemas.openxmlformats.org/officeDocument/2006/relationships/notesMaster" Target="/ppt/notesMasters/notesMaster1.xml" Id="Re948e82dbe5447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b826ffce24fec" /><Relationship Type="http://schemas.openxmlformats.org/officeDocument/2006/relationships/notesMaster" Target="/ppt/notesMasters/notesMaster1.xml" Id="R2092f1baac674f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be08bd3ed4a3a" /><Relationship Type="http://schemas.openxmlformats.org/officeDocument/2006/relationships/notesMaster" Target="/ppt/notesMasters/notesMaster1.xml" Id="R5101bd6b9a93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eb474e43141c6" /><Relationship Type="http://schemas.openxmlformats.org/officeDocument/2006/relationships/notesMaster" Target="/ppt/notesMasters/notesMaster1.xml" Id="R929ab33d2041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dade9b35224b6a" /><Relationship Type="http://schemas.openxmlformats.org/officeDocument/2006/relationships/notesMaster" Target="/ppt/notesMasters/notesMaster1.xml" Id="Re1049262d45041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00f96a43084c9d" /><Relationship Type="http://schemas.openxmlformats.org/officeDocument/2006/relationships/notesMaster" Target="/ppt/notesMasters/notesMaster1.xml" Id="R062425e21bbe4e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4df10b475e409a" /><Relationship Type="http://schemas.openxmlformats.org/officeDocument/2006/relationships/notesMaster" Target="/ppt/notesMasters/notesMaster1.xml" Id="R129dc88fd9f3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7c79e2d62d4d8f" /><Relationship Type="http://schemas.openxmlformats.org/officeDocument/2006/relationships/notesMaster" Target="/ppt/notesMasters/notesMaster1.xml" Id="R5cdae08a66fe48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93848aae16408c" /><Relationship Type="http://schemas.openxmlformats.org/officeDocument/2006/relationships/notesMaster" Target="/ppt/notesMasters/notesMaster1.xml" Id="R880aaf5650ee4b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1dde0a2d5a4e5f" /><Relationship Type="http://schemas.openxmlformats.org/officeDocument/2006/relationships/notesMaster" Target="/ppt/notesMasters/notesMaster1.xml" Id="Rb66a5cd9b1ab4e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79fb1463448ef" /><Relationship Type="http://schemas.openxmlformats.org/officeDocument/2006/relationships/notesMaster" Target="/ppt/notesMasters/notesMaster1.xml" Id="R39da75c4f9bd44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c0817001164840" /><Relationship Type="http://schemas.openxmlformats.org/officeDocument/2006/relationships/notesMaster" Target="/ppt/notesMasters/notesMaster1.xml" Id="R09a9237f9a494e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619baba50d435e" /><Relationship Type="http://schemas.openxmlformats.org/officeDocument/2006/relationships/notesMaster" Target="/ppt/notesMasters/notesMaster1.xml" Id="Rf093f994f1c243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f7ceafee9e4bf4" /><Relationship Type="http://schemas.openxmlformats.org/officeDocument/2006/relationships/notesMaster" Target="/ppt/notesMasters/notesMaster1.xml" Id="Rcc7c86e569da44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488a2f4dd940f2" /><Relationship Type="http://schemas.openxmlformats.org/officeDocument/2006/relationships/notesMaster" Target="/ppt/notesMasters/notesMaster1.xml" Id="Rd74e90c73db144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d38736c7cc4ea4" /><Relationship Type="http://schemas.openxmlformats.org/officeDocument/2006/relationships/notesMaster" Target="/ppt/notesMasters/notesMaster1.xml" Id="Rb905c6e3b2784c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ad7e57a3544c58" /><Relationship Type="http://schemas.openxmlformats.org/officeDocument/2006/relationships/notesMaster" Target="/ppt/notesMasters/notesMaster1.xml" Id="R5dd5f22dedc246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5ff915ee4c40b2" /><Relationship Type="http://schemas.openxmlformats.org/officeDocument/2006/relationships/notesMaster" Target="/ppt/notesMasters/notesMaster1.xml" Id="Re06586ce5ff940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19336e76a54f09" /><Relationship Type="http://schemas.openxmlformats.org/officeDocument/2006/relationships/notesMaster" Target="/ppt/notesMasters/notesMaster1.xml" Id="R38fffab3256348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7d570933b84bb9" /><Relationship Type="http://schemas.openxmlformats.org/officeDocument/2006/relationships/notesMaster" Target="/ppt/notesMasters/notesMaster1.xml" Id="Rd2d6c0b46bb0433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e5d24601894408" /><Relationship Type="http://schemas.openxmlformats.org/officeDocument/2006/relationships/notesMaster" Target="/ppt/notesMasters/notesMaster1.xml" Id="Rb1950296091f45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00a934b7e9438b" /><Relationship Type="http://schemas.openxmlformats.org/officeDocument/2006/relationships/notesMaster" Target="/ppt/notesMasters/notesMaster1.xml" Id="R6d0ba55e765c49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42fd97037c4e23" /><Relationship Type="http://schemas.openxmlformats.org/officeDocument/2006/relationships/notesMaster" Target="/ppt/notesMasters/notesMaster1.xml" Id="Rf161b05910544d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b3b927049f4144" /><Relationship Type="http://schemas.openxmlformats.org/officeDocument/2006/relationships/notesMaster" Target="/ppt/notesMasters/notesMaster1.xml" Id="Rfc4b81a22e3143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e09c5a85a54aa3" /><Relationship Type="http://schemas.openxmlformats.org/officeDocument/2006/relationships/notesMaster" Target="/ppt/notesMasters/notesMaster1.xml" Id="Ra3106728d6ab41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9596ebe7494f8c" /><Relationship Type="http://schemas.openxmlformats.org/officeDocument/2006/relationships/notesMaster" Target="/ppt/notesMasters/notesMaster1.xml" Id="R9d780136cee445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b54bfcfd784049" /><Relationship Type="http://schemas.openxmlformats.org/officeDocument/2006/relationships/notesMaster" Target="/ppt/notesMasters/notesMaster1.xml" Id="Ra21379ac365e44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92f5924f62416f" /><Relationship Type="http://schemas.openxmlformats.org/officeDocument/2006/relationships/notesMaster" Target="/ppt/notesMasters/notesMaster1.xml" Id="R23618d0ad7a04e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ffccfc810e4b75" /><Relationship Type="http://schemas.openxmlformats.org/officeDocument/2006/relationships/notesMaster" Target="/ppt/notesMasters/notesMaster1.xml" Id="Rae0b510c94c847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bea2b0f07e240de" /><Relationship Type="http://schemas.openxmlformats.org/officeDocument/2006/relationships/notesMaster" Target="/ppt/notesMasters/notesMaster1.xml" Id="Rf96df977d2c047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06b113c88b94cea" /><Relationship Type="http://schemas.openxmlformats.org/officeDocument/2006/relationships/notesMaster" Target="/ppt/notesMasters/notesMaster1.xml" Id="R22ea6d49a46f43a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a8b28ef47c4eb6" /><Relationship Type="http://schemas.openxmlformats.org/officeDocument/2006/relationships/notesMaster" Target="/ppt/notesMasters/notesMaster1.xml" Id="Rcc08f59d8b8b46b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3bd46f66c24fa4" /><Relationship Type="http://schemas.openxmlformats.org/officeDocument/2006/relationships/notesMaster" Target="/ppt/notesMasters/notesMaster1.xml" Id="R53ffef1b902049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f06813f19d341ca" /><Relationship Type="http://schemas.openxmlformats.org/officeDocument/2006/relationships/notesMaster" Target="/ppt/notesMasters/notesMaster1.xml" Id="R5b6791bc431347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40263935a0d4d7a" /><Relationship Type="http://schemas.openxmlformats.org/officeDocument/2006/relationships/notesMaster" Target="/ppt/notesMasters/notesMaster1.xml" Id="R4c816d855aa7400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7e49d164f3a4e35" /><Relationship Type="http://schemas.openxmlformats.org/officeDocument/2006/relationships/notesMaster" Target="/ppt/notesMasters/notesMaster1.xml" Id="R3474e13aaa31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开场问题：牧原为什么可能值4600亿元，而不是为什么股价应该到80元？</a:t>
            </a:r>
          </a:p>
          <a:p xmlns:a="http://schemas.openxmlformats.org/drawingml/2006/main">
            <a:r>
              <a:t>图片来源：[S24]；标识来源：[S25]。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不要把110元以上当作基础价值。</a:t>
            </a:r>
          </a:p>
          <a:p xmlns:a="http://schemas.openxmlformats.org/drawingml/2006/main">
            <a:r>
              <a:t>事实基础：[S03] 总股本；其他为假设、推导和判断。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收束：不要预测单点价格，要管理情景、假设和赔率。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6fda975dc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9170f9227410d" /><Relationship Type="http://schemas.openxmlformats.org/officeDocument/2006/relationships/slideLayout" Target="/ppt/slideLayouts/slideLayout1.xml" Id="Rdeff51150c764be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f51150c76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3a8aba0ad4ef6" /><Relationship Type="http://schemas.openxmlformats.org/officeDocument/2006/relationships/image" Target="/ppt/media/image.jpeg" Id="Rd5d91b83b475409b" /><Relationship Type="http://schemas.openxmlformats.org/officeDocument/2006/relationships/image" Target="/ppt/media/image.png" Id="R9a4b80c0255b4d6d" /><Relationship Type="http://schemas.openxmlformats.org/officeDocument/2006/relationships/notesSlide" Target="/ppt/notesSlides/notesSlide1.xml" Id="R658ecb866f564e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921bffa943cc" /><Relationship Type="http://schemas.openxmlformats.org/officeDocument/2006/relationships/notesSlide" Target="/ppt/notesSlides/notesSlide2.xml" Id="Re67319119a8f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911dda4c647b4" /><Relationship Type="http://schemas.openxmlformats.org/officeDocument/2006/relationships/chart" Target="/ppt/slides/charts/chart1.xml" Id="Rce73055530c14eb0" /><Relationship Type="http://schemas.openxmlformats.org/officeDocument/2006/relationships/notesSlide" Target="/ppt/notesSlides/notesSlide3.xml" Id="Rf11c2f97b31b49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5cc2246f24fe1" /><Relationship Type="http://schemas.openxmlformats.org/officeDocument/2006/relationships/chart" Target="/ppt/slides/charts/chart2.xml" Id="R5577d4936f1448a2" /><Relationship Type="http://schemas.openxmlformats.org/officeDocument/2006/relationships/notesSlide" Target="/ppt/notesSlides/notesSlide4.xml" Id="R0ba8a533e8fa48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f8040208d4614" /><Relationship Type="http://schemas.openxmlformats.org/officeDocument/2006/relationships/image" Target="/ppt/media/image2.png" Id="R57efb2cadc944763" /><Relationship Type="http://schemas.openxmlformats.org/officeDocument/2006/relationships/notesSlide" Target="/ppt/notesSlides/notesSlide5.xml" Id="R048eb40b419b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8afac32ef41e4" /><Relationship Type="http://schemas.openxmlformats.org/officeDocument/2006/relationships/image" Target="/ppt/media/image3.png" Id="R1f84facbcdc94e6e" /><Relationship Type="http://schemas.openxmlformats.org/officeDocument/2006/relationships/image" Target="/ppt/media/image4.png" Id="Rf053884291ed414b" /><Relationship Type="http://schemas.openxmlformats.org/officeDocument/2006/relationships/notesSlide" Target="/ppt/notesSlides/notesSlide6.xml" Id="Rd8be23cdd9d249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fd2e8474a4c4b" /><Relationship Type="http://schemas.openxmlformats.org/officeDocument/2006/relationships/notesSlide" Target="/ppt/notesSlides/notesSlide7.xml" Id="R5dd918a3f0a0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b4a5010cb461b" /><Relationship Type="http://schemas.openxmlformats.org/officeDocument/2006/relationships/image" Target="/ppt/media/image5.png" Id="R89411758cfe841d4" /><Relationship Type="http://schemas.openxmlformats.org/officeDocument/2006/relationships/chart" Target="/ppt/slides/charts/chart3.xml" Id="Rc7d5380e70554710" /><Relationship Type="http://schemas.openxmlformats.org/officeDocument/2006/relationships/notesSlide" Target="/ppt/notesSlides/notesSlide8.xml" Id="R9aa0cdd4d5624c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dd16f27ef49b9" /><Relationship Type="http://schemas.openxmlformats.org/officeDocument/2006/relationships/image" Target="/ppt/media/image6.png" Id="R095fddbba9794cb5" /><Relationship Type="http://schemas.openxmlformats.org/officeDocument/2006/relationships/notesSlide" Target="/ppt/notesSlides/notesSlide9.xml" Id="Rf25cee94b0ff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b23a4be49462d" /><Relationship Type="http://schemas.openxmlformats.org/officeDocument/2006/relationships/chart" Target="/ppt/slides/charts/chart4.xml" Id="R6727c9a686234413" /><Relationship Type="http://schemas.openxmlformats.org/officeDocument/2006/relationships/notesSlide" Target="/ppt/notesSlides/notesSlide10.xml" Id="R022534c736d14e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6a6767d394794" /><Relationship Type="http://schemas.openxmlformats.org/officeDocument/2006/relationships/chart" Target="/ppt/slides/charts/chart5.xml" Id="R124cfbec3a314c30" /><Relationship Type="http://schemas.openxmlformats.org/officeDocument/2006/relationships/notesSlide" Target="/ppt/notesSlides/notesSlide11.xml" Id="Rc080deca7f6143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e910b896d45ff" /><Relationship Type="http://schemas.openxmlformats.org/officeDocument/2006/relationships/chart" Target="/ppt/slides/charts/chart6.xml" Id="R0d28eea225b841a8" /><Relationship Type="http://schemas.openxmlformats.org/officeDocument/2006/relationships/notesSlide" Target="/ppt/notesSlides/notesSlide12.xml" Id="R99e808db159a49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35ac787f4ae7" /><Relationship Type="http://schemas.openxmlformats.org/officeDocument/2006/relationships/notesSlide" Target="/ppt/notesSlides/notesSlide13.xml" Id="R0de269c812414b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39e5837ae4423" /><Relationship Type="http://schemas.openxmlformats.org/officeDocument/2006/relationships/notesSlide" Target="/ppt/notesSlides/notesSlide14.xml" Id="R395c54c6704c4b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9a47aea64991" /><Relationship Type="http://schemas.openxmlformats.org/officeDocument/2006/relationships/notesSlide" Target="/ppt/notesSlides/notesSlide15.xml" Id="R1159d3b8b97b43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150e6142e4d3c" /><Relationship Type="http://schemas.openxmlformats.org/officeDocument/2006/relationships/notesSlide" Target="/ppt/notesSlides/notesSlide16.xml" Id="Ra6aac8aa3b1d4c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ced62c824f6c" /><Relationship Type="http://schemas.openxmlformats.org/officeDocument/2006/relationships/notesSlide" Target="/ppt/notesSlides/notesSlide17.xml" Id="R09bade18ea3e48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68d757b0458e" /><Relationship Type="http://schemas.openxmlformats.org/officeDocument/2006/relationships/notesSlide" Target="/ppt/notesSlides/notesSlide18.xml" Id="R9e9dc012aaad4d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1051a465147ec" /><Relationship Type="http://schemas.openxmlformats.org/officeDocument/2006/relationships/notesSlide" Target="/ppt/notesSlides/notesSlide19.xml" Id="Rfb124536d30b4f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5bc9926944767" /><Relationship Type="http://schemas.openxmlformats.org/officeDocument/2006/relationships/chart" Target="/ppt/slides/charts/chart7.xml" Id="Rdcd9b0a195a84d95" /><Relationship Type="http://schemas.openxmlformats.org/officeDocument/2006/relationships/notesSlide" Target="/ppt/notesSlides/notesSlide20.xml" Id="Re8fceef0c3014b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91139acf848b8" /><Relationship Type="http://schemas.openxmlformats.org/officeDocument/2006/relationships/notesSlide" Target="/ppt/notesSlides/notesSlide21.xml" Id="R2eaa675147ad42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543a1201047b1" /><Relationship Type="http://schemas.openxmlformats.org/officeDocument/2006/relationships/image" Target="/ppt/media/image7.png" Id="R20a05bc779394c80" /><Relationship Type="http://schemas.openxmlformats.org/officeDocument/2006/relationships/notesSlide" Target="/ppt/notesSlides/notesSlide22.xml" Id="R60ac9435b1b141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ebffbdc3f4956" /><Relationship Type="http://schemas.openxmlformats.org/officeDocument/2006/relationships/notesSlide" Target="/ppt/notesSlides/notesSlide23.xml" Id="R1491a548274646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96308d3574d8b" /><Relationship Type="http://schemas.openxmlformats.org/officeDocument/2006/relationships/chart" Target="/ppt/slides/charts/chart8.xml" Id="Rabc7ab1d823b409a" /><Relationship Type="http://schemas.openxmlformats.org/officeDocument/2006/relationships/notesSlide" Target="/ppt/notesSlides/notesSlide24.xml" Id="R2c611c164d534c2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994c6586944e5" /><Relationship Type="http://schemas.openxmlformats.org/officeDocument/2006/relationships/notesSlide" Target="/ppt/notesSlides/notesSlide25.xml" Id="R42a4a1ef89c145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718569b7540dd" /><Relationship Type="http://schemas.openxmlformats.org/officeDocument/2006/relationships/chart" Target="/ppt/slides/charts/chart9.xml" Id="Rc8eefcd122274667" /><Relationship Type="http://schemas.openxmlformats.org/officeDocument/2006/relationships/notesSlide" Target="/ppt/notesSlides/notesSlide26.xml" Id="Rdff1e6a134544a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7f908a60b49f6" /><Relationship Type="http://schemas.openxmlformats.org/officeDocument/2006/relationships/notesSlide" Target="/ppt/notesSlides/notesSlide27.xml" Id="Rec49cd9c548e4f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bfe9c9394cd2" /><Relationship Type="http://schemas.openxmlformats.org/officeDocument/2006/relationships/notesSlide" Target="/ppt/notesSlides/notesSlide28.xml" Id="Rdfb2373cbc7746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a41dfe006401b" /><Relationship Type="http://schemas.openxmlformats.org/officeDocument/2006/relationships/notesSlide" Target="/ppt/notesSlides/notesSlide29.xml" Id="R682382818dc84d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81e4dd1af4338" /><Relationship Type="http://schemas.openxmlformats.org/officeDocument/2006/relationships/notesSlide" Target="/ppt/notesSlides/notesSlide30.xml" Id="Rc445fb7315e4404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d719ed3e046a1" /><Relationship Type="http://schemas.openxmlformats.org/officeDocument/2006/relationships/notesSlide" Target="/ppt/notesSlides/notesSlide31.xml" Id="R0b90b3ea9c6f4d0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b344fc4d942f6" /><Relationship Type="http://schemas.openxmlformats.org/officeDocument/2006/relationships/notesSlide" Target="/ppt/notesSlides/notesSlide32.xml" Id="Ra648138b89e946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376aa6bdc41d0" /><Relationship Type="http://schemas.openxmlformats.org/officeDocument/2006/relationships/notesSlide" Target="/ppt/notesSlides/notesSlide33.xml" Id="R9748ad7509fb49b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17544f0f4b0f" /><Relationship Type="http://schemas.openxmlformats.org/officeDocument/2006/relationships/hyperlink" Target="https://static.cninfo.com.cn/finalpage/2026-03-28/1225042506.PDF" TargetMode="External" Id="R14a26fc6564e4853" /><Relationship Type="http://schemas.openxmlformats.org/officeDocument/2006/relationships/hyperlink" Target="https://static.cninfo.com.cn/finalpage/2026-01-16/1224936121.PDF" TargetMode="External" Id="Raa0339ec643b4e5a" /><Relationship Type="http://schemas.openxmlformats.org/officeDocument/2006/relationships/hyperlink" Target="https://q.stock.sohu.com/cn/002714/index.shtml" TargetMode="External" Id="R1ab50425fd554a38" /><Relationship Type="http://schemas.openxmlformats.org/officeDocument/2006/relationships/hyperlink" Target="https://vip.stock.finance.sina.com.cn/corp/view/vCB_AllBulletin.php?stockid=002714" TargetMode="External" Id="Rb25ebcc0e6b049ab" /><Relationship Type="http://schemas.openxmlformats.org/officeDocument/2006/relationships/hyperlink" Target="https://www.stats.gov.cn/sj/sjjd/202601/t20260119_1962332.html" TargetMode="External" Id="Rca339ec011134f2a" /><Relationship Type="http://schemas.openxmlformats.org/officeDocument/2006/relationships/hyperlink" Target="https://www.hunan.gov.cn/zqt/zcsd/202605/t20260518_33979020.html" TargetMode="External" Id="Rd67c68374838425e" /><Relationship Type="http://schemas.openxmlformats.org/officeDocument/2006/relationships/hyperlink" Target="https://finance.sina.com.cn/wm/2026-03-18/doc-inhrmtwa4563402.shtml" TargetMode="External" Id="Rc1256f319d284fe8" /><Relationship Type="http://schemas.openxmlformats.org/officeDocument/2006/relationships/notesSlide" Target="/ppt/notesSlides/notesSlide34.xml" Id="R9ba90776fafb444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11c8ca286460a" /><Relationship Type="http://schemas.openxmlformats.org/officeDocument/2006/relationships/hyperlink" Target="https://static.cninfo.com.cn/finalpage/2026-07-07/1225411958.PDF" TargetMode="External" Id="R61a460625f3a4fa1" /><Relationship Type="http://schemas.openxmlformats.org/officeDocument/2006/relationships/hyperlink" Target="https://www.cfachina.org/servicesupport/analygarden/ncpl/sz1/202311/P020231114557648449407.pdf" TargetMode="External" Id="R5b61178fa75b4139" /><Relationship Type="http://schemas.openxmlformats.org/officeDocument/2006/relationships/hyperlink" Target="https://www.stcn.com/article/detail/3910198.html" TargetMode="External" Id="R7c3fd9348ec74b8f" /><Relationship Type="http://schemas.openxmlformats.org/officeDocument/2006/relationships/hyperlink" Target="https://xm.shandong.gov.cn/art/2025/7/28/art_101456_10346429.html" TargetMode="External" Id="R0f9d1521c2df4abd" /><Relationship Type="http://schemas.openxmlformats.org/officeDocument/2006/relationships/hyperlink" Target="https://xm.shandong.gov.cn/art/2026/1/15/art_101456_10350225.html" TargetMode="External" Id="Rdf9e91cfaf5043b7" /><Relationship Type="http://schemas.openxmlformats.org/officeDocument/2006/relationships/hyperlink" Target="https://www.stcn.com/article/detail/3976918.html" TargetMode="External" Id="R95dcb8b525314999" /><Relationship Type="http://schemas.openxmlformats.org/officeDocument/2006/relationships/hyperlink" Target="https://finance.yahoo.com/quote/SFD/" TargetMode="External" Id="Rbc4c0b5168274dbc" /><Relationship Type="http://schemas.openxmlformats.org/officeDocument/2006/relationships/notesSlide" Target="/ppt/notesSlides/notesSlide35.xml" Id="Re842fd70298d4f0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26cb2ee834067" /><Relationship Type="http://schemas.openxmlformats.org/officeDocument/2006/relationships/hyperlink" Target="https://finance.yahoo.com/quote/SEB/" TargetMode="External" Id="R9b47b52f5fbd419d" /><Relationship Type="http://schemas.openxmlformats.org/officeDocument/2006/relationships/hyperlink" Target="https://finance.yahoo.com/quote/TSN/" TargetMode="External" Id="R12a2f99681d3426e" /><Relationship Type="http://schemas.openxmlformats.org/officeDocument/2006/relationships/hyperlink" Target="https://investors.smithfieldfoods.com/news-events/press-releases/detail/1434/smithfield-foods-reports-record-fiscal-2025-results" TargetMode="External" Id="R02a40a857ad7490d" /><Relationship Type="http://schemas.openxmlformats.org/officeDocument/2006/relationships/hyperlink" Target="https://img3.gelonghui.com/pdf/cb6b1-ad23ee33-8113-43f2-9795-e319272bb79e.pdf" TargetMode="External" Id="R6f54b7162fa8405c" /><Relationship Type="http://schemas.openxmlformats.org/officeDocument/2006/relationships/hyperlink" Target="https://pdf.dfcfw.com/pdf/H3_AP202410241640449138_1.pdf" TargetMode="External" Id="R3df5849ae9474e89" /><Relationship Type="http://schemas.openxmlformats.org/officeDocument/2006/relationships/hyperlink" Target="https://www.wens.com.cn/Investor/index.aspx" TargetMode="External" Id="R6389f08814c54ae2" /><Relationship Type="http://schemas.openxmlformats.org/officeDocument/2006/relationships/hyperlink" Target="https://investors.smithfieldfoods.com/financial-results" TargetMode="External" Id="R228ab5e01c584539" /><Relationship Type="http://schemas.openxmlformats.org/officeDocument/2006/relationships/notesSlide" Target="/ppt/notesSlides/notesSlide36.xml" Id="R9e928111bf294ce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f4e6f775f4666" /><Relationship Type="http://schemas.openxmlformats.org/officeDocument/2006/relationships/hyperlink" Target="https://www.seaboardcorp.com/" TargetMode="External" Id="Ra81b0ce60a994b83" /><Relationship Type="http://schemas.openxmlformats.org/officeDocument/2006/relationships/hyperlink" Target="https://ir.jbsglobal.com/" TargetMode="External" Id="R8621f5ccd4f340a4" /><Relationship Type="http://schemas.openxmlformats.org/officeDocument/2006/relationships/hyperlink" Target="https://www.news.cn/20240616/10171da0cbcc4e7eac194b6fe430a9c7/c.html" TargetMode="External" Id="R286ebd06cfa44beb" /><Relationship Type="http://schemas.openxmlformats.org/officeDocument/2006/relationships/hyperlink" Target="https://www.news.cn/20240616/10171da0cbcc4e7eac194b6fe430a9c7/c.html" TargetMode="External" Id="R0bec33d29ac54810" /><Relationship Type="http://schemas.openxmlformats.org/officeDocument/2006/relationships/hyperlink" Target="https://www.muyuanfoods.com/" TargetMode="External" Id="R5373fafe42494d49" /><Relationship Type="http://schemas.openxmlformats.org/officeDocument/2006/relationships/hyperlink" Target="https://www.stats.gov.cn/sj/zxfb/202302/t20230203_1899428.html" TargetMode="External" Id="Raf8117040ca847d0" /><Relationship Type="http://schemas.openxmlformats.org/officeDocument/2006/relationships/hyperlink" Target="https://www.muyuanfoods.com/" TargetMode="External" Id="R598b04c1b8984e8e" /><Relationship Type="http://schemas.openxmlformats.org/officeDocument/2006/relationships/hyperlink" Target="https://www.stats.gov.cn/sj/sjjd/202606/t20260604_1963889.html" TargetMode="External" Id="R4189c74e9307440d" /><Relationship Type="http://schemas.openxmlformats.org/officeDocument/2006/relationships/notesSlide" Target="/ppt/notesSlides/notesSlide37.xml" Id="R371f5d10a81c40fd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174D37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{"8×","9×","10×","11×","12×"}</c:f>
              <c:strCache>
                <c:ptCount val="5"/>
                <c:pt idx="0">
                  <c:v>8×</c:v>
                </c:pt>
                <c:pt idx="1">
                  <c:v>9×</c:v>
                </c:pt>
                <c:pt idx="2">
                  <c:v>10×</c:v>
                </c:pt>
                <c:pt idx="3">
                  <c:v>11×</c:v>
                </c:pt>
                <c:pt idx="4">
                  <c:v>12×</c:v>
                </c:pt>
              </c:strCache>
            </c:strRef>
          </c:cat>
          <c:val>
            <c:numRef>
              <c:f>{14.33,14.01,13.75,13.53,13.36}</c:f>
              <c:numCache>
                <c:formatCode>0.00</c:formatCode>
                <c:ptCount val="5"/>
                <c:pt idx="0">
                  <c:v>14.33</c:v>
                </c:pt>
                <c:pt idx="1">
                  <c:v>14.01</c:v>
                </c:pt>
                <c:pt idx="2">
                  <c:v>13.75</c:v>
                </c:pt>
                <c:pt idx="3">
                  <c:v>13.53</c:v>
                </c:pt>
                <c:pt idx="4">
                  <c:v>13.36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4.6"/>
          <c:min val="1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每股价值（元）</c:f>
              <c:strCache>
                <c:ptCount val="1"/>
                <c:pt idx="0">
                  <c:v>每股价值（元）</c:v>
                </c:pt>
              </c:strCache>
            </c:strRef>
          </c:tx>
          <c:spPr>
            <a:ln xmlns:a="http://schemas.openxmlformats.org/drawingml/2006/main" w="28575">
              <a:solidFill>
                <a:srgbClr val="174D37"/>
              </a:solidFill>
              <a:prstDash val="solid"/>
            </a:ln>
          </c:spPr>
          <c:marker>
            <c:symbol val="circle"/>
            <c:size val="6"/>
          </c:marke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{2500,3000,3500,4000,5000,6000,7000}</c:f>
              <c:numCache>
                <c:formatCode>General</c:formatCode>
                <c:ptCount val="7"/>
                <c:pt idx="0">
                  <c:v>2500</c:v>
                </c:pt>
                <c:pt idx="1">
                  <c:v>3000</c:v>
                </c:pt>
                <c:pt idx="2">
                  <c:v>3500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</c:numCache>
            </c:numRef>
          </c:cat>
          <c:val>
            <c:numRef>
              <c:f>{43.3,52,60.6,69.3,86.6,103.9,121.3}</c:f>
              <c:numCache>
                <c:formatCode>0.0</c:formatCode>
                <c:ptCount val="7"/>
                <c:pt idx="0">
                  <c:v>43.3</c:v>
                </c:pt>
                <c:pt idx="1">
                  <c:v>52</c:v>
                </c:pt>
                <c:pt idx="2">
                  <c:v>60.6</c:v>
                </c:pt>
                <c:pt idx="3">
                  <c:v>69.3</c:v>
                </c:pt>
                <c:pt idx="4">
                  <c:v>86.6</c:v>
                </c:pt>
                <c:pt idx="5">
                  <c:v>103.9</c:v>
                </c:pt>
                <c:pt idx="6">
                  <c:v>121.3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30"/>
          <c:min val="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174D37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{"养殖理论利润下限","养殖理论利润上限","加屠宰后中值","实际归母净利润"}</c:f>
              <c:strCache>
                <c:ptCount val="4"/>
                <c:pt idx="0">
                  <c:v>养殖理论利润下限</c:v>
                </c:pt>
                <c:pt idx="1">
                  <c:v>养殖理论利润上限</c:v>
                </c:pt>
                <c:pt idx="2">
                  <c:v>加屠宰后中值</c:v>
                </c:pt>
                <c:pt idx="3">
                  <c:v>实际归母净利润</c:v>
                </c:pt>
              </c:strCache>
            </c:strRef>
          </c:cat>
          <c:val>
            <c:numRef>
              <c:f>{142.7,146.2,154.15,154.87}</c:f>
              <c:numCache>
                <c:formatCode>0.0</c:formatCode>
                <c:ptCount val="4"/>
                <c:pt idx="0">
                  <c:v>142.7</c:v>
                </c:pt>
                <c:pt idx="1">
                  <c:v>146.2</c:v>
                </c:pt>
                <c:pt idx="2">
                  <c:v>154.15</c:v>
                </c:pt>
                <c:pt idx="3">
                  <c:v>154.87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1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理论归母利润（亿元）</c:f>
              <c:strCache>
                <c:ptCount val="1"/>
                <c:pt idx="0">
                  <c:v>理论归母利润（亿元）</c:v>
                </c:pt>
              </c:strCache>
            </c:strRef>
          </c:tx>
          <c:spPr>
            <a:ln xmlns:a="http://schemas.openxmlformats.org/drawingml/2006/main" w="28575">
              <a:solidFill>
                <a:srgbClr val="174D37"/>
              </a:solidFill>
              <a:prstDash val="solid"/>
            </a:ln>
          </c:spPr>
          <c:marker>
            <c:symbol val="circle"/>
            <c:size val="6"/>
          </c:marke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{14,15,16,18}</c:f>
              <c:numCache>
                <c:formatCode>General</c:formatCode>
                <c:ptCount val="4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18</c:v>
                </c:pt>
              </c:numCache>
            </c:numRef>
          </c:cat>
          <c:val>
            <c:numRef>
              <c:f>{260,360,460,660}</c:f>
              <c:numCache>
                <c:formatCode>0</c:formatCode>
                <c:ptCount val="4"/>
                <c:pt idx="0">
                  <c:v>260</c:v>
                </c:pt>
                <c:pt idx="1">
                  <c:v>360</c:v>
                </c:pt>
                <c:pt idx="2">
                  <c:v>460</c:v>
                </c:pt>
                <c:pt idx="3">
                  <c:v>660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0"/>
          <c:min val="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174D37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{"下降0.1","下降0.3","下降0.5","下降1.0"}</c:f>
              <c:strCache>
                <c:ptCount val="4"/>
                <c:pt idx="0">
                  <c:v>下降0.1</c:v>
                </c:pt>
                <c:pt idx="1">
                  <c:v>下降0.3</c:v>
                </c:pt>
                <c:pt idx="2">
                  <c:v>下降0.5</c:v>
                </c:pt>
                <c:pt idx="3">
                  <c:v>下降1.0</c:v>
                </c:pt>
              </c:strCache>
            </c:strRef>
          </c:cat>
          <c:val>
            <c:numRef>
              <c:f>{10,30,50,100}</c:f>
              <c:numCache>
                <c:formatCode>0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C58A30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{"2.5元/kg","3.5元/kg","4.5元/kg","6.5元/kg"}</c:f>
              <c:strCache>
                <c:ptCount val="4"/>
                <c:pt idx="0">
                  <c:v>2.5元/千克</c:v>
                </c:pt>
                <c:pt idx="1">
                  <c:v>3.5元/千克</c:v>
                </c:pt>
                <c:pt idx="2">
                  <c:v>4.5元/千克</c:v>
                </c:pt>
                <c:pt idx="3">
                  <c:v>6.5元/千克</c:v>
                </c:pt>
              </c:strCache>
            </c:strRef>
          </c:cat>
          <c:val>
            <c:numRef>
              <c:f>{15.6,21.9,28.1,40.6}</c:f>
              <c:numCache>
                <c:formatCode>0.0</c:formatCode>
                <c:ptCount val="4"/>
                <c:pt idx="0">
                  <c:v>15.6</c:v>
                </c:pt>
                <c:pt idx="1">
                  <c:v>21.9</c:v>
                </c:pt>
                <c:pt idx="2">
                  <c:v>28.1</c:v>
                </c:pt>
                <c:pt idx="3">
                  <c:v>40.6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174D37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{"牧原","山东自繁四季","全国平均","山东外购二季"}</c:f>
              <c:strCache>
                <c:ptCount val="4"/>
                <c:pt idx="0">
                  <c:v>牧原</c:v>
                </c:pt>
                <c:pt idx="1">
                  <c:v>山东自繁四季</c:v>
                </c:pt>
                <c:pt idx="2">
                  <c:v>全国平均</c:v>
                </c:pt>
                <c:pt idx="3">
                  <c:v>山东外购二季</c:v>
                </c:pt>
              </c:strCache>
            </c:strRef>
          </c:cat>
          <c:val>
            <c:numRef>
              <c:f>{12,13.39,14.1,14.68}</c:f>
              <c:numCache>
                <c:formatCode>0.00</c:formatCode>
                <c:ptCount val="4"/>
                <c:pt idx="0">
                  <c:v>12</c:v>
                </c:pt>
                <c:pt idx="1">
                  <c:v>13.39</c:v>
                </c:pt>
                <c:pt idx="2">
                  <c:v>14.1</c:v>
                </c:pt>
                <c:pt idx="3">
                  <c:v>14.68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"/>
          <c:min val="1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历史关键节点猪价（元/kg）</c:f>
              <c:strCache>
                <c:ptCount val="1"/>
                <c:pt idx="0">
                  <c:v>猪价（元/千克）</c:v>
                </c:pt>
              </c:strCache>
            </c:strRef>
          </c:tx>
          <c:spPr>
            <a:ln xmlns:a="http://schemas.openxmlformats.org/drawingml/2006/main" w="28575">
              <a:solidFill>
                <a:srgbClr val="174D37"/>
              </a:solidFill>
              <a:prstDash val="solid"/>
            </a:ln>
          </c:spPr>
          <c:marker>
            <c:symbol val="circle"/>
            <c:size val="6"/>
          </c:marke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{"2006低","2008高","2009低","2011高","2014低","2016高","2018低","2020高","2022低","2022高","2023低"}</c:f>
              <c:strCache>
                <c:ptCount val="11"/>
                <c:pt idx="0">
                  <c:v>2006低</c:v>
                </c:pt>
                <c:pt idx="1">
                  <c:v>2008高</c:v>
                </c:pt>
                <c:pt idx="2">
                  <c:v>2009低</c:v>
                </c:pt>
                <c:pt idx="3">
                  <c:v>2011高</c:v>
                </c:pt>
                <c:pt idx="4">
                  <c:v>2014低</c:v>
                </c:pt>
                <c:pt idx="5">
                  <c:v>2016高</c:v>
                </c:pt>
                <c:pt idx="6">
                  <c:v>2018低</c:v>
                </c:pt>
                <c:pt idx="7">
                  <c:v>2020高</c:v>
                </c:pt>
                <c:pt idx="8">
                  <c:v>2022低</c:v>
                </c:pt>
                <c:pt idx="9">
                  <c:v>2022高</c:v>
                </c:pt>
                <c:pt idx="10">
                  <c:v>2023低</c:v>
                </c:pt>
              </c:strCache>
            </c:strRef>
          </c:cat>
          <c:val>
            <c:numRef>
              <c:f>{6.7,17.4,9.5,19.8,10.5,21,10,40,12.4,28.3,13.95}</c:f>
              <c:numCache>
                <c:formatCode>0.0</c:formatCode>
                <c:ptCount val="11"/>
                <c:pt idx="0">
                  <c:v>6.7</c:v>
                </c:pt>
                <c:pt idx="1">
                  <c:v>17.4</c:v>
                </c:pt>
                <c:pt idx="2">
                  <c:v>9.5</c:v>
                </c:pt>
                <c:pt idx="3">
                  <c:v>19.8</c:v>
                </c:pt>
                <c:pt idx="4">
                  <c:v>10.5</c:v>
                </c:pt>
                <c:pt idx="5">
                  <c:v>21</c:v>
                </c:pt>
                <c:pt idx="6">
                  <c:v>10</c:v>
                </c:pt>
                <c:pt idx="7">
                  <c:v>40</c:v>
                </c:pt>
                <c:pt idx="8">
                  <c:v>12.4</c:v>
                </c:pt>
                <c:pt idx="9">
                  <c:v>28.3</c:v>
                </c:pt>
                <c:pt idx="10">
                  <c:v>13.95</c:v>
                </c:pt>
              </c:numCache>
            </c:numRef>
          </c:val>
        </c:ser>
        <c:ser>
          <c:idx val="1"/>
          <c:order val="1"/>
          <c:tx>
            <c:v>边际完全成本中枢（14.5 元/千克）</c:v>
          </c:tx>
          <c:spPr>
            <a:ln xmlns:a="http://schemas.openxmlformats.org/drawingml/2006/main" w="23813">
              <a:solidFill>
                <a:srgbClr val="D18B28"/>
              </a:solidFill>
              <a:prstDash val="dash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1"/>
              <c:pt idx="0">
                <c:v>2006低</c:v>
              </c:pt>
              <c:pt idx="1">
                <c:v>2008高</c:v>
              </c:pt>
              <c:pt idx="2">
                <c:v>2009低</c:v>
              </c:pt>
              <c:pt idx="3">
                <c:v>2011高</c:v>
              </c:pt>
              <c:pt idx="4">
                <c:v>2014低</c:v>
              </c:pt>
              <c:pt idx="5">
                <c:v>2016高</c:v>
              </c:pt>
              <c:pt idx="6">
                <c:v>2018低</c:v>
              </c:pt>
              <c:pt idx="7">
                <c:v>2020高</c:v>
              </c:pt>
              <c:pt idx="8">
                <c:v>2022低</c:v>
              </c:pt>
              <c:pt idx="9">
                <c:v>2022高</c:v>
              </c:pt>
              <c:pt idx="10">
                <c:v>2023低</c:v>
              </c:pt>
            </c:strLit>
          </c:cat>
          <c:val>
            <c:numLit>
              <c:formatCode>0.0</c:formatCode>
              <c:ptCount val="11"/>
              <c:pt idx="0">
                <c:v>14.5</c:v>
              </c:pt>
              <c:pt idx="1">
                <c:v>14.5</c:v>
              </c:pt>
              <c:pt idx="2">
                <c:v>14.5</c:v>
              </c:pt>
              <c:pt idx="3">
                <c:v>14.5</c:v>
              </c:pt>
              <c:pt idx="4">
                <c:v>14.5</c:v>
              </c:pt>
              <c:pt idx="5">
                <c:v>14.5</c:v>
              </c:pt>
              <c:pt idx="6">
                <c:v>14.5</c:v>
              </c:pt>
              <c:pt idx="7">
                <c:v>14.5</c:v>
              </c:pt>
              <c:pt idx="8">
                <c:v>14.5</c:v>
              </c:pt>
              <c:pt idx="9">
                <c:v>14.5</c:v>
              </c:pt>
              <c:pt idx="10">
                <c:v>14.5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0706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数值</c:f>
              <c:strCache>
                <c:ptCount val="1"/>
                <c:pt idx="0">
                  <c:v>数值</c:v>
                </c:pt>
              </c:strCache>
            </c:strRef>
          </c:tx>
          <c:spPr>
            <a:solidFill xmlns:a="http://schemas.openxmlformats.org/drawingml/2006/main">
              <a:srgbClr val="174D37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{13.5,14,15,16,17,18}</c:f>
              <c:numCache>
                <c:formatCode>General</c:formatCode>
                <c:ptCount val="6"/>
                <c:pt idx="0">
                  <c:v>13.5</c:v>
                </c:pt>
                <c:pt idx="1">
                  <c:v>14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18</c:v>
                </c:pt>
              </c:numCache>
            </c:numRef>
          </c:cat>
          <c:val>
            <c:numRef>
              <c:f>{210,260,360,460,560,660}</c:f>
              <c:numCache>
                <c:formatCode>0</c:formatCode>
                <c:ptCount val="6"/>
                <c:pt idx="0">
                  <c:v>210</c:v>
                </c:pt>
                <c:pt idx="1">
                  <c:v>260</c:v>
                </c:pt>
                <c:pt idx="2">
                  <c:v>360</c:v>
                </c:pt>
                <c:pt idx="3">
                  <c:v>460</c:v>
                </c:pt>
                <c:pt idx="4">
                  <c:v>560</c:v>
                </c:pt>
                <c:pt idx="5">
                  <c:v>660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7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9D1CA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C756E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91b83b475409b"/>
          <a:srcRect xmlns:a="http://schemas.openxmlformats.org/drawingml/2006/main" l="26958" t="0" r="26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A61A01-D295-4EE2-BD3B-67A793DE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b80c0255b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810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AAB6BB-7451-470F-873A-4C0C2550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牧原股份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36EEDC-08CC-4A3D-A24F-9382ECEA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价值到底来自哪里？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99DBC14-0189-44F1-BEC4-CB9597A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D66DAD7-B3E2-4F44-BC8F-E102729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" y="3572510"/>
            <a:ext cx="5184140" cy="1275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研究性估值框架 · 不构成投资建议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DFF0D34-2848-43E7-91E1-FDE3400F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图片：新华社 [S24]　标识：牧原官网 [S25]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0C9162-EC05-4A81-8317-EC9E3456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4146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0B2AE6B-D93F-45D3-A979-1F7393EF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0D50CB3-4FFE-4DEB-AABE-66199C0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股价预期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321C0E-AFBD-4DD0-B7D6-01E23658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C72210-FA8F-4E51-ABA6-DA56AFC8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3195831-836E-4B7E-B740-FF5B97E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2476500" cy="3390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12BBF2F-5430-49A2-A422-2C50CDA6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6C75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6C756E"/>
                </a:solidFill>
                <a:latin typeface="Times New Roman"/>
                <a:ea typeface="Times New Roman"/>
                <a:cs typeface="Times New Roman"/>
              </a:rPr>
              <a:t>45—55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1B6CE7-02CC-4255-AFBE-49C38DD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元/股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D3A8536-D04A-429B-955A-C27D044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极度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保守价值区间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0E6FF1-5026-4821-B064-E6E7CE5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14元猪价｜260亿元利润｜10–12×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53AD2A3-0DB7-4783-BB74-5F5DBCC8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2476500" cy="3390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355E9AD-C8E4-4066-9762-83F3BC8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62—80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C5BDBC2-9C77-4B9A-A1E0-103CC59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元/股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FAEB9C1-605B-4752-92E0-80CC936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保守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价值区间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F76A79D-6195-4267-8FF7-5D65720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23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15–16元｜360–460亿元｜9–12×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FF4754D-9CC8-44C2-BEC6-FFFBE1F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76500" cy="3390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81021FC-5234-4235-8BC2-89FDFE96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A7C95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A7C957"/>
                </a:solidFill>
                <a:latin typeface="Times New Roman"/>
                <a:ea typeface="Times New Roman"/>
                <a:cs typeface="Times New Roman"/>
              </a:rPr>
              <a:t>85—105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F18D7E9-7D6E-4D23-985D-3601BAE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B3A5BA0-4089-4BC6-BFDB-B57DC4F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标准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价值区间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0C350B8-B4A4-4223-8D32-72B682C9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623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多项经营条件共同兑现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0E43F7C-71DA-4675-BFE2-92228D4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81150"/>
            <a:ext cx="2476500" cy="3390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3867CB-57E4-47E0-9A1C-FE9D567E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431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rPr>
              <a:t>110—130+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FF60F01-7F62-4316-8D31-CBA329B2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元/股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DDCDCC6-E7FD-4B96-848C-BBCAFF47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乐观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区间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17CC4C3-3F18-46AF-A781-B94D828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623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峰值利润叠加估值溢价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BB6265-837C-4217-9C62-911CE4AC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57800"/>
            <a:ext cx="1135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核心判断：正常化猪价 14.5—15.5 </a:t>
            </a:r>
            <a:r>
              <a: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 时，估值中枢更接近 60—85 元。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707EAD-3C41-4E59-AABB-B344258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9C3A07E-F5C9-4DD3-ABF1-8268D44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资料：[S03]；[J01][J06][D12—D16]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F3AB910-0248-4BD7-A0C9-2B407F4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价格区间由经营假设与估值倍数组合得出</a:t>
            </a:r>
          </a:p>
        </p:txBody>
      </p:sp>
    </p:spTree>
    <p:extLst>
      <p:ext uri="{BB962C8B-B14F-4D97-AF65-F5344CB8AC3E}">
        <p14:creationId xmlns:p14="http://schemas.microsoft.com/office/powerpoint/2010/main" val="952636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DBB63A5-CA6C-4FF6-8AAA-1A74DE4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4D341CA-D40E-43D5-9EDE-BD4001EE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目前估值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C84EB67-3CC4-42A7-9D65-2DDFFD7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87A0929-A84B-40A1-8B71-DE48DF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23DCD45-C84D-46E1-927F-5B54F99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C9A119-944D-4990-B3EC-31EE4916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40.66 元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AC7DA5-6BB6-42F5-B297-779ED45C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底稿行情截面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926EEA1-AE63-403F-9AB0-ADA555E8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对应市值约2347亿元 [S04]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0B1DB13-1B60-4338-BA84-67624E0B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E6F54F6-1C10-40E1-B619-EEF9BCE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rPr>
              <a:t>13.36—14.33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992989-DAD3-4D1A-AAB8-6B755D9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隐含正常化猪价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EECC70-A823-4D9C-A9A6-519111B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取决于市场给予 8–12× PE [D17]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95750" y="1524000"/>
          <a:ext xmlns:a="http://schemas.openxmlformats.org/drawingml/2006/main" cx="5048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73055530c14eb0"/>
          </a:graphicData>
        </a:graphic>
      </p:graphicFrame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D3BFCF-2D7A-4F79-892D-1CA2677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市场可能担忧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F651D0-DA08-4C2E-8ADC-FA07857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2133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Aft>
                <a:spcPts val="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猪价中枢继续下移</a:t>
            </a:r>
          </a:p>
          <a:p xmlns:a="http://schemas.openxmlformats.org/drawingml/2006/main">
            <a:pPr>
              <a:lnSpc>
                <a:spcPct val="150000"/>
              </a:lnSpc>
              <a:spcAft>
                <a:spcPts val="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成本优势难以维持</a:t>
            </a:r>
          </a:p>
          <a:p xmlns:a="http://schemas.openxmlformats.org/drawingml/2006/main">
            <a:pPr>
              <a:lnSpc>
                <a:spcPct val="150000"/>
              </a:lnSpc>
              <a:spcAft>
                <a:spcPts val="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8000万头规模不稳</a:t>
            </a:r>
          </a:p>
          <a:p xmlns:a="http://schemas.openxmlformats.org/drawingml/2006/main">
            <a:pPr>
              <a:lnSpc>
                <a:spcPct val="150000"/>
              </a:lnSpc>
              <a:spcAft>
                <a:spcPts val="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周期利润只配低 PE</a:t>
            </a:r>
          </a:p>
          <a:p xmlns:a="http://schemas.openxmlformats.org/drawingml/2006/main">
            <a:pPr>
              <a:lnSpc>
                <a:spcPct val="150000"/>
              </a:lnSpc>
              <a:spcAft>
                <a:spcPts val="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产能与政策风险折价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B238F2B-C3B3-43D0-97B7-44450181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投资机会是否成立，取决于这些担忧是否被过度定价。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EC3F2AE-8989-4B7F-9D76-0C00C40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371E52-CA7A-4C3D-B1E8-5B8E9824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资料：[S03][S04]；[A03—A05][D17][J13]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102828E-9468-4B37-BF32-30A5E6D7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20124081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3BEE59A-C4E1-4CA5-942F-19D33D76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1717F5-EC20-47E8-BADB-522E197D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股价翻译成市值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后续以市值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CCABF3-42B9-4213-A277-05A32DD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1F4284-B529-4DAE-8009-F68C9046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E9A01F-9103-4363-BC11-590E916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总股本约 57.73 亿股 [S03]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19100" y="2000250"/>
          <a:ext xmlns:a="http://schemas.openxmlformats.org/drawingml/2006/main" cx="733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77d4936f1448a2"/>
          </a:graphicData>
        </a:graphic>
      </p:graphicFrame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07EF2E7-1EAB-4740-9FFB-6DB3A5A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1D1D5A-FC0C-465B-86E9-C266B35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资料：[S03]；[D01]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0ED7E9-79BD-4689-8A8D-30030BC7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48740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E7EFE6E-4ACC-45D9-BB21-A4D545C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3BFE592-30A2-4DC3-A4E7-39AAA51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目标股价最终只由两件事决定：赚多少、给几倍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D25867-E9ED-4713-81DC-7432CFCB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48A809-C556-40CE-AD17-CF7C600A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pic>
        <p:nvPicPr>
          <p:cNvPr id="21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fb2cadc944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71842" y="1695450"/>
            <a:ext cx="5848316" cy="1476375"/>
          </a:xfrm>
          <a:prstGeom xmlns:a="http://schemas.openxmlformats.org/drawingml/2006/main" prst="rect">
            <a:avLst/>
          </a:prstGeom>
        </p:spPr>
      </p:pic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ADEEEA60-D4BF-428A-9272-550A5C7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762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88B5D19C-D331-41DD-BD06-CC223F2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762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0430DE7-9F43-4491-BB45-F65AC152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01  牧原能赚多少钱？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2D89E38-9B15-4636-AB2D-AED6ED9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先用猪价、完全成本、销售重量和屠宰增量利润建立透明模型。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E20CFCB-0407-4142-BDB8-D772750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02  这份利润值多少倍？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A99F83C-542A-4568-8095-B883E3E2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利润越接近周期顶部，持续性越弱，合理 PE 越低。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172A8D-45BA-401A-9EB1-8B61229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990CDFD-FC0D-497E-AFD2-7262EA5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资料：[S03]；估值恒等式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28F66B6-DB10-4149-B24A-5B6C4092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公式由 LaTeX 渲染</a:t>
            </a:r>
          </a:p>
        </p:txBody>
      </p:sp>
    </p:spTree>
    <p:extLst>
      <p:ext uri="{BB962C8B-B14F-4D97-AF65-F5344CB8AC3E}">
        <p14:creationId xmlns:p14="http://schemas.microsoft.com/office/powerpoint/2010/main" val="9036455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9146C1-ED60-47E3-B057-867EEEE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4A78B7-4BD2-4BCC-AF7C-E63AE69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牧原利润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计算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公式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6D7D7FF-CE1A-4E8C-AA21-AECE20F2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1C2595B-20D1-46DA-BF9A-3B663A2C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30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4facbcdc9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702940" y="1428750"/>
            <a:ext cx="6786121" cy="990600"/>
          </a:xfrm>
          <a:prstGeom xmlns:a="http://schemas.openxmlformats.org/drawingml/2006/main" prst="rect">
            <a:avLst/>
          </a:prstGeom>
        </p:spPr>
      </p:pic>
      <p:pic>
        <p:nvPicPr>
          <p:cNvPr id="31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3884291ed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77340" y="2533650"/>
            <a:ext cx="6837320" cy="781050"/>
          </a:xfrm>
          <a:prstGeom xmlns:a="http://schemas.openxmlformats.org/drawingml/2006/main" prst="rect">
            <a:avLst/>
          </a:prstGeom>
        </p:spPr>
      </p:pic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8CFBE10-1614-4170-98C9-5BF8123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609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18DF4A8-1E41-458E-A7DB-C16307D5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销售均价 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5743075-17EE-4796-8B65-6567038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行业景气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8D87E5F-4B5C-4D86-92CB-BF4A206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609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4744CCA-B978-4455-9AB5-EB348DF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576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完全成本 C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CB77AED-3D2A-4296-9EAB-98CF4C3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竞争优势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D40D4512-0326-4FB5-8E99-95F06A0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2609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3D855AF-F7D8-4731-B400-43B806F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平均体重 W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4DEDDA-BB4A-4D41-802B-A6EB623E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销售重量（千克）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9EE34A4-759A-4F32-BF20-2A2AC634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2609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5329CF-1ACE-40D4-884C-A96764BC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商品猪销量 Q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E40DAC-96B2-4147-883A-40158E56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52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规模弹性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5639346-71C9-4413-B376-781CFA1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屠宰只计加工与渠道创造的增量利润，不能重复计算内部生猪价值。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0AED85A-3342-49AA-98A7-B15656C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0DB3B5-ED3D-4909-848F-D6DD144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资料：[S01]；经营模型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4203723-768D-4700-B0F8-0DED1EE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公式由 LaTeX 渲染</a:t>
            </a:r>
          </a:p>
        </p:txBody>
      </p:sp>
    </p:spTree>
    <p:extLst>
      <p:ext uri="{BB962C8B-B14F-4D97-AF65-F5344CB8AC3E}">
        <p14:creationId xmlns:p14="http://schemas.microsoft.com/office/powerpoint/2010/main" val="4541277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3C0EABD-4D7F-4C86-8140-0CCDE50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F62742-E154-4888-B8D4-CB423B3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2025 年提供了一组可回测的经营锚点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D328798-0691-4E72-82D9-14DAF82C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40E1F65-B1F4-47BB-AC27-6502DAF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FE15F237-3074-4B89-BCA5-00EAE56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A03CED-3EBD-4C4D-BF88-CAC3BBE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7798.1 万头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6491752-A11E-4511-A184-BA391679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商品猪销量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B674E7-EBB6-40B4-AA30-F75143FC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4F527C7-E860-4884-9ADB-0BDF2853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097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179FCD6-374F-4FCE-810F-E73540B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13.5 </a:t>
            </a: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4D6B43-9252-4135-B751-2BB088B4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全年销售均价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02B3CD-355E-447D-ACFA-31763B4D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336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[S02]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861AAA5-F2D9-4EDA-9BBE-4C96447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1F63262-7987-4419-8CC6-3002F8C8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约 12 </a:t>
            </a: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E0313B2-E6DA-4432-AF33-FEC2144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养殖完全成本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F00C1AB-1561-4B6E-8D11-151E2B5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336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2A0D22A-B8BF-4DDD-AED9-031CEAC8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433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B66BFCB-156D-4F14-AD6F-9129B44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2866.3 万头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DFB26E-4007-47E4-84D8-1486B505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屠宰生猪量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4146A02-143E-4173-9610-F74E8F0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5371EDD-0327-4365-AA9F-714290F0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433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330088D-1665-401E-88DD-CBD1574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528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323 万吨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7B9CA56-0E51-4D70-83FF-012B34E7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38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猪肉产品销量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AC831BC-37CF-44AE-B988-E824E680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672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88E2C1D7-013C-4EA4-B866-7962CE7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433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78AC682-0195-4B80-BAB8-BFA987F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rPr>
              <a:t>154.87 亿元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3606002-A4BD-482B-AD76-77DB984A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归母净利润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F191DCE-5A34-4E50-85BA-9DDAA282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67275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DE7D93A-0515-4E27-BACC-C8ADF43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5E1C5CF-322E-4CE9-9CCE-592A0EB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资料：[S01][S02]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6746C9D-F0C7-4795-BA8C-96F03885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1204174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FC68A8-B66E-4536-AE92-2212B714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3B0AE58-4512-4165-A617-DC0F1664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简化模型能解释 2025 年利润量级，但不是完整财务预测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1DF16E-2CC6-428B-BF78-5596AA4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65C200-31CA-4445-8E03-A337B7D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pic>
        <p:nvPicPr>
          <p:cNvPr id="2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1758cfe841d4"/>
          <a:srcRect xmlns:a="http://schemas.openxmlformats.org/drawingml/2006/main" l="0" t="116" r="0" b="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" y="1466850"/>
            <a:ext cx="11010900" cy="6953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00100" y="251460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d5380e70554710"/>
          </a:graphicData>
        </a:graphic>
      </p:graphicFrame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72701CD-AA54-4B65-B2C5-DA427E1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857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42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1EBF7FA-909D-47DF-8D2C-576F2D4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2CB9AB1-1B72-4939-8EC5-09FF5BF8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资料：[S01][S02]；[A01][A02][D02]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70F0F4-79CB-4134-A97C-E4F48222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公式由 LaTeX 渲染</a:t>
            </a:r>
          </a:p>
        </p:txBody>
      </p:sp>
    </p:spTree>
    <p:extLst>
      <p:ext uri="{BB962C8B-B14F-4D97-AF65-F5344CB8AC3E}">
        <p14:creationId xmlns:p14="http://schemas.microsoft.com/office/powerpoint/2010/main" val="14891822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B4EA405-2BCF-429E-87C8-4E661A0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0C66C9C-BF1D-43DF-A427-A3162641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约 100 亿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年销售重量，把微小价差放大成百亿利润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8AC25DD-76C5-433E-BBB9-E088873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69CE49E-D50C-4BEB-A4FB-5E0872D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pic>
        <p:nvPicPr>
          <p:cNvPr id="28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fddbba9794c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19150" y="1393828"/>
            <a:ext cx="10553700" cy="888994"/>
          </a:xfrm>
          <a:prstGeom xmlns:a="http://schemas.openxmlformats.org/drawingml/2006/main" prst="rect">
            <a:avLst/>
          </a:prstGeom>
        </p:spPr>
      </p:pic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DD70B89B-8DCE-4C0D-8A42-637D2CC1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2343B9-9CD1-42E1-95F2-302FB8D8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rPr>
              <a:t>+100 亿元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CDBC278-92F8-4405-9BAD-5014515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猪价每上涨 1 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1EC75A-A728-4E86-B587-76AA01D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在 8000 万头、125 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 基准下 [D03]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E361064-8BE9-43F0-8960-3D767FCF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74E388-E6B0-4BA8-998E-C719BFE9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6705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+10 亿元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641771-A009-4E12-88A4-E9BDCF4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528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成本每下降 0.1 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7C5BE9C-C70C-466F-B9B8-94D646E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8147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单位价差改善的直接结果 [D04]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DE8B9FB-02F8-4BB9-AD7E-058E2E2C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3337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30F00A-1050-405A-961F-FA304F4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rPr>
              <a:t>+2.8 亿元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6A36608-93AE-412A-8BCD-C8C7603C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均重每增加 1 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2D6FB8-5C82-496A-BD4D-437895D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假设每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利润 3.5 元 [D05]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1D0898D-8B4F-4F21-8882-2808500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规模本身不是价值，规模 × 正价差才是价值。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FF3CC66-C4B0-4CE8-BC9B-673499DB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D4940B-FB67-4808-8B41-EC8F1F6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资料：[A03—A05][D03—D05]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015D32D-0406-402F-87AE-D9FC47C7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公式由 LaTeX 渲染</a:t>
            </a:r>
          </a:p>
        </p:txBody>
      </p:sp>
    </p:spTree>
    <p:extLst>
      <p:ext uri="{BB962C8B-B14F-4D97-AF65-F5344CB8AC3E}">
        <p14:creationId xmlns:p14="http://schemas.microsoft.com/office/powerpoint/2010/main" val="5788284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0EE796C-8B70-44E4-9209-CA62C7E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D200B8-E56A-45C3-AF1A-1D01CDD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猪价只涨 7%，单位利润却可涨 40%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165A60-69A2-46AA-ACA3-8476A07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B84393F-8440-40DB-B138-F0108464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14350" y="1600200"/>
          <a:ext xmlns:a="http://schemas.openxmlformats.org/drawingml/2006/main" cx="72390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27c9a686234413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8020AAF0-90AF-4C09-B25A-FB0BF1D8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37B851F-5672-4574-93C5-52074325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14 → 15 </a:t>
            </a:r>
            <a:r>
              <a: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D675287-48FD-4A13-993F-2F31FF11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 +7.1%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FEEDF9-D183-4D12-B160-7E0470E0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259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单位养殖利润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2.5 → 3.5 </a:t>
            </a:r>
            <a:r>
              <a: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1EA6463-A681-47F0-9221-C4F25DE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4483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B4483B"/>
                </a:solidFill>
                <a:latin typeface="微软雅黑"/>
                <a:ea typeface="微软雅黑"/>
                <a:cs typeface="微软雅黑"/>
              </a:rPr>
              <a:t>增幅 +40%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E9217BA-843C-4AE8-8970-57F6C70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经营杠杆来自巨大销售重量，而不是财务公式技巧。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CA146C-0F4C-472E-9E83-F137397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C4A6FD5-DBAC-4A64-B83F-688952A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资料：[A03—A05][D09][D11]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5BF5769-558F-4B26-904A-744B6AF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9257106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1EE9CC2-BDA7-45E9-961B-F1F8A90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C8B5257-4C42-4B74-A3B0-EA661987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成本优势每扩大 0.1 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，利润约增加 10 亿元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0689E7-6613-4035-865A-DC1EFADD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5E447C5-302C-4331-A6C0-3C013FE6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68580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4cfbec3a314c30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93C5D566-EBE2-4C68-950D-CB0B5EC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524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10547B-EBF3-4CE6-B2B8-9D6F234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为什么成本是长期核心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A3CF74-2FAC-4501-944F-90FA869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低成本扩大正常周期利润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低价期仍能维持现金流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高成本产能退出时承接份额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让同一猪价对应更高 ROE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ACEC81-FE41-45A5-861E-7BC1C17D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但成本必须用统一口径比较：完全成本 ≠ 现金成本。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A5D57A2-D409-4D7A-A833-447862F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AF7A82C-0CD0-4DB3-AF54-8F3176A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资料：[A03—A05][D04]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4B21F28-8F78-44C8-81B2-9FEFD3B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5993433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678106-ECFF-4EBF-AB03-CF67C51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D8869F-7E24-4AF3-B06E-EBD5EA22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出栏增长只有在正价差下才创造价值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B1E43F-65ED-4003-846B-FE3D0FCB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427A30F-B745-4D3B-BB19-B224263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14350" y="1657350"/>
          <a:ext xmlns:a="http://schemas.openxmlformats.org/drawingml/2006/main" cx="68580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28eea225b841a8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3AADE70-0190-41AA-B398-C357109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524250" cy="36004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653FD0-AF54-426A-9F9D-DA8E9B16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新增 500 万头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562DA7-8CF6-4D9F-8883-2276613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平均体重 125 </a:t>
            </a:r>
            <a:r>
              <a:rPr sz="1725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E3FE76-5D43-48AF-BF17-FFA59C4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不同价差下，新增利润从 15.6 亿到 40.6 亿元。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625E56-9617-4058-9C22-4FE68D9E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若全行业同时扩产压低猪价，数量增长反而会侵蚀价差。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557F5D-5766-4107-92A8-23FE3CBD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EF9AF58-7CD0-4586-871B-AAD9E676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资料：[A04][D05]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7C66931-8FC6-4A29-9566-6B03EC1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4022310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CB133B0-BF3D-4C28-858B-88881809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2BCE73-840A-4273-ACB8-679078D2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屠宰业务已转正，但当前仍是第二层变量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EC7B2B-BE10-44EA-890D-C5FDA39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28FCF6-C6AF-427F-9025-B4805206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A613676-C9E3-43CA-90E6-74BEA9D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76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19DAFF-CD52-4A7A-82C9-BFC7E31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2866.3 万头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D03B49-15EC-4329-9E56-1B2B17DA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2025 屠宰量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E44B46-211E-47AC-88D4-E7EBC11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[S01]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D56DCE8-89C6-4A9B-A762-BD2D9DC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3276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B168784-BFD0-4907-9B9F-36BB3D4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98.8%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4A82AE-49CE-4363-9D1A-44A76AA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产能利用率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D2D6E8D-4D61-49C5-B794-BBA10F5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2025 全年 [S01]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462A6E4F-A00E-4FFD-B610-C1AD436F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3276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8881C96-EFC8-43F8-801F-B1432A45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rPr>
              <a:t>约 10 亿元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C0CC713-4F83-4293-9272-A91039A5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模型增量利润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6CFB91A-B862-4E92-AA29-14E608E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432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0.3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 假设 [A02][D07]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14C2DBF-40EB-4091-AEF1-202FEA8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1163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3E2C52-E8FE-4E5D-850B-46A0C2D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更重要的战略价值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1BB2E89-351B-4CF8-88C1-548F2C7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平滑周期　·　获取终端需求　·　优化产品结构　·　为品牌肉与深加工打基础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0C36DF-CDD1-4564-9824-319D0F2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在当前假设下，屠宰比例每提高 10 个百分点，理论增量利润约 2.7 亿元。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B30ED84-2171-4AE8-88A0-1815616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E2680E1-5F1D-41E8-A01C-F54E39C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资料：[S01]；[A02][A06][D06—D08]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E9A4F99-39A6-4C50-A328-DF536C57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7095524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8846010-F0FA-4381-AB5F-23CB6EE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DF6763-DBBA-460C-841A-21C96C26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需求不直接加到利润公式，而是先改变边际产能与猪价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61453B7-1D72-4E4E-94AC-570169E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FCB0C3-7DAC-4EB6-8C2B-6A17EC1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cxnSp>
        <p:nvCxnSpPr>
          <p:cNvPr id="43" name="直接箭头连接符 28"/>
          <p:cNvCxnSpPr/>
          <p:nvPr/>
        </p:nvCxnSpPr>
        <p:spPr>
          <a:xfrm xmlns:a="http://schemas.openxmlformats.org/drawingml/2006/main">
            <a:off x="2705100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44" name="直接箭头连接符 29"/>
          <p:cNvCxnSpPr/>
          <p:nvPr/>
        </p:nvCxnSpPr>
        <p:spPr>
          <a:xfrm xmlns:a="http://schemas.openxmlformats.org/drawingml/2006/main">
            <a:off x="5562600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45" name="直接箭头连接符 30"/>
          <p:cNvCxnSpPr/>
          <p:nvPr/>
        </p:nvCxnSpPr>
        <p:spPr>
          <a:xfrm xmlns:a="http://schemas.openxmlformats.org/drawingml/2006/main">
            <a:off x="8420100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8DA331D-BF17-46CA-9DB1-A72D9076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508FAE6-9477-4111-B75F-F6A95BC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猪肉需求规模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1309689-3ABB-4F94-AE5F-9E476E2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决定需要消化多少供给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4A0756CC-9798-45E0-B100-F7EB42F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6C5D09-F4F5-45DC-9F8A-52C98FF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边际产能是否必需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2B4D2F-66F3-4DB3-9C4A-BCD9A1C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决定哪一段成本曲线参与定价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1DE1930-B5E0-4A6A-86DD-75746A0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8E199EC-BFB3-4C7C-A88A-D6F9489A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猪价中枢与景气时长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4DD1234-F5D7-4FA7-BCC4-A139039D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改变每</a:t>
            </a: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价差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C8AD4B2-40B9-4439-87AF-F85B322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286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5842473-6AB6-4532-BABC-A473B02C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牧原利润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DC2FFB1-93F6-4B62-B915-49DFFB2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价差 × 销售重量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690BD5-0816-4DF2-9B17-680DCFE2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猪肉产量：2016 年 5299 万吨 → 2020 年 4113 万吨（供给冲击）→ 2025 年 5938 万吨。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CE6614C-01E3-422F-8BF9-61969C6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确定性结论：2016—2025 年复合增速约 1.3%；需求是高基数、低增长市场，估值不应依赖高增长。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6DE92E7-DAFD-44E5-B2F0-9417CE42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9032B5-FA48-4E13-91A9-F90499EB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资料：[S05][S26]；产量近似需求规模；复合增速：[D17]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004A220-153D-4EE0-BAA3-FC8832B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00901787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1BEB00B-46EB-464A-8564-2ED1BD0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8BA180-E050-46C7-9BCE-5D39D442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判断猪价要三条线并用，但每条线回答不同问题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13C007-29DE-4176-8C20-7A4DFA3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A42D7D2-C265-450C-897B-EA66304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2EA6EF3-099B-4A57-8405-33EB8FF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3429000" cy="3810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608B4C-7241-485E-BF5E-C3520AC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A9FE98F-FB24-4080-90DC-D57DB9F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供给先行指标法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AA9A962-1C6A-4A84-B926-79D8BC0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未来 6—12 个月方向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0AD7716-D6C6-4906-993C-041CB3C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母猪、仔猪、体重、二育、屠宰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9FC9A86-18AD-46CA-A5D9-C8A11CC3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适合判断拐点与节奏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6430E47B-900D-432E-BD3F-E125A72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543050"/>
            <a:ext cx="3429000" cy="3810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F3406C5-0506-4DCD-AF0A-18CF4D0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1E50AA-E130-449B-A39B-6815B62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24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盈亏与产能反馈法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63B95A-7061-4B8E-A8D8-02983EB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产能为何去化或恢复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594D12E-AA95-41D6-A0D2-845DAAF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957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现金流、补栏、淘汰、资本开支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82AFC2-112C-43A1-95AF-A27F681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解释周期形成机制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9BBD719-AD14-4E02-8B8B-D72097DD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429000" cy="3810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F142710-D371-4120-B692-3318572C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C3E4B4-CD2F-4BB0-BD79-CB4A699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边际成本定价法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44B88E-D2FF-4C68-991F-A152C9B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长期合理价格中枢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1511D87-7B5B-49A4-9164-E5872C12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行业成本曲线 + 正常回报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6EBFD42-7EAD-4136-A118-D845032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最适合长期估值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7AEF16E-DDF2-4492-9B31-D097FA8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前两种方法定方向与时间，第三种方法定长期中枢。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AD6C83B-22B3-46B6-91C9-58673E30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22B556B-BACC-469E-B7BC-0D35D86B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资料：分析框架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5BAAFD3-4F46-4D91-8633-DA9A773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239300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FFB4236-6A0F-4C76-8699-4C09ACC1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7FAB51-0382-4F02-B1B7-33FC22D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母猪变化传导到商品猪出栏，需要约 10—12 个月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FAC119A-AE21-414E-9ED8-AB2149A0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C8548F2-5F30-4585-AFB5-4779075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cxnSp>
        <p:nvCxnSpPr>
          <p:cNvPr id="49" name="直接箭头连接符 32"/>
          <p:cNvCxnSpPr/>
          <p:nvPr/>
        </p:nvCxnSpPr>
        <p:spPr>
          <a:xfrm xmlns:a="http://schemas.openxmlformats.org/drawingml/2006/main">
            <a:off x="2133600" y="3162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0" name="直接箭头连接符 33"/>
          <p:cNvCxnSpPr/>
          <p:nvPr/>
        </p:nvCxnSpPr>
        <p:spPr>
          <a:xfrm xmlns:a="http://schemas.openxmlformats.org/drawingml/2006/main">
            <a:off x="4248150" y="3162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1" name="直接箭头连接符 34"/>
          <p:cNvCxnSpPr/>
          <p:nvPr/>
        </p:nvCxnSpPr>
        <p:spPr>
          <a:xfrm xmlns:a="http://schemas.openxmlformats.org/drawingml/2006/main">
            <a:off x="6362700" y="3162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2" name="直接箭头连接符 35"/>
          <p:cNvCxnSpPr/>
          <p:nvPr/>
        </p:nvCxnSpPr>
        <p:spPr>
          <a:xfrm xmlns:a="http://schemas.openxmlformats.org/drawingml/2006/main">
            <a:off x="8477250" y="3162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18324ED-7111-494C-AB09-8BAA402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AF72DF-D9A6-46FF-9998-B389E06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1357E2E-B612-439F-92DE-69E47BB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能繁母猪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5430CE8-43EB-4488-9DF6-F2F5C4F6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81250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3F2F88-9261-471F-8D0B-23043639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A3584D6-539F-4257-BD9B-B874D0E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配种与妊娠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1498755-8A73-4D7B-910D-E70C7837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F1A171-5D5A-4F83-A5EC-873F482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539F9D0-4C13-4362-8966-4AEFA00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仔猪出生/保育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0B1031F-0CD3-466A-956C-05E7634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620D89-9D68-4194-8F8D-F3D9E59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92A98A5-67C1-4C53-A4CE-8F3D3D29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育肥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934D4FC-A5C4-4869-839B-E00E7E49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2E3840-20BB-4964-AF89-8268C436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E96059E-B9CF-4DDD-8534-2C0C664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商品猪出栏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9E153B04-D261-4111-85C9-841E484F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9982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762DFF2-EC46-4CE3-8E90-495319F8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960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后备母猪到商品猪出栏约 14—16 个月；政策概括为“长期调母猪、中期调仔猪、短期调肥猪”。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71FD628-D1F5-44AA-BC1E-BD3F438E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76CDD33-ED21-4B61-8186-D0E69BA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资料：[S06][S09]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F816247-65B6-473C-A768-6D5543E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9106252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C307637-A0AB-4AA0-AD55-76146F9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5683568-053D-46FA-85D7-FB83EBD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同一时点要同时看长、中、短三组供给指标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F564D3-212E-471E-BFBD-27B7C52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03AF39-D26E-4A67-AE7E-78ADBD80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4070771-BBFC-4D8B-8499-B3695FDA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3429000" cy="36766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6EDF1BF-7697-4991-853B-F5A44BEE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长周期｜母猪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D90D4DF-029B-42B2-9F04-7068524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971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能繁母猪存栏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后备母猪补栏与淘汰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PSY 与成活率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9394899-4DC2-4DB2-871E-1749750E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看 10—16 个月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9DB14864-861B-4C4E-8D0B-3DDDA6B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562100"/>
            <a:ext cx="3429000" cy="36766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084F00D-D584-40BE-BFD1-46B87744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中周期｜仔猪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FCF430-DCF4-4B7A-B280-AC7C49C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2971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新生仔猪数量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/15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仔猪价格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外购仔猪育肥利润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1EF28DD-F336-48E6-B081-0A4A50C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48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看 5—10 个月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1565F2A-6CB7-4D0A-A837-6B0B0D97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29000" cy="36766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404B32D-2CA0-4A12-B8CE-DD75398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短周期｜肥猪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B1DF73-5144-4464-A77F-7CA1DC52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971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出栏量与体重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标肥价差、二次育肥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屠宰量与冻品库存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AC43AEF-B7AB-4AC2-BE56-D19F6A0C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看 0—4 个月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300EB06-E24A-4DB7-9156-40842C1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任何单一指标都可能被生产效率、压栏或二育行为扭曲。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E37AE-6A51-45EA-A4FB-59D638E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2900B1-C390-4CAD-A882-297B0FC9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资料：[S06][S09]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C559A71-FC69-4855-87AE-7832B29C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2761184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64AFF67-D208-4F09-82B8-64E3E70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14633D3-E5F5-4200-B6C1-078F2B1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猪周期的开关不是“价格够低”，而是低价改变了生产行为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244098D-71FF-4B1B-9ACD-8BC199E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244EE44-9E6E-4A64-9546-DF80B8FD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cxnSp>
        <p:nvCxnSpPr>
          <p:cNvPr id="51" name="直接箭头连接符 30"/>
          <p:cNvCxnSpPr/>
          <p:nvPr/>
        </p:nvCxnSpPr>
        <p:spPr>
          <a:xfrm xmlns:a="http://schemas.openxmlformats.org/drawingml/2006/main">
            <a:off x="2133600" y="2362200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2" name="直接箭头连接符 31"/>
          <p:cNvCxnSpPr/>
          <p:nvPr/>
        </p:nvCxnSpPr>
        <p:spPr>
          <a:xfrm xmlns:a="http://schemas.openxmlformats.org/drawingml/2006/main">
            <a:off x="5334000" y="2362200"/>
            <a:ext cx="1962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3" name="直接箭头连接符 32"/>
          <p:cNvCxnSpPr/>
          <p:nvPr/>
        </p:nvCxnSpPr>
        <p:spPr>
          <a:xfrm xmlns:a="http://schemas.openxmlformats.org/drawingml/2006/main">
            <a:off x="8534400" y="2362200"/>
            <a:ext cx="36195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4" name="直接箭头连接符 33"/>
          <p:cNvCxnSpPr/>
          <p:nvPr/>
        </p:nvCxnSpPr>
        <p:spPr>
          <a:xfrm xmlns:a="http://schemas.openxmlformats.org/drawingml/2006/main">
            <a:off x="5695950" y="426720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5" name="直接箭头连接符 34"/>
          <p:cNvCxnSpPr/>
          <p:nvPr/>
        </p:nvCxnSpPr>
        <p:spPr>
          <a:xfrm xmlns:a="http://schemas.openxmlformats.org/drawingml/2006/main">
            <a:off x="2495550" y="426720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56" name="直接箭头连接符 35"/>
          <p:cNvCxnSpPr/>
          <p:nvPr/>
        </p:nvCxnSpPr>
        <p:spPr>
          <a:xfrm xmlns:a="http://schemas.openxmlformats.org/drawingml/2006/main">
            <a:off x="895350" y="2362200"/>
            <a:ext cx="283845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483B"/>
            </a:solidFill>
            <a:prstDash val="solid"/>
          </a:ln>
        </p:spPr>
      </p:cxn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BBE2A4E-A70E-4F67-AF74-44053198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F022F2A-9F91-4EB9-9BD2-17B280D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83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B4483B"/>
                </a:solidFill>
                <a:latin typeface="微软雅黑"/>
                <a:ea typeface="微软雅黑"/>
                <a:cs typeface="微软雅黑"/>
              </a:rPr>
              <a:t>猪价下跌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208E072-15D0-4EAD-B86B-4253CD5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36444FD-C61A-4F5B-803B-F56223A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43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利润/现金流恶化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B7FA29B9-9ADE-4D84-A50A-52CA538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EDC8404-3B1D-4F31-91BD-6604CFD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淘汰母猪、减少补栏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60BA2CB-62DA-457E-97EF-A9CB1FC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E938151-6D19-4CAE-854A-B425938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未来供给下降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0A0CF3D-E80F-4862-8B9B-81426639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14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842737-14BE-422B-9E93-60F377D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48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猪价上涨、恢复盈利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BBA08A0-1F5B-4F01-98B4-75E7298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C72594-94E6-4BBF-8754-5ACFE112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补栏与扩产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867B322-98A4-44BB-8E77-A102971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低价必须持续到足以改变养殖主体行为，约 10—12 个月后供给才会收缩。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550FF81-710C-4321-A992-9979D3D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F45DFF5-C401-48AC-9187-B4051144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资料：[S09]；周期机制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EDA93E5-746A-4CC9-8826-0944F690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87866216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8EEC875-AC96-4E18-B4FD-7FA892AD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D7E3AC6-1405-44D4-9C7E-7C21367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1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完全成本决定长期可持续价格，现金成本决定短期退出速度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53268E-58B5-49D0-98CE-7296D97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4656676-C7FC-428E-B09A-01084C0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20CB72E-D0F0-4D50-A179-3086B48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2197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BF67E33D-80C2-4E9E-878F-65E9AE68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52197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CED6132-5945-4135-9CAD-59C86170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完全成本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AA0086-C210-4FB2-AE7E-1504293F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42672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饲料、人工、疫苗兽药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折旧、死亡损失、环保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管理与财务费用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资本更新与资金占用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D6D1A1A-A526-4F7F-814B-F728DA8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用于判断长期合理猪价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F44DED-3495-43C6-BC24-E90C5B4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C58A30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C58A30"/>
                </a:solidFill>
                <a:latin typeface="微软雅黑"/>
                <a:ea typeface="微软雅黑"/>
                <a:cs typeface="微软雅黑"/>
              </a:rPr>
              <a:t>现金成本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AFEA86-7B12-4874-A673-20D63174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42672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不含部分折旧等非现金项目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低于完全成本仍可能继续生产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接近现金成本才加速退出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决定去产能的急迫程度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5EBE3B4-C7CA-4E47-9618-3684D401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58A3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58A30"/>
                </a:solidFill>
                <a:latin typeface="微软雅黑"/>
                <a:ea typeface="微软雅黑"/>
                <a:cs typeface="微软雅黑"/>
              </a:rPr>
              <a:t>用于判断短期被迫去化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025E39F-EF94-4360-96C5-DD1B7458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370A284-ABEC-4733-B709-9FDA5540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资料：成本口径说明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CF4D2-8D5C-458E-BCF2-7DBBE58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714964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AAF7F6-3D86-4457-A6FD-D46F8815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00CAB4-5B0D-44E0-A942-612DD37C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全国猪价由“满足需求所需的最后一段产能”决定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782B2B-C3B9-49B3-B402-E7D607D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910D1-EB45-4692-B83B-B74C0D8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685800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d9b0a195a84d95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A8375B64-1950-41B2-AC31-39E94478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524250" cy="35623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A81C7A0-106F-4A58-9B68-E8BFBDE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边际生产者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DC1CBF0-7022-410F-BD53-EECCCC6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不是成本最低的牧原，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也不是最高成本的散户。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5A57F2A-2A30-4674-9E48-EC42905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而是累计供给刚好满足正常需求时，仍必须保留的那部分产能。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F2F2B03-E669-462F-BFF1-CFD7575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BB8324-33FF-4310-9766-39BFF910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资料：[S01][S07][S11][S12]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A53D201-8692-4EB1-9321-0DF0368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9531687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4682F5F-6FFB-4D1A-A24F-2664B46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E75D8D9-2E27-4211-A451-CE888F2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公开成本锚点支持：牧原明显低于行业边际区间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6988890-3B32-48DF-9CB6-A6AC9D9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E5FA5F-C697-408D-A7C3-982DD700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2DF8730-1880-4C54-A53C-5A79485F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381250" cy="2857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2042AB6-DC42-41EE-ADC1-FC6E7CE1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12.0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CEDA29F-7F2E-4487-9B38-76590971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59C48E4-684F-4984-B844-687EBB0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牧原2025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CBFA554-A142-4573-8320-55AFF8A0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95450"/>
            <a:ext cx="2381250" cy="2857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09DDAF-58B2-483F-A3F8-985DB995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14.1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898CC35-A1BD-4C9D-A49F-C1CD432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3558EE6-CABF-4648-8503-9F4BDE7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全国2025平均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4A44B6CE-06C0-4FE8-B362-5B777BF7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2381250" cy="2857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793327-70B5-4285-A9E2-69391A1F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13.39—14.12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F10C28F-5FF8-43EF-875B-8CF624FE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41E608E-E207-4221-89AB-26B1D93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山东自繁自育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5BBFCEB-73FC-4E6B-8705-912C66C5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381250" cy="2857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B4AAA5E-3F85-454E-9F7F-B150C459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13.95—14.68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1FCC0F3-583D-46D9-8C1E-5CF9CCE3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571F5-8761-4AFE-9543-B717E0A7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山东外购仔猪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9F405706-1C25-4D2D-91A2-038E6F9E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0610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12AC236-46C4-4BA6-AD9B-7D0E42C7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15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这些锚点不足以拼成精确成本曲线，但足以说明边际产能成本大概率高于牧原成本。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4F02DB-944A-4263-8B95-7CF712A4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C55E1D5-911F-4187-B72A-EA89F7B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资料：[S01][S07][S11][S12]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6E58328-BDA8-4114-B75D-819AF357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91282336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2A89DCF-B997-4889-95ED-CC261D1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0F9E95-4DBE-4B50-BEF2-B9A9B9C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1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边际完全成本加正常回报，推导出 14.5—15.5 元长期中枢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8AA23B1-9F1D-45C4-BB1A-823AF63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9E4427-1638-49D9-92A3-A6DEC0A2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pic>
        <p:nvPicPr>
          <p:cNvPr id="5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05bc779394c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102835" y="1428750"/>
            <a:ext cx="7986330" cy="895350"/>
          </a:xfrm>
          <a:prstGeom xmlns:a="http://schemas.openxmlformats.org/drawingml/2006/main" prst="rect">
            <a:avLst/>
          </a:prstGeom>
        </p:spPr>
      </p:pic>
      <p:cxnSp>
        <p:nvCxnSpPr>
          <p:cNvPr id="60" name="直接箭头连接符 29"/>
          <p:cNvCxnSpPr/>
          <p:nvPr/>
        </p:nvCxnSpPr>
        <p:spPr>
          <a:xfrm xmlns:a="http://schemas.openxmlformats.org/drawingml/2006/main">
            <a:off x="270510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3DED89A-DE9C-459F-8E0D-7EBDB8F2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30B2674-EB8F-4D4D-8F1A-BBA2793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14.0—15.0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9D8023-ACE8-4F19-AC5A-00987EF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边际完全成本</a:t>
            </a:r>
          </a:p>
        </p:txBody>
      </p:sp>
      <p:cxnSp>
        <p:nvCxnSpPr>
          <p:cNvPr id="64" name="直接箭头连接符 33"/>
          <p:cNvCxnSpPr/>
          <p:nvPr/>
        </p:nvCxnSpPr>
        <p:spPr>
          <a:xfrm xmlns:a="http://schemas.openxmlformats.org/drawingml/2006/main">
            <a:off x="56578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967D04C-7542-4370-B7CD-46C804A6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F5E7C21-13C1-43D9-A838-BC670B3A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+0.4—0.8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0BB56C-144D-4790-B308-2D5ACDC5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正常利润折算</a:t>
            </a:r>
          </a:p>
        </p:txBody>
      </p:sp>
      <p:cxnSp>
        <p:nvCxnSpPr>
          <p:cNvPr id="68" name="直接箭头连接符 37"/>
          <p:cNvCxnSpPr/>
          <p:nvPr/>
        </p:nvCxnSpPr>
        <p:spPr>
          <a:xfrm xmlns:a="http://schemas.openxmlformats.org/drawingml/2006/main">
            <a:off x="861060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DFF2870E-B085-403C-9327-5235F16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03ECB03-F703-419D-A064-7474CD4B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=14.4—15.8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C46B734-2203-4F2D-830D-BD54539A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理论区间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FF493328-AE5F-4DE2-B009-062E729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B1119CD-88F9-4127-AA69-82C77D5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→14.5—15.5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元/千克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15D861B-85A5-4F62-90C9-A8439FCA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核心长期中枢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CDB011E-4699-4E2C-A98A-984AF91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效率继续提升与政策下调母猪正常保有量，意味着不应机械使用理论上沿。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41EF9C1-3EBC-4984-94FE-EF8975F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FD2E031-61E6-40CD-8D8B-6C19675C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资料：[S06][S07][S11][S12]；[A07][D10][J05][J06]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9C6BA42-5D4E-4B44-8E39-259358F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公式由 LaTeX 渲染</a:t>
            </a:r>
          </a:p>
        </p:txBody>
      </p:sp>
    </p:spTree>
    <p:extLst>
      <p:ext uri="{BB962C8B-B14F-4D97-AF65-F5344CB8AC3E}">
        <p14:creationId xmlns:p14="http://schemas.microsoft.com/office/powerpoint/2010/main" val="148085342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8EABE47-0CEA-4CC6-9DE4-42BB2B8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C06AC4E-B72B-486A-A7EA-FBCD25B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需求与效率变化，会共同修正长期猪价中枢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79D85BD-C2C4-489E-BDB4-F683D0B1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919A95-1425-4EBC-8D5B-2F2E325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1821D81-196C-4C01-82AD-ACA379E9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650F41FB-C2E3-4B8E-9DC2-7B0F794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3830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DC22C4-98C7-430C-8E05-4BA5B4F0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向下修正中枢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0702AE-38DB-4C26-AAC7-D996B96F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人均消费下降或禽肉替代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PSY、成活率和料肉比继续改善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高成本产能被低成本规模企业替代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进口供给增加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E771C4-967C-42DF-A038-D5A4540C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rPr>
              <a:t>向上修正中枢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DDAAAB0-3C9A-45CF-89F2-B140E29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供给收缩快于效率改善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疫病、环保或饲料成本冲击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政策抑制无序扩张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消费恢复或库存补库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49EF0B5-905C-4B08-9925-34886BB9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长期中枢是动态区间，不是永恒常数。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12C1381-B559-4AAE-A655-C52C89DF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5862CA7-1AE5-4F4C-944F-E96C347B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资料：[S05][S06]；分析判断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9F20674-06EE-46BD-8C24-A9FA470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62272284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88D091-A469-4C86-BBBC-A455BC90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267756-C03E-4431-A225-18C08DFD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55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历史周期说明：猪价可以长期低于成本，也可以短期远高于成本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350650-C578-4671-91E8-87BC013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BCC5C90-E4BC-4544-AE82-58FF498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19100" y="1504950"/>
          <a:ext xmlns:a="http://schemas.openxmlformats.org/drawingml/2006/main" cx="8001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c7ab1d823b409a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475EE0B-CA70-42BF-9B46-6E5E7AAF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24000"/>
            <a:ext cx="2743200" cy="40005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1618D7F-D9F1-4F5C-A37E-56CE956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三条估值纪律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976A56-6BD1-4444-87F6-1A2A54B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01  低于完全成本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    不等于马上见底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4B7638-F933-4D00-BC32-BB07A65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02  供给缺口可让猪价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    远高于成本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01A50DE-0B4D-4BC4-8C55-CA9E403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03  极端高价不能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    资本化为永久利润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4D2B289-0C20-476B-98B2-1043186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非洲猪瘟周期是供给冲击，不是正常中枢。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3456D88-6601-48F9-BDAF-DDEC4B3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D55053A-1F4D-4539-8ABA-C8511C8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资料：[S09]；边际完全成本中枢：[J05]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3F6D37-5338-4198-86C3-24403B1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橙色虚线：当前边际完全成本中枢 14.5 元/千克；非历史序列</a:t>
            </a:r>
          </a:p>
        </p:txBody>
      </p:sp>
    </p:spTree>
    <p:extLst>
      <p:ext uri="{BB962C8B-B14F-4D97-AF65-F5344CB8AC3E}">
        <p14:creationId xmlns:p14="http://schemas.microsoft.com/office/powerpoint/2010/main" val="28510318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2FA06CD-F0FC-468A-A7B4-BDF7555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D5B9B6-27E0-4187-BE03-69E7DC2D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供给收缩信号在增强，但尚不足以证明会重演极端高猪价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97E848E-FA67-41C5-AD84-84D37CC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3214F9-F45E-4B8E-A06B-CC28F31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E2C79B9-2471-4C56-ACC9-9BC1ADA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2C078A-ABFA-4B04-BCC8-C8A774E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C58A30"/>
                </a:solidFill>
                <a:latin typeface="Times New Roman"/>
                <a:ea typeface="Times New Roman"/>
                <a:cs typeface="Times New Roman"/>
              </a:rPr>
              <a:t>3898 万头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21C320E-3AFD-4781-AE56-540FBCFD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2026年4月末能繁母猪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7159F7-3895-4970-95FB-C14575C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仍高于3750万头目标 [S13]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D59B088-2F13-42A0-8ECA-5491669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E83463F-F6B9-4867-8AF4-7DC415E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17个月后首次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84FCF1-40E8-43CF-8A34-9CFFA4D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2026年3月新生仔猪同比下降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BD0830-56F1-4F9A-ADDD-B0BAFF1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供给边际信号 [S10]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F97A26C-6997-4529-8D12-2DA6D08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43CAFB2-72B7-43B5-8A62-41C7E44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311.3 万头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46D4C4C-5001-46CE-9344-17DE4311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牧原6月末能繁母猪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97C546-7522-4915-9B9C-DB7A0AA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86075"/>
            <a:ext cx="281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上半年销售3861.5万头 [S08]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21BED04-8778-48F0-8F24-150C275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163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CFE8CC9-EC49-4AA9-9A48-CFAC035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政策继续要求大型企业带头压减产能、严控二育、淘汰弱仔猪并降低出栏体重。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4C352F3-3E45-4037-A855-7288AA9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中心判断：2027 年更合理的假设是恢复到正常盈利，而不是直接重演非瘟周期。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02BA0E9-5020-45AB-837D-3C4ABAE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970F59F-B5FF-4E8E-9F4A-C33310BA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资料：[S06][S08][S10][S13]；[J07]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CB73276-AD64-4387-AFBD-8C71528C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200259124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F3FD5E0-DD47-4FCB-ADF3-A68F2F9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798466-5CF8-4FD7-BB0F-D6D935B2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2027 年：每 1 元猪价变化，对应约 100 亿元利润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098A31A-5C82-4669-AFD5-3365073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5505438-F293-4F23-B782-424AFC8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eefcd122274667"/>
          </a:graphicData>
        </a:graphic>
      </p:graphicFrame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F4B283D-FF5B-4F16-AABB-F6E1020C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0157106-7E6E-4E61-BCDF-0DE30F17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统一基准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73EF8CA-84B5-40D4-ADF2-54F52E2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28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出栏 8000 万头 [A03]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体重 125 </a:t>
            </a: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[A04]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完全成本 11.5 </a:t>
            </a: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[A05]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屠宰增量利润约10亿元 [D07]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B71ACF-5D4D-4E47-B4FD-32FEBCB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核心情景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15—16 </a:t>
            </a: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360—460 亿元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F4E5270-F972-4C5E-A6E5-BABD14D4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A2DD4E-3B41-41C9-AB5A-E79D67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资料：[A03—A05][D07][D11]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B3641E3-B89D-463F-8424-20F5633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94827959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B779C72-BB76-4150-951F-298A39C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AEF185B-DCFB-4BC7-BBDC-F2E4ED4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2028 年取决于 2027 年盈利是否重新刺激扩产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BFDBC3A-FBB5-4BBB-AA9F-E2D2ECD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A287225-EF24-4F02-9B31-F8AEB22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740919D-C226-4D7F-8610-B36BFA8E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6A11F3B4-9B3B-46ED-8839-11125C5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38300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BE69548-CB48-4B39-8C6B-3E755181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rPr>
              <a:t>路径一｜盈利后迅速扩产</a:t>
            </a:r>
          </a:p>
        </p:txBody>
      </p:sp>
      <p:cxnSp>
        <p:nvCxnSpPr>
          <p:cNvPr id="50" name="直接箭头连接符 25"/>
          <p:cNvCxnSpPr/>
          <p:nvPr/>
        </p:nvCxnSpPr>
        <p:spPr>
          <a:xfrm xmlns:a="http://schemas.openxmlformats.org/drawingml/2006/main">
            <a:off x="1181100" y="295275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483B"/>
            </a:solidFill>
            <a:prstDash val="solid"/>
          </a:ln>
        </p:spPr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8403BF5-0DA2-4F6C-A467-DEC20620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母猪增加 → 仔猪上涨 → 资本开支上升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22DC60-D065-4BFD-BDF8-36FD2BB8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2028 年供给恢复，猪价回落至约 14—15.5 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96A284-0953-4D10-972B-F838A006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路径二｜政策与行业纪律较强</a:t>
            </a:r>
          </a:p>
        </p:txBody>
      </p:sp>
      <p:cxnSp>
        <p:nvCxnSpPr>
          <p:cNvPr id="54" name="直接箭头连接符 29"/>
          <p:cNvCxnSpPr/>
          <p:nvPr/>
        </p:nvCxnSpPr>
        <p:spPr>
          <a:xfrm xmlns:a="http://schemas.openxmlformats.org/drawingml/2006/main">
            <a:off x="7200900" y="2952750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363206-9FB6-435F-B673-41F9799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低母猪目标 → 克制扩产 → 高成本产能未被填满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C25FD22-11CF-4584-B839-4EB7EDE8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猪价可能在 14.5—16 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 维持更久。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340AC0-4A81-4A9F-A41F-4766C50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跨周期估值用 14.5—15.5 元；16—18 元只作为阶段性利润情景。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5B53F69-5ACB-4547-A3B5-963E958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BD1F62A-5788-4CBB-A2A4-929EFA7E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资料：[S06]；[J08]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AFA64A3-EA93-495B-BD47-3CB644F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27883356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9A4584A-61A4-480B-AF61-A2963F5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6ACEE2-48E5-42A3-B677-1AC9C64B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海外可比的有效锚约 8—14 倍，但不可机械照搬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5310725-8C24-4B9F-B6AE-47E5625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24FBBD1-F39C-4763-9B99-6D8DCBB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AA395B2-5BFA-45D0-B57E-2673F712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F718181-2279-40B1-B140-C768A5F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CCA3500-9104-422A-87E0-12CD1858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B67A56B-DAC8-4C16-9D87-620DAF9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954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业务结构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ED6B40-77D1-4383-8247-4DA5B9C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504270-3A48-447B-949C-B4B29D9C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截面PE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7711E27-BE26-4CFB-9AC5-107C37B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84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A9DEC21-A964-48FA-8D1A-BE6A4396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使用方式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61D0BB-A912-4996-9369-8DC1E88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A5B972-EA83-4996-8775-89D4736F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Smithfield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3EC4EC-5091-488B-B8F7-115281B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1DBF7FB-CAA9-4F9F-A644-DD872D4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养殖+屠宰+包装肉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8BA7B46-1B94-409C-ADB6-76418D3C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5A12AB-0710-43D7-A67B-BA5132A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约10.0×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D97A564-848A-445F-863F-71152416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84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5AB0DD7-1A09-4592-8E0D-3B20C60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最接近，但利润更稳定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01BB206-EA5E-4C64-870C-A939DAF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B95C533-EE8D-4D50-A039-B29A8A8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Seaboard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E8570CB-1546-4BA9-9779-E389946F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6BE13FA-6792-44C1-88E1-19B7594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9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猪肉+粮食+航运+能源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9E821D0-A98D-40D5-9B50-18E2B554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C20F5DF-BE2B-4105-859C-36E62525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约7.6×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B7E0AEE-8E62-4071-A6AD-8C6BA669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84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6705217-4602-46E3-A5ED-ADA535AB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多元化、流动性低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86DA6CB-E820-4E3E-92A5-2C94285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9064F7F-B0D2-4D9B-849E-4A610AC6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Tyson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0072518-F913-4191-84B4-D23A9F28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F52A18C-E82B-4DAA-AFBB-917223B2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90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牛鸡猪+品牌食品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19C23CE-C9C4-4562-8DE6-BA6E80D4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1E3C21D-EE6A-4B9E-9426-94F86839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约45.5×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D87797C-D6E4-4C83-9EED-3F5066C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84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9094456-82CA-4A1E-ADE9-B6221CE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低利润期静态PE失真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2F0A81A-AA9B-4435-A2FA-6A4B715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D3FEF10-2810-4ACE-AAB1-E690054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JBS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97F9D55-011C-4059-B5EA-C4F54E9F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005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2E7BA1E-24D6-445A-97D9-EE3E2B67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全球综合肉类加工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CA6890A-70A1-4CCB-A398-CC002E9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1794FF64-8D8E-4A27-AB4F-DC2E82D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辅助观察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9C4440A-C269-4710-9AC7-2A52D69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84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BE01DF2-891D-493F-A478-DA3D190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结构与口径差异大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3690248E-C3A0-46B5-B585-197E09F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周期高利润应靠近区间下沿；食品化程度和利润稳定性提高，才可讨论上沿。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5E794DA8-F817-4428-B647-50385C4D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CD6E57E-FEF9-4742-8A3D-67177C80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资料：[S14—S17][S21—S23]；[J09]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340E417-B867-432F-B7BA-6531ADA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PE 为底稿 2026-07-17 行情截面</a:t>
            </a:r>
          </a:p>
        </p:txBody>
      </p:sp>
    </p:spTree>
    <p:extLst>
      <p:ext uri="{BB962C8B-B14F-4D97-AF65-F5344CB8AC3E}">
        <p14:creationId xmlns:p14="http://schemas.microsoft.com/office/powerpoint/2010/main" val="111768344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9BC5479-D0B6-4520-99F4-FDB6E68B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C8C789-B30E-4783-8F6C-C3D81B7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温氏历史提醒：猪周期上行时，静态 PE 会先高后低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B0725CF-79F9-4328-BF9E-F94B464B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123BDC-736F-46CD-917D-F91CE9B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cxnSp>
        <p:nvCxnSpPr>
          <p:cNvPr id="43" name="直接箭头连接符 28"/>
          <p:cNvCxnSpPr/>
          <p:nvPr/>
        </p:nvCxnSpPr>
        <p:spPr>
          <a:xfrm xmlns:a="http://schemas.openxmlformats.org/drawingml/2006/main">
            <a:off x="2800350" y="31051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44" name="直接箭头连接符 29"/>
          <p:cNvCxnSpPr/>
          <p:nvPr/>
        </p:nvCxnSpPr>
        <p:spPr>
          <a:xfrm xmlns:a="http://schemas.openxmlformats.org/drawingml/2006/main">
            <a:off x="5734050" y="31051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cxnSp>
        <p:nvCxnSpPr>
          <p:cNvPr id="45" name="直接箭头连接符 30"/>
          <p:cNvCxnSpPr/>
          <p:nvPr/>
        </p:nvCxnSpPr>
        <p:spPr>
          <a:xfrm xmlns:a="http://schemas.openxmlformats.org/drawingml/2006/main">
            <a:off x="8667750" y="31051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D37"/>
            </a:solidFill>
            <a:prstDash val="solid"/>
          </a:ln>
        </p:spPr>
      </p:cxn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2F17705-9E7E-4709-BBA1-24BA83E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095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BED9E-740D-45B7-840D-98CE00D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上行初期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5302401-2E1B-4621-9DE3-EFD55D9F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前瞻10—15×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13FEAF4-AB13-48C5-B483-A1766B2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2095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E601ED-A806-4915-9771-F1471CA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利润进入报表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820CAE6-17C7-45ED-8614-24F17A8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TTM快速下降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3A258A8-721B-47F7-8E7B-5C1885C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095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954C089-BEA1-4AF5-8870-080C5ED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峰值利润落地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80E90B-8234-49DC-B1B2-C092E3B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约7—9×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D190C55-67A7-474C-B12E-586FAC3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52650"/>
            <a:ext cx="2095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5E4AA4B-BEA3-4992-9F75-8836AA46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周期回落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D1C2C55-796F-446E-8960-0D034DB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静态PE再上升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105B15D-9DC9-4CD0-955E-719AE4E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8966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FD22DA3-0D67-43AD-AC2C-C9E52F5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2019 年案例约 13× 2020E PE；2024 年报告对 2025E 高利润约 8×。。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817AEB4-783A-49F4-A0F5-AB4FE70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DB8ABC-B642-43CE-9AB7-957451D5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资料：[S18][S19][S20]；[J10]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4D2B353-2611-4544-8279-7BF3FA2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11831106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9AEF241-35A1-4D37-A835-07B58C3B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5AF141C-1CE9-49EE-BBC9-A8EA55BD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猪价越高、利润越接近顶部，合理 PE 越应该下降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9876CB-5C62-49CF-99CE-108A7ABC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F06DCDE-BB2A-4AB9-88FF-5CE7CFF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9DBF9C47-C2C4-4A4D-9643-1993FE2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23825E8-D012-42E5-A570-37AE829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14元｜约260亿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6826ECD-7D04-406A-9487-1010A40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10—12×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D30FA4E-BA35-48C7-B360-9B61057E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62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低位正常化，可持续性较好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480350B-9A1A-4A19-A5A5-D740CCD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4CFE0E-FCD4-415B-A96D-34E1E76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15元｜约360亿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2C5E68-4251-4914-8A99-E9202204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10—12×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68A6BE9-071A-462D-B40D-4BF8E123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62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核心中性，适合长期估值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ABB6548E-8DAC-416B-865B-2A5DA909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4F6D0D-2C91-4C9D-BF07-0409567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15.5—16元｜410—460亿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54D437-A5E4-4F84-93CA-02AA43C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9—11×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E7F238-8B73-41D6-ADFE-48F9606E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62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利润提高，周期性增强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3E4E017-3AC4-4CDC-AE88-0F5D5B90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0858BA-BE7A-4556-8AF8-8B4D8C3E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17—18元｜560—660亿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B09A42F-34A2-42D8-A39E-E8B0B53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20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C277753-5485-4125-972E-5D7920B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62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峰值利润持续时间有限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E6600EF-54DE-41B1-8ECE-A34465E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4483B"/>
                </a:solidFill>
                <a:latin typeface="微软雅黑"/>
                <a:ea typeface="微软雅黑"/>
                <a:cs typeface="微软雅黑"/>
              </a:rPr>
              <a:t>错误组合：18 元猪价 × 660 亿元利润 × 12—15× PE —— 这是双重甚至三重乐观。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56CBE98-30C0-4A0B-8BF3-2206DA0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7AF9846-1F27-426E-9B37-121A0A8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资料：[J10][J11]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62AC139-8480-43B6-9D9F-776DB7F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98493989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C0317C3-8AFE-45F0-92DC-1ED4B65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08A94DD-B6D3-401E-B804-742EBC5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3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最终估值：基础价值看 62—80 元，100 元以上依赖周期与情绪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57D4A9-58C8-4B60-B28E-4D8ABAB9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22B1E6E-7F0E-454E-8D31-1841DC1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BDF2E78-04F2-4095-ABC7-AAF1867A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A65F38-4EBC-494F-A76D-5E98DD1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41C321-734A-4BA0-ABED-01571D1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极度</a:t>
            </a: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保守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058927-FBCA-46A6-B62E-BF92B90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71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C75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6C756E"/>
                </a:solidFill>
                <a:latin typeface="Times New Roman"/>
                <a:ea typeface="Times New Roman"/>
                <a:cs typeface="Times New Roman"/>
              </a:rPr>
              <a:t>45—55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43DAE6A-3307-4784-BCF9-604E01ED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76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2600—3200亿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95667FC-C742-47BD-AA1C-A1D9A24D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14元｜260亿｜10—12×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44E6B051-262E-4A00-B3D0-27A04FC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1163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EEE7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CB60A9C-27A1-44D6-AF11-60AF641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6F4BE23-E698-4531-B590-D0F1721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保守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721036-15A4-4B1B-B92E-3835DD5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0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62—80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A26AF02-E462-4D53-9C58-B9237C29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3600—4600亿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4028D02-0B42-4301-9491-07B12998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15—16元｜360—460亿｜9—12×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8A3DA41-F184-427F-A4CE-DD8471F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1163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89DC5CE-E29A-49F1-B130-1BA61CFC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664B04C-9F77-4DA5-9FB9-65508573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标准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F77277-C930-43AB-B474-8B8E2124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290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A7C95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A7C957"/>
                </a:solidFill>
                <a:latin typeface="Times New Roman"/>
                <a:ea typeface="Times New Roman"/>
                <a:cs typeface="Times New Roman"/>
              </a:rPr>
              <a:t>85—105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B19313C-8E96-468F-86CC-01F196E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4900—6100亿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F692CF4-9343-43C5-9250-FBA95B95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多项条件同时较好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BA661DB-1EE8-429E-860A-FC67945A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1F710B0-BE5D-46F0-989B-344E335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A685BC9-B89E-4AD8-9003-BB570D6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乐观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F5D23AB-78CE-4308-B2CE-FE746F3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577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B4483B"/>
                </a:solidFill>
                <a:latin typeface="Times New Roman"/>
                <a:ea typeface="Times New Roman"/>
                <a:cs typeface="Times New Roman"/>
              </a:rPr>
              <a:t>110—130+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F7E758-C9B5-4798-8D28-661F540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5211A"/>
                </a:solidFill>
                <a:latin typeface="Times New Roman"/>
                <a:ea typeface="Times New Roman"/>
                <a:cs typeface="Times New Roman"/>
              </a:rPr>
              <a:t>6350—7500亿+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3F5E393-9909-4EE5-BEF3-0E9EC4E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峰值利润叠加估值溢价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2467B4F-76B3-4420-9C9D-B963647E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区间不是对某一天股价的预测，而是经营假设与估值倍数的映射。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5E748BD-C15B-4E4F-910D-42A9CAE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6419ED6-E8F0-4EE0-9307-DA23030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资料：[S03]；[D12—D16][J01][J12]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B6D5CCC-9023-4301-8724-91EA9FE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86835163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F3476D-6EC0-4A20-90A9-ED53BBC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牧原股份｜周期盈利与估值框架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46FE56-9A25-4E65-A71D-14D2019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赔率成立的前提清晰，风险也同样清晰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410962-86B6-4D29-B688-D8116ED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7114551-9877-4071-912B-C4202FA1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599B5AB-6379-4852-A8C8-41F9C38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8F5B53-C567-45E1-A444-F5B1E69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确定性较高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418858-CF37-4DBA-999D-BE01CE13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85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A20C55C-9A9F-40FB-BB85-412759EE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335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确定性中等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5497A4-A7CC-4275-BACD-BAFD71DF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85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2C4AA8-4A5C-42E9-B4DF-AE62ED4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335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确定性较低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712EED6-6BDF-443A-9CDA-3A70A0E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规模与成本优势已形成 [S01][S07]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1元猪价约100亿利润弹性 [D03]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母猪与仔猪出现边际去化 [S10][S13]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9BAD451-BB3E-43A6-8993-F1D9ABCB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成本维持11.5—12</a:t>
            </a: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出栏稳定7500—8500万头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长期中枢14.5—15.5元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屠宰维持小幅盈利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40C130-20DC-4AE3-A789-EF67E85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619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2027均价达到17—18元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高价持续时间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峰值期仍获10×以上PE</a:t>
            </a:r>
          </a:p>
          <a:p xmlns:a="http://schemas.openxmlformats.org/drawingml/2006/main">
            <a:pPr marL="0" indent="0">
              <a:spcAft>
                <a:spcPts val="10"/>
              </a:spcAft>
              <a:buChar char="•"/>
              <a:def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A股情绪推动110元以上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926105C-B7BE-4D7B-9711-B229FE9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B76E08B-1F3A-42FC-8DD1-9C4E855A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当前价格偏谨慎，但安全边际取决于：成本优势能否维持，以及行业边际猪价能否回到正常盈利区间。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82F93F-8272-41BE-BE34-6BDA3BAA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8452023-2413-4532-A380-8437243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资料：[S01][S06][S07][S10][S13]；[A03—A05][J14]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E52E3EA-03A7-48DD-90F8-2B76DBAD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模型测算，不构成盈利预测或投资建议</a:t>
            </a:r>
          </a:p>
        </p:txBody>
      </p:sp>
    </p:spTree>
    <p:extLst>
      <p:ext uri="{BB962C8B-B14F-4D97-AF65-F5344CB8AC3E}">
        <p14:creationId xmlns:p14="http://schemas.microsoft.com/office/powerpoint/2010/main" val="17288032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35B3B86-789D-4975-A387-384CB5F4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0FEC856-A998-406F-BB3C-BC05E055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0980456-759C-4F33-838F-78EF10F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把牧原讲透，最后只需要记住三句话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214C932-97A2-48B9-997A-881934D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401748-56A9-4D16-82AD-3B30C95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利润核心是“猪价减成本”，再乘以约 100 亿</a:t>
            </a: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的年销售重量。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36ABE9-1FA9-43A3-ABD4-86952B9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266D12-936E-42B9-86AA-816E851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2DBB02D-E645-4A50-8564-25FF6D3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长期猪价由满足正常需求所需的边际产能成本加正常回报决定。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268967-86BA-4156-961F-8CA217CF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A1016A0-4683-4E79-9B82-A609A6A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C8F0E54-1B62-4FCB-9150-B2DD3B65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14.5—15.5 元正常猪价对应更合理的 60—85 元中枢；100 元以上需要更强周期或情绪。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99B1247-2AEE-44EA-9909-84FACA0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C6A8C08-DDF2-4DF4-8C9F-878CA6C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以下为全部事实来源与可点击链接。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45B5B05-8FBA-4028-A098-2667ED9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5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研究性框架，不构成投资建议</a:t>
            </a:r>
          </a:p>
        </p:txBody>
      </p:sp>
    </p:spTree>
    <p:extLst>
      <p:ext uri="{BB962C8B-B14F-4D97-AF65-F5344CB8AC3E}">
        <p14:creationId xmlns:p14="http://schemas.microsoft.com/office/powerpoint/2010/main" val="136072321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340B146-7DFB-4D85-9AAE-7D3E698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附录｜事实来源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0BA9AE-C686-43E9-BCEC-426D7839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资料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6FCD2E0-A143-469B-9F3E-CA752A1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0D97CF-6F8A-4557-9CC3-1E7CDB4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C814CA2-1087-43DB-A893-11608D3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5A5260-DA26-4A38-887C-73E5BC7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[S01]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801295E-5E83-4E9B-8BC7-CD52E095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57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4a26fc6564e4853"/>
              </a:rPr>
              <a:t>牧原股份 2025 年年度报告摘要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C91EB87-2B85-45FE-A0EF-98F37B49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2A51488-A234-4599-BFF1-D5F2438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[S02]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3C94752-5788-47AF-B4E9-AF3030E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43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aa0339ec643b4e5a"/>
              </a:rPr>
              <a:t>牧原股份 2025 年度业绩预告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51AC367-DFA7-49DC-AF1D-D5BAFDF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C237EA-D1FE-403A-BF1A-BE9A044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[S03]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5F8D62-EC02-40CF-95B5-EEB9AFA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ab50425fd554a38"/>
              </a:rPr>
              <a:t>牧原股份股本与公司资料页面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DF61946-F1D1-4CEB-A176-EB33A7F3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518272-41D6-49F4-87C4-6DE5D49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[S04]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C08C0B-F8B0-4E31-8A6F-FE5DCA39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b25ebcc0e6b049ab"/>
              </a:rPr>
              <a:t>牧原股份新浪行情与公告页面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3F3CB61-1D41-40A5-8B22-8D798A4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75A6108-56F6-4D35-9A6E-098143A8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[S05]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4BD396-E46C-463D-A3F2-CE5EAE5E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005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ca339ec011134f2a"/>
              </a:rPr>
              <a:t>国家统计局：2025 年农业经济形势稳中向好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96CBA8F6-519B-4792-B770-669A02E4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8AFFED-D4D7-4ADE-A8DA-EDF876C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[S06]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95A420B-615E-46C8-A813-ADB0B69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86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d67c68374838425e"/>
              </a:rPr>
              <a:t>生猪产能综合调控实施方案（2026 年修订）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BEE5E1C-B434-4655-AFD6-946202A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656C26E-61D8-40F2-BF0C-B4F62E2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[S07]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84888A3-C263-4185-A818-60D3158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72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c1256f319d284fe8"/>
              </a:rPr>
              <a:t>2025 年我国生猪产业形势回顾与展望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404968B-7436-48C7-B3A5-34E7ACC1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30E175D-354D-479D-81D6-D426382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资料：点击绿色标题打开原始网页或公告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E4A640E-AEF8-4833-A1C1-E482FEA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链接校验日期：2026-07-17</a:t>
            </a:r>
          </a:p>
        </p:txBody>
      </p:sp>
    </p:spTree>
    <p:extLst>
      <p:ext uri="{BB962C8B-B14F-4D97-AF65-F5344CB8AC3E}">
        <p14:creationId xmlns:p14="http://schemas.microsoft.com/office/powerpoint/2010/main" val="59145937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D94100C-C547-43EC-83BD-DDF21E6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附录｜事实来源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ED9282-88E5-44D6-952D-BFAAB7C7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资料与可点击链接（2/4）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D5EEFC9-DAF1-4734-87DB-603350C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B1A7F4-D057-4914-9B92-6486519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3108B703-D468-4769-BB08-92A789A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8B8EA44-C6AB-41AA-970C-3635D9CD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[S08]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E719E-CF71-4747-B2EA-5FB8B2E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57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1a460625f3a4fa1"/>
              </a:rPr>
              <a:t>牧原股份 2026 年 6 月份销售简报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638BF40-9426-4601-AF61-76A57D6D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3A9713-9D5F-4A26-B680-51BCB104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[S09]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30176C5-6550-4D73-90B6-E64FE22B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43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5b61178fa75b4139"/>
              </a:rPr>
              <a:t>中国期货业协会：历史猪周期与供给时滞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059A7FE3-862D-41F4-B91F-F908288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1BEAFE6-E5D2-496B-8345-8F338B1E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[S10]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C8983D-432C-49E1-BB0B-6598BDD8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7c3fd9348ec74b8f"/>
              </a:rPr>
              <a:t>证券时报：下调能繁母猪保有量目标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312A435-F9DF-4937-A120-8E7384D2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6268AE4-A48F-4FE8-9122-DAB102C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[S11]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8504B8A-1E80-4E57-A93B-C8AAD02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0f9d1521c2df4abd"/>
              </a:rPr>
              <a:t>山东省：2025 年二季度养殖成本收益测算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D30E571-765D-4D65-A19F-C059A0D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490931-7C32-4220-AFEE-411B6BC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[S12]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F51E63C-D184-4D65-82EA-6AD552B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005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df9e91cfaf5043b7"/>
              </a:rPr>
              <a:t>山东省：2025 年四季度养殖成本收益测算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983DA76D-4E30-4CFC-A329-9D93399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A5D3415-D3D2-41ED-892A-E4839AC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[S13]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56C52F9-6335-4740-813E-E7595328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86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95dcb8b525314999"/>
              </a:rPr>
              <a:t>证券时报：2026 年 4 月末母猪与供给传导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6278A678-04AE-426B-80DF-889FA559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1F6DED9-4AEF-4446-AA02-92EBA99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[S14]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F883A0C-C12E-46AC-BB52-1174626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72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bc4c0b5168274dbc"/>
              </a:rPr>
              <a:t>Smithfield Foods 行情页面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C40056-0914-41D7-A1D6-853E587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C313367-E2A5-4D56-8065-158752B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资料：点击绿色标题打开原始网页或公告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0DF16F5-AE8D-405A-B4B5-566BC091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链接校验日期：2026-07-17</a:t>
            </a:r>
          </a:p>
        </p:txBody>
      </p:sp>
    </p:spTree>
    <p:extLst>
      <p:ext uri="{BB962C8B-B14F-4D97-AF65-F5344CB8AC3E}">
        <p14:creationId xmlns:p14="http://schemas.microsoft.com/office/powerpoint/2010/main" val="116385086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69AD0E4-E4F1-4AA8-9F31-384F4D6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附录｜事实来源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B05CC3-1BA6-4835-891E-6FAD825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资料与可点击链接（3/4）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E6CFD6A-8778-4294-902A-F22E08F8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1EF7AE-CE59-4C9B-9C1A-C3FD88E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40B1325-6C5F-4DFA-9C7C-A73453EB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0AC8775-7E9E-4296-AAF5-043F07B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[S15]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59EB00-BA07-48C6-9E51-913143E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57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9b47b52f5fbd419d"/>
              </a:rPr>
              <a:t>Seaboard 行情页面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B738A62-4420-49B7-8CA7-E1F254CC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423963-B1D2-4DB8-A047-F44471AF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[S16]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66406AA-9A94-4251-A73D-A425365D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43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12a2f99681d3426e"/>
              </a:rPr>
              <a:t>Tyson Foods 行情页面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429E737-12F2-41E3-8EC1-8F744E59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362D73E-EABE-4BA6-B34A-112BD15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[S17]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87EDBCE-BB3E-48F9-8B6E-3C3DB1E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02a40a857ad7490d"/>
              </a:rPr>
              <a:t>Smithfield Foods 2025 财年业绩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337B0EE-3226-42DD-8B96-5314C527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0CDCD9-849E-4F68-8DE7-2EA7545F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[S18]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D05536E-09CA-497F-A0FD-388619CD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f54b7162fa8405c"/>
              </a:rPr>
              <a:t>2019 年温氏股份券商报告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71B1A1F-4956-456A-926C-866465A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D9726A3-9C3D-4D85-BA0F-85ADD58A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[S19]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6871813-1CF2-4E27-B206-784BBD0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005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3df5849ae9474e89"/>
              </a:rPr>
              <a:t>2024 年温氏股份券商报告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E582C02F-DE14-4014-B1C9-4D8E3215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6888F76-061A-4912-8A68-9EE3BC9B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[S20]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43A397-CECE-45C4-933E-7E2A38F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86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6389f08814c54ae2"/>
              </a:rPr>
              <a:t>温氏股份投资者关系资料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24178B9F-B2D4-496B-91B6-C6B29DE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62CB83-0960-45F3-A93E-0EA2623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[S21]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BF89D9A-A3E7-4D37-A994-A50F763B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72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228ab5e01c584539"/>
              </a:rPr>
              <a:t>Smithfield 财务报告中心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B7DAF4D-2255-4B2C-BCC7-B68A970E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9949CC0-50EE-491B-8A48-BB5263A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资料：点击绿色标题打开原始网页或公告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4EAB02C-F6E2-4432-B488-ED52B165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链接校验日期：2026-07-17</a:t>
            </a:r>
          </a:p>
        </p:txBody>
      </p:sp>
    </p:spTree>
    <p:extLst>
      <p:ext uri="{BB962C8B-B14F-4D97-AF65-F5344CB8AC3E}">
        <p14:creationId xmlns:p14="http://schemas.microsoft.com/office/powerpoint/2010/main" val="35232074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B932C47-6DD4-4C03-8231-4F29B36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6A4C"/>
                </a:solidFill>
                <a:latin typeface="微软雅黑"/>
                <a:ea typeface="微软雅黑"/>
                <a:cs typeface="微软雅黑"/>
              </a:rPr>
              <a:t>附录｜事实来源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8F9103D-780A-4E79-B18F-3280E86B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资料与可点击链接（4/4）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C9B7C3-7345-4F49-93E8-D7A5FDE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78D571-FDCD-41AA-836A-76BF14D5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19FEA26-71E8-44CF-A1CC-C2D569E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B579771-3630-4580-B15A-51956526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[S22]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034516-EA62-4BE2-BBCA-74A55F3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57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a81b0ce60a994b83"/>
              </a:rPr>
              <a:t>Seaboard Corporation 官网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BC0D2AB-0E7C-4676-9CF9-066FCFAA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B3BE4A-05FE-4BD9-BD83-A6412CC3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[S23]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6BDF9CF-1234-4277-903B-AF82368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431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8621f5ccd4f340a4"/>
              </a:rPr>
              <a:t>JBS 投资者关系中心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3075532-79DE-4A4B-8445-85D9ED9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7FADE9-D409-4E6B-9A6F-2EBBEB5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[S24][S25]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8FAF390-F61F-4631-87D5-EBCDB11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286ebd06cfa44beb"/>
              </a:rPr>
              <a:t>新华社：探访牧原股份</a:t>
            </a: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0bec33d29ac54810"/>
              </a:rPr>
              <a:t>｜</a:t>
            </a: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5373fafe42494d49"/>
              </a:rPr>
              <a:t>牧原官网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7B231F8-199B-47C0-B0AE-8768D2C0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ED"/>
          </a:solidFill>
          <a:ln xmlns:a="http://schemas.openxmlformats.org/drawingml/2006/main" w="9525">
            <a:solidFill>
              <a:srgbClr val="C9D1C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BE96D46-5586-4195-8CC2-4F22B884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4D37"/>
                </a:solidFill>
                <a:latin typeface="Times New Roman"/>
                <a:ea typeface="Times New Roman"/>
                <a:cs typeface="Times New Roman"/>
              </a:rPr>
              <a:t>[S26]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8B9B7C-F1DA-4F95-9052-F2EEB6C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af8117040ca847d0"/>
              </a:rPr>
              <a:t>国家统计局：2016 年统计公报</a:t>
            </a: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598b04c1b8984e8e"/>
              </a:rPr>
              <a:t>｜</a:t>
            </a:r>
            <a:r>
              <a:rPr sz="1350" b="1" u="sng">
                <a:solidFill>
                  <a:srgbClr val="174D37"/>
                </a:solidFill>
                <a:latin typeface="微软雅黑"/>
                <a:ea typeface="微软雅黑"/>
                <a:cs typeface="微软雅黑"/>
                <a:hlinkClick xmlns:r="http://schemas.openxmlformats.org/officeDocument/2006/relationships" r:id="R4189c74e9307440d"/>
              </a:rPr>
              <a:t>农业成就报告（2020/2025）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73BD59D-5B13-4366-92B6-60D40C0B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08779A-0755-4B1F-90D0-1CA3B1B7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资料：点击绿色标题打开原始网页或公告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A56EC60-DE9B-4C32-91DE-B7649A62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246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C756E"/>
                </a:solidFill>
                <a:latin typeface="微软雅黑"/>
                <a:ea typeface="微软雅黑"/>
                <a:cs typeface="微软雅黑"/>
              </a:rPr>
              <a:t>链接校验日期：2026-07-17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09FA3B99-D970-45BB-AE3A-2715A63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0E5"/>
          </a:solidFill>
          <a:ln xmlns:a="http://schemas.openxmlformats.org/drawingml/2006/main" w="9525">
            <a:solidFill>
              <a:srgbClr val="E8DFC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0D2AE9E-7C50-4D2E-8BA7-483071C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D37"/>
                </a:solidFill>
                <a:latin typeface="微软雅黑"/>
                <a:ea typeface="微软雅黑"/>
                <a:cs typeface="微软雅黑"/>
              </a:rPr>
              <a:t>模型假设（不属于外部事实）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78EDED3-A0B5-459D-861F-0AEF135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[A01] 2025均重122—125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　[A02]屠宰增量0.3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　[A03]出栏8000万头　[A04]均重125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千克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FE5841E-4814-4CD6-8918-8244767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[A05]完全成本11.5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元/千克</a:t>
            </a:r>
            <a:r>
              <a:rPr sz="1275" b="1">
                <a:solidFill>
                  <a:srgbClr val="15211A"/>
                </a:solidFill>
                <a:latin typeface="微软雅黑"/>
                <a:ea typeface="微软雅黑"/>
                <a:cs typeface="微软雅黑"/>
              </a:rPr>
              <a:t>　[A06]产品产出率90%　[A07]边际生产者正常利润50—100元/头</a:t>
            </a:r>
          </a:p>
        </p:txBody>
      </p:sp>
    </p:spTree>
    <p:extLst>
      <p:ext uri="{BB962C8B-B14F-4D97-AF65-F5344CB8AC3E}">
        <p14:creationId xmlns:p14="http://schemas.microsoft.com/office/powerpoint/2010/main" val="377848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2026-07-17T11:15:33.7010000Z</dcterms:created>
  <dcterms:modified xsi:type="dcterms:W3CDTF">2026-07-17T11:15:33.7010000Z</dcterms:modified>
</coreProperties>
</file>