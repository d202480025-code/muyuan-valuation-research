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3.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4.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slides/charts/chart5.xml" ContentType="application/vnd.openxmlformats-officedocument.drawingml.chart+xml"/>
  <Override PartName="/ppt/notesSlides/notesSlide35.xml" ContentType="application/vnd.openxmlformats-officedocument.presentationml.notesSlide+xml"/>
  <Override PartName="/ppt/slides/slide36.xml" ContentType="application/vnd.openxmlformats-officedocument.presentationml.slide+xml"/>
  <Override PartName="/ppt/slides/charts/chart6.xml" ContentType="application/vnd.openxmlformats-officedocument.drawingml.chart+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slides/charts/chart7.xml" ContentType="application/vnd.openxmlformats-officedocument.drawingml.chart+xml"/>
  <Override PartName="/ppt/notesSlides/notesSlide46.xml" ContentType="application/vnd.openxmlformats-officedocument.presentationml.notesSlide+xml"/>
  <Override PartName="/ppt/slides/slide47.xml" ContentType="application/vnd.openxmlformats-officedocument.presentationml.slide+xml"/>
  <Override PartName="/ppt/slides/charts/chart8.xml" ContentType="application/vnd.openxmlformats-officedocument.drawingml.chart+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19079926614776" /><Relationship Type="http://schemas.openxmlformats.org/officeDocument/2006/relationships/extended-properties" Target="/docProps/app.xml" Id="Re8775f38214342c2" /><Relationship Type="http://schemas.openxmlformats.org/officeDocument/2006/relationships/officeDocument" Target="/ppt/presentation.xml" Id="R423d0c639fae483c" /></Relationships>
</file>

<file path=ppt/presentation.xml><?xml version="1.0" encoding="utf-8"?>
<p:presentation xmlns:p="http://schemas.openxmlformats.org/presentationml/2006/main">
  <p:sldMasterIdLst>
    <p:sldMasterId xmlns:r="http://schemas.openxmlformats.org/officeDocument/2006/relationships" id="2147483648" r:id="Rae867bc7f1e74b2a"/>
  </p:sldMasterIdLst>
  <p:notesMasterIdLst>
    <p:notesMasterId xmlns:r="http://schemas.openxmlformats.org/officeDocument/2006/relationships" r:id="R1418eeffff7f4cb8"/>
  </p:notesMasterIdLst>
  <p:sldIdLst>
    <p:sldId xmlns:r="http://schemas.openxmlformats.org/officeDocument/2006/relationships" id="256" r:id="R3dc8543ae27e439a"/>
    <p:sldId xmlns:r="http://schemas.openxmlformats.org/officeDocument/2006/relationships" id="257" r:id="Rd22d686f56af44c0"/>
    <p:sldId xmlns:r="http://schemas.openxmlformats.org/officeDocument/2006/relationships" id="258" r:id="R7a4a88cd73af45fc"/>
    <p:sldId xmlns:r="http://schemas.openxmlformats.org/officeDocument/2006/relationships" id="259" r:id="R599b8c364bc74a0f"/>
    <p:sldId xmlns:r="http://schemas.openxmlformats.org/officeDocument/2006/relationships" id="260" r:id="R269c0045fa81435c"/>
    <p:sldId xmlns:r="http://schemas.openxmlformats.org/officeDocument/2006/relationships" id="261" r:id="R2abadb1b8c794656"/>
    <p:sldId xmlns:r="http://schemas.openxmlformats.org/officeDocument/2006/relationships" id="262" r:id="R0b8cf17fd5c44923"/>
    <p:sldId xmlns:r="http://schemas.openxmlformats.org/officeDocument/2006/relationships" id="263" r:id="R34935d3ddf7b4622"/>
    <p:sldId xmlns:r="http://schemas.openxmlformats.org/officeDocument/2006/relationships" id="264" r:id="R9447cac0271b46c4"/>
    <p:sldId xmlns:r="http://schemas.openxmlformats.org/officeDocument/2006/relationships" id="265" r:id="R9b24fd19f5be4e92"/>
    <p:sldId xmlns:r="http://schemas.openxmlformats.org/officeDocument/2006/relationships" id="266" r:id="Rb7ec119f33814e22"/>
    <p:sldId xmlns:r="http://schemas.openxmlformats.org/officeDocument/2006/relationships" id="267" r:id="Rd33d348df44442ff"/>
    <p:sldId xmlns:r="http://schemas.openxmlformats.org/officeDocument/2006/relationships" id="268" r:id="Rbed8867de41449a2"/>
    <p:sldId xmlns:r="http://schemas.openxmlformats.org/officeDocument/2006/relationships" id="269" r:id="R8be00b7f92ba45b0"/>
    <p:sldId xmlns:r="http://schemas.openxmlformats.org/officeDocument/2006/relationships" id="270" r:id="R2e56c1bbe9ce4b8d"/>
    <p:sldId xmlns:r="http://schemas.openxmlformats.org/officeDocument/2006/relationships" id="271" r:id="Ra70e1432c31c4b4c"/>
    <p:sldId xmlns:r="http://schemas.openxmlformats.org/officeDocument/2006/relationships" id="272" r:id="R3dcea29a9bab4669"/>
    <p:sldId xmlns:r="http://schemas.openxmlformats.org/officeDocument/2006/relationships" id="273" r:id="R2031d575f5ac4cde"/>
    <p:sldId xmlns:r="http://schemas.openxmlformats.org/officeDocument/2006/relationships" id="274" r:id="R30c5c754503c4d74"/>
    <p:sldId xmlns:r="http://schemas.openxmlformats.org/officeDocument/2006/relationships" id="275" r:id="R626d9f6b49c64c43"/>
    <p:sldId xmlns:r="http://schemas.openxmlformats.org/officeDocument/2006/relationships" id="276" r:id="R7737896c692e4b4e"/>
    <p:sldId xmlns:r="http://schemas.openxmlformats.org/officeDocument/2006/relationships" id="277" r:id="R736cbcd4b6da444c"/>
    <p:sldId xmlns:r="http://schemas.openxmlformats.org/officeDocument/2006/relationships" id="278" r:id="R25abad608a154c77"/>
    <p:sldId xmlns:r="http://schemas.openxmlformats.org/officeDocument/2006/relationships" id="279" r:id="Rac692b18e6274a02"/>
    <p:sldId xmlns:r="http://schemas.openxmlformats.org/officeDocument/2006/relationships" id="280" r:id="R4e37a8bcbb5e4f1c"/>
    <p:sldId xmlns:r="http://schemas.openxmlformats.org/officeDocument/2006/relationships" id="281" r:id="R86b953fb3c45494c"/>
    <p:sldId xmlns:r="http://schemas.openxmlformats.org/officeDocument/2006/relationships" id="282" r:id="R801d48806cd54ae3"/>
    <p:sldId xmlns:r="http://schemas.openxmlformats.org/officeDocument/2006/relationships" id="283" r:id="Raf0602d5a27948cf"/>
    <p:sldId xmlns:r="http://schemas.openxmlformats.org/officeDocument/2006/relationships" id="284" r:id="R5c3f6a180b9844da"/>
    <p:sldId xmlns:r="http://schemas.openxmlformats.org/officeDocument/2006/relationships" id="285" r:id="Rbb15868921254448"/>
    <p:sldId xmlns:r="http://schemas.openxmlformats.org/officeDocument/2006/relationships" id="286" r:id="R1df61f831ed742c7"/>
    <p:sldId xmlns:r="http://schemas.openxmlformats.org/officeDocument/2006/relationships" id="287" r:id="R777bda1ca3e64648"/>
    <p:sldId xmlns:r="http://schemas.openxmlformats.org/officeDocument/2006/relationships" id="288" r:id="R63bc5350b23a46db"/>
    <p:sldId xmlns:r="http://schemas.openxmlformats.org/officeDocument/2006/relationships" id="289" r:id="R2d35a3f6f43b4c78"/>
    <p:sldId xmlns:r="http://schemas.openxmlformats.org/officeDocument/2006/relationships" id="290" r:id="Rc912c5cf7c8a4a48"/>
    <p:sldId xmlns:r="http://schemas.openxmlformats.org/officeDocument/2006/relationships" id="291" r:id="Rc60c7a8e9d1c4d7f"/>
    <p:sldId xmlns:r="http://schemas.openxmlformats.org/officeDocument/2006/relationships" id="292" r:id="R80596a62b9bf4726"/>
    <p:sldId xmlns:r="http://schemas.openxmlformats.org/officeDocument/2006/relationships" id="293" r:id="Rf85d8348523646bd"/>
    <p:sldId xmlns:r="http://schemas.openxmlformats.org/officeDocument/2006/relationships" id="294" r:id="R466bb4e948c74c19"/>
    <p:sldId xmlns:r="http://schemas.openxmlformats.org/officeDocument/2006/relationships" id="295" r:id="R2f2c77bb7f604118"/>
    <p:sldId xmlns:r="http://schemas.openxmlformats.org/officeDocument/2006/relationships" id="296" r:id="R37b6f2cb651b4be1"/>
    <p:sldId xmlns:r="http://schemas.openxmlformats.org/officeDocument/2006/relationships" id="297" r:id="R2aaf83311acc45c5"/>
    <p:sldId xmlns:r="http://schemas.openxmlformats.org/officeDocument/2006/relationships" id="298" r:id="R211854ac87244949"/>
    <p:sldId xmlns:r="http://schemas.openxmlformats.org/officeDocument/2006/relationships" id="299" r:id="R527d897a3e7149c3"/>
    <p:sldId xmlns:r="http://schemas.openxmlformats.org/officeDocument/2006/relationships" id="300" r:id="Racc88119df3049e4"/>
    <p:sldId xmlns:r="http://schemas.openxmlformats.org/officeDocument/2006/relationships" id="301" r:id="R865b7449f02f4b6b"/>
    <p:sldId xmlns:r="http://schemas.openxmlformats.org/officeDocument/2006/relationships" id="302" r:id="R36c067b5e1b7429a"/>
    <p:sldId xmlns:r="http://schemas.openxmlformats.org/officeDocument/2006/relationships" id="303" r:id="R1a98a18d071e4759"/>
    <p:sldId xmlns:r="http://schemas.openxmlformats.org/officeDocument/2006/relationships" id="304" r:id="Rd6d973d8b6dc4b9b"/>
    <p:sldId xmlns:r="http://schemas.openxmlformats.org/officeDocument/2006/relationships" id="305" r:id="Rb978f169d40e42cc"/>
    <p:sldId xmlns:r="http://schemas.openxmlformats.org/officeDocument/2006/relationships" id="306" r:id="R5bbda38c717a4c89"/>
    <p:sldId xmlns:r="http://schemas.openxmlformats.org/officeDocument/2006/relationships" id="307" r:id="R573d94fad95d47a6"/>
    <p:sldId xmlns:r="http://schemas.openxmlformats.org/officeDocument/2006/relationships" id="308" r:id="R49cb6519ee9a443c"/>
    <p:sldId xmlns:r="http://schemas.openxmlformats.org/officeDocument/2006/relationships" id="309" r:id="R2ac4a77073544959"/>
    <p:sldId xmlns:r="http://schemas.openxmlformats.org/officeDocument/2006/relationships" id="310" r:id="R522747027e6647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59362ef039497e" /><Relationship Type="http://schemas.openxmlformats.org/officeDocument/2006/relationships/slideMaster" Target="/ppt/slideMasters/slideMaster1.xml" Id="Rae867bc7f1e74b2a" /><Relationship Type="http://schemas.openxmlformats.org/officeDocument/2006/relationships/notesMaster" Target="/ppt/notesMasters/notesMaster1.xml" Id="R1418eeffff7f4cb8" /><Relationship Type="http://schemas.openxmlformats.org/officeDocument/2006/relationships/presProps" Target="/ppt/presProps.xml" Id="R977b3aebaf484a48" /><Relationship Type="http://schemas.openxmlformats.org/officeDocument/2006/relationships/tableStyles" Target="/ppt/tableStyles.xml" Id="R5cc7a56ca26445ac" /><Relationship Type="http://schemas.openxmlformats.org/officeDocument/2006/relationships/slide" Target="/ppt/slides/slide1.xml" Id="R3dc8543ae27e439a" /><Relationship Type="http://schemas.openxmlformats.org/officeDocument/2006/relationships/slide" Target="/ppt/slides/slide2.xml" Id="Rd22d686f56af44c0" /><Relationship Type="http://schemas.openxmlformats.org/officeDocument/2006/relationships/slide" Target="/ppt/slides/slide3.xml" Id="R7a4a88cd73af45fc" /><Relationship Type="http://schemas.openxmlformats.org/officeDocument/2006/relationships/slide" Target="/ppt/slides/slide4.xml" Id="R599b8c364bc74a0f" /><Relationship Type="http://schemas.openxmlformats.org/officeDocument/2006/relationships/slide" Target="/ppt/slides/slide5.xml" Id="R269c0045fa81435c" /><Relationship Type="http://schemas.openxmlformats.org/officeDocument/2006/relationships/slide" Target="/ppt/slides/slide6.xml" Id="R2abadb1b8c794656" /><Relationship Type="http://schemas.openxmlformats.org/officeDocument/2006/relationships/slide" Target="/ppt/slides/slide7.xml" Id="R0b8cf17fd5c44923" /><Relationship Type="http://schemas.openxmlformats.org/officeDocument/2006/relationships/slide" Target="/ppt/slides/slide8.xml" Id="R34935d3ddf7b4622" /><Relationship Type="http://schemas.openxmlformats.org/officeDocument/2006/relationships/slide" Target="/ppt/slides/slide9.xml" Id="R9447cac0271b46c4" /><Relationship Type="http://schemas.openxmlformats.org/officeDocument/2006/relationships/slide" Target="/ppt/slides/slide10.xml" Id="R9b24fd19f5be4e92" /><Relationship Type="http://schemas.openxmlformats.org/officeDocument/2006/relationships/slide" Target="/ppt/slides/slide11.xml" Id="Rb7ec119f33814e22" /><Relationship Type="http://schemas.openxmlformats.org/officeDocument/2006/relationships/slide" Target="/ppt/slides/slide12.xml" Id="Rd33d348df44442ff" /><Relationship Type="http://schemas.openxmlformats.org/officeDocument/2006/relationships/slide" Target="/ppt/slides/slide13.xml" Id="Rbed8867de41449a2" /><Relationship Type="http://schemas.openxmlformats.org/officeDocument/2006/relationships/slide" Target="/ppt/slides/slide14.xml" Id="R8be00b7f92ba45b0" /><Relationship Type="http://schemas.openxmlformats.org/officeDocument/2006/relationships/slide" Target="/ppt/slides/slide15.xml" Id="R2e56c1bbe9ce4b8d" /><Relationship Type="http://schemas.openxmlformats.org/officeDocument/2006/relationships/slide" Target="/ppt/slides/slide16.xml" Id="Ra70e1432c31c4b4c" /><Relationship Type="http://schemas.openxmlformats.org/officeDocument/2006/relationships/slide" Target="/ppt/slides/slide17.xml" Id="R3dcea29a9bab4669" /><Relationship Type="http://schemas.openxmlformats.org/officeDocument/2006/relationships/slide" Target="/ppt/slides/slide18.xml" Id="R2031d575f5ac4cde" /><Relationship Type="http://schemas.openxmlformats.org/officeDocument/2006/relationships/slide" Target="/ppt/slides/slide19.xml" Id="R30c5c754503c4d74" /><Relationship Type="http://schemas.openxmlformats.org/officeDocument/2006/relationships/slide" Target="/ppt/slides/slide20.xml" Id="R626d9f6b49c64c43" /><Relationship Type="http://schemas.openxmlformats.org/officeDocument/2006/relationships/slide" Target="/ppt/slides/slide21.xml" Id="R7737896c692e4b4e" /><Relationship Type="http://schemas.openxmlformats.org/officeDocument/2006/relationships/slide" Target="/ppt/slides/slide22.xml" Id="R736cbcd4b6da444c" /><Relationship Type="http://schemas.openxmlformats.org/officeDocument/2006/relationships/slide" Target="/ppt/slides/slide23.xml" Id="R25abad608a154c77" /><Relationship Type="http://schemas.openxmlformats.org/officeDocument/2006/relationships/slide" Target="/ppt/slides/slide24.xml" Id="Rac692b18e6274a02" /><Relationship Type="http://schemas.openxmlformats.org/officeDocument/2006/relationships/slide" Target="/ppt/slides/slide25.xml" Id="R4e37a8bcbb5e4f1c" /><Relationship Type="http://schemas.openxmlformats.org/officeDocument/2006/relationships/slide" Target="/ppt/slides/slide26.xml" Id="R86b953fb3c45494c" /><Relationship Type="http://schemas.openxmlformats.org/officeDocument/2006/relationships/slide" Target="/ppt/slides/slide27.xml" Id="R801d48806cd54ae3" /><Relationship Type="http://schemas.openxmlformats.org/officeDocument/2006/relationships/slide" Target="/ppt/slides/slide28.xml" Id="Raf0602d5a27948cf" /><Relationship Type="http://schemas.openxmlformats.org/officeDocument/2006/relationships/slide" Target="/ppt/slides/slide29.xml" Id="R5c3f6a180b9844da" /><Relationship Type="http://schemas.openxmlformats.org/officeDocument/2006/relationships/slide" Target="/ppt/slides/slide30.xml" Id="Rbb15868921254448" /><Relationship Type="http://schemas.openxmlformats.org/officeDocument/2006/relationships/slide" Target="/ppt/slides/slide31.xml" Id="R1df61f831ed742c7" /><Relationship Type="http://schemas.openxmlformats.org/officeDocument/2006/relationships/slide" Target="/ppt/slides/slide32.xml" Id="R777bda1ca3e64648" /><Relationship Type="http://schemas.openxmlformats.org/officeDocument/2006/relationships/slide" Target="/ppt/slides/slide33.xml" Id="R63bc5350b23a46db" /><Relationship Type="http://schemas.openxmlformats.org/officeDocument/2006/relationships/slide" Target="/ppt/slides/slide34.xml" Id="R2d35a3f6f43b4c78" /><Relationship Type="http://schemas.openxmlformats.org/officeDocument/2006/relationships/slide" Target="/ppt/slides/slide35.xml" Id="Rc912c5cf7c8a4a48" /><Relationship Type="http://schemas.openxmlformats.org/officeDocument/2006/relationships/slide" Target="/ppt/slides/slide36.xml" Id="Rc60c7a8e9d1c4d7f" /><Relationship Type="http://schemas.openxmlformats.org/officeDocument/2006/relationships/slide" Target="/ppt/slides/slide37.xml" Id="R80596a62b9bf4726" /><Relationship Type="http://schemas.openxmlformats.org/officeDocument/2006/relationships/slide" Target="/ppt/slides/slide38.xml" Id="Rf85d8348523646bd" /><Relationship Type="http://schemas.openxmlformats.org/officeDocument/2006/relationships/slide" Target="/ppt/slides/slide39.xml" Id="R466bb4e948c74c19" /><Relationship Type="http://schemas.openxmlformats.org/officeDocument/2006/relationships/slide" Target="/ppt/slides/slide40.xml" Id="R2f2c77bb7f604118" /><Relationship Type="http://schemas.openxmlformats.org/officeDocument/2006/relationships/slide" Target="/ppt/slides/slide41.xml" Id="R37b6f2cb651b4be1" /><Relationship Type="http://schemas.openxmlformats.org/officeDocument/2006/relationships/slide" Target="/ppt/slides/slide42.xml" Id="R2aaf83311acc45c5" /><Relationship Type="http://schemas.openxmlformats.org/officeDocument/2006/relationships/slide" Target="/ppt/slides/slide43.xml" Id="R211854ac87244949" /><Relationship Type="http://schemas.openxmlformats.org/officeDocument/2006/relationships/slide" Target="/ppt/slides/slide44.xml" Id="R527d897a3e7149c3" /><Relationship Type="http://schemas.openxmlformats.org/officeDocument/2006/relationships/slide" Target="/ppt/slides/slide45.xml" Id="Racc88119df3049e4" /><Relationship Type="http://schemas.openxmlformats.org/officeDocument/2006/relationships/slide" Target="/ppt/slides/slide46.xml" Id="R865b7449f02f4b6b" /><Relationship Type="http://schemas.openxmlformats.org/officeDocument/2006/relationships/slide" Target="/ppt/slides/slide47.xml" Id="R36c067b5e1b7429a" /><Relationship Type="http://schemas.openxmlformats.org/officeDocument/2006/relationships/slide" Target="/ppt/slides/slide48.xml" Id="R1a98a18d071e4759" /><Relationship Type="http://schemas.openxmlformats.org/officeDocument/2006/relationships/slide" Target="/ppt/slides/slide49.xml" Id="Rd6d973d8b6dc4b9b" /><Relationship Type="http://schemas.openxmlformats.org/officeDocument/2006/relationships/slide" Target="/ppt/slides/slide50.xml" Id="Rb978f169d40e42cc" /><Relationship Type="http://schemas.openxmlformats.org/officeDocument/2006/relationships/slide" Target="/ppt/slides/slide51.xml" Id="R5bbda38c717a4c89" /><Relationship Type="http://schemas.openxmlformats.org/officeDocument/2006/relationships/slide" Target="/ppt/slides/slide52.xml" Id="R573d94fad95d47a6" /><Relationship Type="http://schemas.openxmlformats.org/officeDocument/2006/relationships/slide" Target="/ppt/slides/slide53.xml" Id="R49cb6519ee9a443c" /><Relationship Type="http://schemas.openxmlformats.org/officeDocument/2006/relationships/slide" Target="/ppt/slides/slide54.xml" Id="R2ac4a77073544959" /><Relationship Type="http://schemas.openxmlformats.org/officeDocument/2006/relationships/slide" Target="/ppt/slides/slide55.xml" Id="R522747027e6647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a7b4bb711f48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icrosoft YaHei"/>
        <a:ea typeface=""/>
        <a:cs typeface=""/>
      </a:majorFont>
      <a:minorFont>
        <a:latin typeface="Microsoft YaHe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95d69eefea49e5" /><Relationship Type="http://schemas.openxmlformats.org/officeDocument/2006/relationships/notesMaster" Target="/ppt/notesMasters/notesMaster1.xml" Id="Rdadbff793ae64b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f27713966a404c" /><Relationship Type="http://schemas.openxmlformats.org/officeDocument/2006/relationships/notesMaster" Target="/ppt/notesMasters/notesMaster1.xml" Id="R94dbf604169448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baa06cb5154fe9" /><Relationship Type="http://schemas.openxmlformats.org/officeDocument/2006/relationships/notesMaster" Target="/ppt/notesMasters/notesMaster1.xml" Id="R40f44882786d42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4e40dcb275474e" /><Relationship Type="http://schemas.openxmlformats.org/officeDocument/2006/relationships/notesMaster" Target="/ppt/notesMasters/notesMaster1.xml" Id="R603c0ed29ac24f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1d47287e994c30" /><Relationship Type="http://schemas.openxmlformats.org/officeDocument/2006/relationships/notesMaster" Target="/ppt/notesMasters/notesMaster1.xml" Id="Rc4ede51ca5844c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c3b4ed0e344c15" /><Relationship Type="http://schemas.openxmlformats.org/officeDocument/2006/relationships/notesMaster" Target="/ppt/notesMasters/notesMaster1.xml" Id="Rf867830ea4c44d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1c574d6e91042a7" /><Relationship Type="http://schemas.openxmlformats.org/officeDocument/2006/relationships/notesMaster" Target="/ppt/notesMasters/notesMaster1.xml" Id="Rf75c50ef16ad4b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edd44d133340a4" /><Relationship Type="http://schemas.openxmlformats.org/officeDocument/2006/relationships/notesMaster" Target="/ppt/notesMasters/notesMaster1.xml" Id="R03752972eb1347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d74c2755ce43cc" /><Relationship Type="http://schemas.openxmlformats.org/officeDocument/2006/relationships/notesMaster" Target="/ppt/notesMasters/notesMaster1.xml" Id="Ra40788aac4e846e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6d3ba575d3146db" /><Relationship Type="http://schemas.openxmlformats.org/officeDocument/2006/relationships/notesMaster" Target="/ppt/notesMasters/notesMaster1.xml" Id="Rb6d675722cbc457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80239e75874b20" /><Relationship Type="http://schemas.openxmlformats.org/officeDocument/2006/relationships/notesMaster" Target="/ppt/notesMasters/notesMaster1.xml" Id="Rde99d89c16aa416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176473e67e14a80" /><Relationship Type="http://schemas.openxmlformats.org/officeDocument/2006/relationships/notesMaster" Target="/ppt/notesMasters/notesMaster1.xml" Id="Rcba5dc2fc0f84cc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5f19ad705044860" /><Relationship Type="http://schemas.openxmlformats.org/officeDocument/2006/relationships/notesMaster" Target="/ppt/notesMasters/notesMaster1.xml" Id="R33da6fc1e5db4dd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af3ca692d0f4d3c" /><Relationship Type="http://schemas.openxmlformats.org/officeDocument/2006/relationships/notesMaster" Target="/ppt/notesMasters/notesMaster1.xml" Id="R67985f3d24db4e4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41c33aa4fcf4e82" /><Relationship Type="http://schemas.openxmlformats.org/officeDocument/2006/relationships/notesMaster" Target="/ppt/notesMasters/notesMaster1.xml" Id="Rb8ae8f4203994d1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1ef98255ee84f2e" /><Relationship Type="http://schemas.openxmlformats.org/officeDocument/2006/relationships/notesMaster" Target="/ppt/notesMasters/notesMaster1.xml" Id="R02d2370e59184cf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4ffda286aac4b17" /><Relationship Type="http://schemas.openxmlformats.org/officeDocument/2006/relationships/notesMaster" Target="/ppt/notesMasters/notesMaster1.xml" Id="R8f55f2255d6d449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8d9c5eab3754389" /><Relationship Type="http://schemas.openxmlformats.org/officeDocument/2006/relationships/notesMaster" Target="/ppt/notesMasters/notesMaster1.xml" Id="R947afe79f62448c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78a2fe8f1ef48f8" /><Relationship Type="http://schemas.openxmlformats.org/officeDocument/2006/relationships/notesMaster" Target="/ppt/notesMasters/notesMaster1.xml" Id="Ra02fde8239ff44f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18efdbc75e14442" /><Relationship Type="http://schemas.openxmlformats.org/officeDocument/2006/relationships/notesMaster" Target="/ppt/notesMasters/notesMaster1.xml" Id="R8368ff7b0b994e3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12e7026d3f540ec" /><Relationship Type="http://schemas.openxmlformats.org/officeDocument/2006/relationships/notesMaster" Target="/ppt/notesMasters/notesMaster1.xml" Id="R39722f52b095442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3822ef1846442b0" /><Relationship Type="http://schemas.openxmlformats.org/officeDocument/2006/relationships/notesMaster" Target="/ppt/notesMasters/notesMaster1.xml" Id="Rbd2a772f141d49f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2f6c5ea10ef45c6" /><Relationship Type="http://schemas.openxmlformats.org/officeDocument/2006/relationships/notesMaster" Target="/ppt/notesMasters/notesMaster1.xml" Id="Re1f5f545e6dd4aa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9bae03895bd4ff3" /><Relationship Type="http://schemas.openxmlformats.org/officeDocument/2006/relationships/notesMaster" Target="/ppt/notesMasters/notesMaster1.xml" Id="R8e3c3d40bd4549e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fe3b15fe42c417b" /><Relationship Type="http://schemas.openxmlformats.org/officeDocument/2006/relationships/notesMaster" Target="/ppt/notesMasters/notesMaster1.xml" Id="R9f8fc56d6b574c5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b29f6b7fb4b42ae" /><Relationship Type="http://schemas.openxmlformats.org/officeDocument/2006/relationships/notesMaster" Target="/ppt/notesMasters/notesMaster1.xml" Id="R1314b979eddd4cc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9132c40f8e8497a" /><Relationship Type="http://schemas.openxmlformats.org/officeDocument/2006/relationships/notesMaster" Target="/ppt/notesMasters/notesMaster1.xml" Id="Rfa40ee463c2c4d2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8dd1789bdbe4e37" /><Relationship Type="http://schemas.openxmlformats.org/officeDocument/2006/relationships/notesMaster" Target="/ppt/notesMasters/notesMaster1.xml" Id="R628b613a27434a6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ed70538ecfe4d9b" /><Relationship Type="http://schemas.openxmlformats.org/officeDocument/2006/relationships/notesMaster" Target="/ppt/notesMasters/notesMaster1.xml" Id="Rba4a8f9765684f3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ec342ba5cba4266" /><Relationship Type="http://schemas.openxmlformats.org/officeDocument/2006/relationships/notesMaster" Target="/ppt/notesMasters/notesMaster1.xml" Id="R3a75166ce3ba4a8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f8634e788fb469f" /><Relationship Type="http://schemas.openxmlformats.org/officeDocument/2006/relationships/notesMaster" Target="/ppt/notesMasters/notesMaster1.xml" Id="R5d4b20908ac946f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872e23247704d5c" /><Relationship Type="http://schemas.openxmlformats.org/officeDocument/2006/relationships/notesMaster" Target="/ppt/notesMasters/notesMaster1.xml" Id="R2b5918c1aadf4b6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c49e2966a5c4ddc" /><Relationship Type="http://schemas.openxmlformats.org/officeDocument/2006/relationships/notesMaster" Target="/ppt/notesMasters/notesMaster1.xml" Id="R8743c79697d14a3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815996d885243ab" /><Relationship Type="http://schemas.openxmlformats.org/officeDocument/2006/relationships/notesMaster" Target="/ppt/notesMasters/notesMaster1.xml" Id="R74994dd1d07346b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e63206bf21e40c9" /><Relationship Type="http://schemas.openxmlformats.org/officeDocument/2006/relationships/notesMaster" Target="/ppt/notesMasters/notesMaster1.xml" Id="Rd53cb884654e4b5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b5a29af42aa416a" /><Relationship Type="http://schemas.openxmlformats.org/officeDocument/2006/relationships/notesMaster" Target="/ppt/notesMasters/notesMaster1.xml" Id="R99a9ccebb69148b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57684dfd75c4ff5" /><Relationship Type="http://schemas.openxmlformats.org/officeDocument/2006/relationships/notesMaster" Target="/ppt/notesMasters/notesMaster1.xml" Id="R819d35a192d54e2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a4b03200b424e28" /><Relationship Type="http://schemas.openxmlformats.org/officeDocument/2006/relationships/notesMaster" Target="/ppt/notesMasters/notesMaster1.xml" Id="Rc9ca5ce97cbf4e0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aceb9f1c8044e58" /><Relationship Type="http://schemas.openxmlformats.org/officeDocument/2006/relationships/notesMaster" Target="/ppt/notesMasters/notesMaster1.xml" Id="Rb56af1e0679646c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833182ac4ef4633" /><Relationship Type="http://schemas.openxmlformats.org/officeDocument/2006/relationships/notesMaster" Target="/ppt/notesMasters/notesMaster1.xml" Id="R900c6d5b6cd64c3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91537483e6243a3" /><Relationship Type="http://schemas.openxmlformats.org/officeDocument/2006/relationships/notesMaster" Target="/ppt/notesMasters/notesMaster1.xml" Id="Rccc88fc93ef44cc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e657aa1403141a9" /><Relationship Type="http://schemas.openxmlformats.org/officeDocument/2006/relationships/notesMaster" Target="/ppt/notesMasters/notesMaster1.xml" Id="Raf29b10ad4874e4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470f0e264a94399" /><Relationship Type="http://schemas.openxmlformats.org/officeDocument/2006/relationships/notesMaster" Target="/ppt/notesMasters/notesMaster1.xml" Id="R2e20db5f6f39490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fa3d32e1c8d4ca7" /><Relationship Type="http://schemas.openxmlformats.org/officeDocument/2006/relationships/notesMaster" Target="/ppt/notesMasters/notesMaster1.xml" Id="R8865c055ce304ef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ef47d6d68fe4548" /><Relationship Type="http://schemas.openxmlformats.org/officeDocument/2006/relationships/notesMaster" Target="/ppt/notesMasters/notesMaster1.xml" Id="R91cc1c4f26eb40a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92105d3cff24002" /><Relationship Type="http://schemas.openxmlformats.org/officeDocument/2006/relationships/notesMaster" Target="/ppt/notesMasters/notesMaster1.xml" Id="R8fffc589247e49e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997875fa22f4f23" /><Relationship Type="http://schemas.openxmlformats.org/officeDocument/2006/relationships/notesMaster" Target="/ppt/notesMasters/notesMaster1.xml" Id="Rac6d89273608444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f46dcfa47fd4654" /><Relationship Type="http://schemas.openxmlformats.org/officeDocument/2006/relationships/notesMaster" Target="/ppt/notesMasters/notesMaster1.xml" Id="R87c3016df70d4f5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0545a8a30fe4dd0" /><Relationship Type="http://schemas.openxmlformats.org/officeDocument/2006/relationships/notesMaster" Target="/ppt/notesMasters/notesMaster1.xml" Id="R1200b5647858479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2d09ff688904c59" /><Relationship Type="http://schemas.openxmlformats.org/officeDocument/2006/relationships/notesMaster" Target="/ppt/notesMasters/notesMaster1.xml" Id="R1f88c1559492412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e47989aac85416a" /><Relationship Type="http://schemas.openxmlformats.org/officeDocument/2006/relationships/notesMaster" Target="/ppt/notesMasters/notesMaster1.xml" Id="Rac1d6ea944364a0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518934191bed4ffc" /><Relationship Type="http://schemas.openxmlformats.org/officeDocument/2006/relationships/notesMaster" Target="/ppt/notesMasters/notesMaster1.xml" Id="R152e64103051494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4e1aae536a44434" /><Relationship Type="http://schemas.openxmlformats.org/officeDocument/2006/relationships/notesMaster" Target="/ppt/notesMasters/notesMaster1.xml" Id="R71b6ca4cc5d74744"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a4434014ccdb4193" /><Relationship Type="http://schemas.openxmlformats.org/officeDocument/2006/relationships/notesMaster" Target="/ppt/notesMasters/notesMaster1.xml" Id="R1df05f61304e42a8"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4210c033edb4ad2" /><Relationship Type="http://schemas.openxmlformats.org/officeDocument/2006/relationships/notesMaster" Target="/ppt/notesMasters/notesMaster1.xml" Id="R4fc396845ba24d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00:00—00:44。</a:t>
            </a:r>
          </a:p>
          <a:p xmlns:a="http://schemas.openxmlformats.org/drawingml/2006/main">
            <a:r>
              <a:t>大家好，这一部分只讨论猪周期。我们先看一头猪的钱花在哪里，再从必要产能成本和正常资本回报出发，推导长期价格中枢，说明周期高价还需要增加哪些假设。随后再补充母猪数量、生产效率、体重、传导时滞、历史经验和需求弹性，理解不同价格判断为什么会分开。</a:t>
            </a:r>
          </a:p>
          <a:p xmlns:a="http://schemas.openxmlformats.org/drawingml/2006/main">
            <a:r>
              <a:t>资料冻结在二〇二六年十月二十四日。未来的产能、需求和价格都按条件情景解释。行业篇会在观测清单处完整收尾，观众可以只看这一部分。</a:t>
            </a:r>
          </a:p>
          <a:p xmlns:a="http://schemas.openxmlformats.org/drawingml/2006/main">
            <a:r>
              <a:t/>
            </a:r>
          </a:p>
          <a:p xmlns:a="http://schemas.openxmlformats.org/drawingml/2006/main">
            <a:r>
              <a:t>来源：报告摘要、§1</a:t>
            </a:r>
          </a:p>
          <a:p xmlns:a="http://schemas.openxmlformats.org/drawingml/2006/main">
            <a:r>
              <a:t/>
            </a:r>
          </a:p>
          <a:p xmlns:a="http://schemas.openxmlformats.org/drawingml/2006/main">
            <a:r>
              <a:t>演示与停顿预留约8秒。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00:44—02:04。</a:t>
            </a:r>
          </a:p>
          <a:p xmlns:a="http://schemas.openxmlformats.org/drawingml/2006/main">
            <a:r>
              <a:t>先用最直观的一页认识养猪成本。这里采用源报告中的神农集团二〇二五年上半年披露，将六项每公斤成本统一乘以一百二十公斤。得到的示例是，一头商品猪完全成本一千四百八十八元。</a:t>
            </a:r>
          </a:p>
          <a:p xmlns:a="http://schemas.openxmlformats.org/drawingml/2006/main">
            <a:r>
              <a:t>最大一项是饲料，每头八百零四元，约占百分之五十四。第二项是仔猪，三百四十八元，约占百分之二十三。其余包括防疫用药等动保、人工、折旧和总部费用。这里的仔猪成本是繁育阶段转入后续养殖的成本，已经归集了母猪饲料、繁育人工及相关折旧，所以不能再把养母猪的同一笔费用额外加一遍。</a:t>
            </a:r>
          </a:p>
          <a:p xmlns:a="http://schemas.openxmlformats.org/drawingml/2006/main">
            <a:r>
              <a:t>假如销售价格为每公斤十四元，一百二十公斤收入是一千六百八十元，与这个示例完全成本相减，每头差额一百九十二元。这只是这一成本账户的价差演示，尚需匹配税费、归属、死亡风险及现金投入。尤其注意，十二点四属于这家公司和这一时期，不能直接代表其他企业，更不能当全国养殖户都相同的成本。</a:t>
            </a:r>
          </a:p>
          <a:p xmlns:a="http://schemas.openxmlformats.org/drawingml/2006/main">
            <a:r>
              <a:t/>
            </a:r>
          </a:p>
          <a:p xmlns:a="http://schemas.openxmlformats.org/drawingml/2006/main">
            <a:r>
              <a:t>来源：报告§3.1；参考[1]—[5]</a:t>
            </a:r>
          </a:p>
          <a:p xmlns:a="http://schemas.openxmlformats.org/drawingml/2006/main">
            <a:r>
              <a:t>神农集团投资者关系活动记录表（2025年9月5日半年度业绩说明会） https://dataclouds.cninfo.com.cn/shgonggao/2025/2025-09-05/cdb4532a8a3811f0a671fa163e39923a.pdf</a:t>
            </a:r>
          </a:p>
          <a:p xmlns:a="http://schemas.openxmlformats.org/drawingml/2006/main">
            <a:r>
              <a:t>神农集团投资者关系活动记录表（2022年8月8—12日） https://pdf.dfcfw.com/pdf/H22_AN202208121577151593_1.pdf</a:t>
            </a:r>
          </a:p>
          <a:p xmlns:a="http://schemas.openxmlformats.org/drawingml/2006/main">
            <a:r>
              <a:t>神农集团投资者关系活动记录表（2023年3月17日，回顾2022年） https://pdf.dfcfw.com/pdf/H22_AN202303171584342141_1.pdf</a:t>
            </a:r>
          </a:p>
          <a:p xmlns:a="http://schemas.openxmlformats.org/drawingml/2006/main">
            <a:r>
              <a:t>神农集团2025年年度报告 https://dataclouds.cninfo.com.cn/shgonggao/hsomarket/2026/20260424/2e29114d12604284a72be2eb49ebb1ae.PDF</a:t>
            </a:r>
          </a:p>
          <a:p xmlns:a="http://schemas.openxmlformats.org/drawingml/2006/main">
            <a:r>
              <a:t>神农集团投资者关系活动记录表（2026年1月16日） https://pdf.dfcfw.com/pdf/H22_AN202601161817755730_1.pdf</a:t>
            </a:r>
          </a:p>
          <a:p xmlns:a="http://schemas.openxmlformats.org/drawingml/2006/main">
            <a:r>
              <a:t>演示与停顿预留约10秒。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02:04—03:10。</a:t>
            </a:r>
          </a:p>
          <a:p xmlns:a="http://schemas.openxmlformats.org/drawingml/2006/main">
            <a:r>
              <a:t>报告接受三个研究前提：政府对正常保有量的判断具有合理性，养殖主体以赚钱为目的，经营主体可使用的资本有限。这三个前提很有解释力，但还不足以单独确定猪价。</a:t>
            </a:r>
          </a:p>
          <a:p xmlns:a="http://schemas.openxmlformats.org/drawingml/2006/main">
            <a:r>
              <a:t>为什么？同样的母猪数量，在不同生产效率下可以产生不同出栏量。同样的出栏量，也可能对应不同收入水平和消费偏好。最后，必要保留的产能若成本不同，长期能接受的价格也不同。只知道数量目标，需求函数和成本分布仍然没有确定。</a:t>
            </a:r>
          </a:p>
          <a:p xmlns:a="http://schemas.openxmlformats.org/drawingml/2006/main">
            <a:r>
              <a:t>即使进一步假设大多数主体能获得合理利润，还要回答这里的多数按场户数、母猪数，还是商品猪公斤量加权。很多小场盈利与多数供给盈利并非同一含义。我们因此把政策目标作为数量参照，再显式补上成本、需求和回报要求。这样既保留原研究假设，也能清楚看到价格结论究竟依靠了什么。</a:t>
            </a:r>
          </a:p>
          <a:p xmlns:a="http://schemas.openxmlformats.org/drawingml/2006/main">
            <a:r>
              <a:t/>
            </a:r>
          </a:p>
          <a:p xmlns:a="http://schemas.openxmlformats.org/drawingml/2006/main">
            <a:r>
              <a:t>来源：报告§1.4、§5.4；参考[22]</a:t>
            </a:r>
          </a:p>
          <a:p xmlns:a="http://schemas.openxmlformats.org/drawingml/2006/main">
            <a:r>
              <a:t>生猪产能综合调控实施方案（2026年修订） https://www.hunan.gov.cn/zqt/zcsd/202605/t20260518_33979020.html</a:t>
            </a:r>
          </a:p>
          <a:p xmlns:a="http://schemas.openxmlformats.org/drawingml/2006/main">
            <a:r>
              <a:t>演示与停顿预留约4秒。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03:10—04:20。</a:t>
            </a:r>
          </a:p>
          <a:p xmlns:a="http://schemas.openxmlformats.org/drawingml/2006/main">
            <a:r>
              <a:t>前面科普页列出了六项成本，现在进一步讲成本边界。生产成本通常聚焦养殖过程，完全成本再按披露范围纳入相应期间费用，经济成本还会考虑家庭劳动与自有资本的机会回报。</a:t>
            </a:r>
          </a:p>
          <a:p xmlns:a="http://schemas.openxmlformats.org/drawingml/2006/main">
            <a:r>
              <a:t>现金成本则要从实际付现和现金流范围还原，不能只做完全成本减折旧。以神农模板为例，直接列示折旧只有零点二元，但繁育阶段的折旧可能随仔猪成本转入，代养服务费中也可能包含农户资产使用补偿。因此，十二点四减零点二得到十二点二，只说明剔除了这一列示项目。</a:t>
            </a:r>
          </a:p>
          <a:p xmlns:a="http://schemas.openxmlformats.org/drawingml/2006/main">
            <a:r>
              <a:t>这一区分影响主体退出。售价低于完全成本时，只要还能覆盖付现支出，继续养可能比闲置少亏。但若长期赚不到资金和劳动的机会回报，主体可能不再追加投入。现金已经不足时，甚至即使看好未来也可能被迫退出。不同成本概念对应不同决策，后面的资本约束就从这里开始。</a:t>
            </a:r>
          </a:p>
          <a:p xmlns:a="http://schemas.openxmlformats.org/drawingml/2006/main">
            <a:r>
              <a:t/>
            </a:r>
          </a:p>
          <a:p xmlns:a="http://schemas.openxmlformats.org/drawingml/2006/main">
            <a:r>
              <a:t>来源：报告§3.1、§3.5；参考[1]—[5]</a:t>
            </a:r>
          </a:p>
          <a:p xmlns:a="http://schemas.openxmlformats.org/drawingml/2006/main">
            <a:r>
              <a:t>神农集团投资者关系活动记录表（2025年9月5日半年度业绩说明会） https://dataclouds.cninfo.com.cn/shgonggao/2025/2025-09-05/cdb4532a8a3811f0a671fa163e39923a.pdf</a:t>
            </a:r>
          </a:p>
          <a:p xmlns:a="http://schemas.openxmlformats.org/drawingml/2006/main">
            <a:r>
              <a:t>神农集团投资者关系活动记录表（2022年8月8—12日） https://pdf.dfcfw.com/pdf/H22_AN202208121577151593_1.pdf</a:t>
            </a:r>
          </a:p>
          <a:p xmlns:a="http://schemas.openxmlformats.org/drawingml/2006/main">
            <a:r>
              <a:t>神农集团投资者关系活动记录表（2023年3月17日，回顾2022年） https://pdf.dfcfw.com/pdf/H22_AN202303171584342141_1.pdf</a:t>
            </a:r>
          </a:p>
          <a:p xmlns:a="http://schemas.openxmlformats.org/drawingml/2006/main">
            <a:r>
              <a:t>神农集团2025年年度报告 https://dataclouds.cninfo.com.cn/shgonggao/hsomarket/2026/20260424/2e29114d12604284a72be2eb49ebb1ae.PDF</a:t>
            </a:r>
          </a:p>
          <a:p xmlns:a="http://schemas.openxmlformats.org/drawingml/2006/main">
            <a:r>
              <a:t>神农集团投资者关系活动记录表（2026年1月16日） https://pdf.dfcfw.com/pdf/H22_AN202601161817755730_1.pdf</a:t>
            </a:r>
          </a:p>
          <a:p xmlns:a="http://schemas.openxmlformats.org/drawingml/2006/main">
            <a:r>
              <a:t>演示与停顿预留约5秒。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04:20—05:30。</a:t>
            </a:r>
          </a:p>
          <a:p xmlns:a="http://schemas.openxmlformats.org/drawingml/2006/main">
            <a:r>
              <a:t>我们再看官方调查。浙江不同月份的单位饲养成本大约处在十四点八到十五点八元，沈阳调查约十五点三六元，山东二季度规模场监测为十二点七四元。这些数据支持现实中存在明显成本差异。</a:t>
            </a:r>
          </a:p>
          <a:p xmlns:a="http://schemas.openxmlformats.org/drawingml/2006/main">
            <a:r>
              <a:t>但是，不能直接把这些地区均值从低到高排成全国成本分位。样本的地区、饲料价格、仔猪采购时点、场户规模和费用范围不同，出栏重量也不同。浙江二〇二六年四月每头二千一百一十一点三五元，除以一百四十二点二四公斤得到十四点八四三六元。再乘一百二十只是等比例展示金额。</a:t>
            </a:r>
          </a:p>
          <a:p xmlns:a="http://schemas.openxmlformats.org/drawingml/2006/main">
            <a:r>
              <a:t>如果真的提前到一百二十公斤出栏，饲养天数、后段料肉比、死亡风险和固定成本摊销都可能改变，不能用等比例金额替代那个反事实。调查能约束成本量级，全国哪些档位的产能仍然不可替代，则还需要各档的供给权重。</a:t>
            </a:r>
          </a:p>
          <a:p xmlns:a="http://schemas.openxmlformats.org/drawingml/2006/main">
            <a:r>
              <a:t/>
            </a:r>
          </a:p>
          <a:p xmlns:a="http://schemas.openxmlformats.org/drawingml/2006/main">
            <a:r>
              <a:t>来源：报告§3.2；参考[6]—[10]</a:t>
            </a:r>
          </a:p>
          <a:p xmlns:a="http://schemas.openxmlformats.org/drawingml/2006/main">
            <a:r>
              <a:t>生猪价格下跌 利润大幅下降——我省2025年3月份生猪成本收益简析 https://zjic.zj.gov.cn/zkdt/rdzx/202504/t20250414_23381983.shtml</a:t>
            </a:r>
          </a:p>
          <a:p xmlns:a="http://schemas.openxmlformats.org/drawingml/2006/main">
            <a:r>
              <a:t>生猪价格大幅下跌 亏损面继续扩大——我省2025年9月份生猪成本收益简析 https://zjic.zj.gov.cn/ywdh/jjyx/202510/t20251021_23756198.shtml</a:t>
            </a:r>
          </a:p>
          <a:p xmlns:a="http://schemas.openxmlformats.org/drawingml/2006/main">
            <a:r>
              <a:t>生猪价格创新低 养殖效益严重亏损——我省2026年4月份生猪成本收益简析 https://zjic.zj.gov.cn/ywdh/jjyx/202605/t20260511_24070085.shtml</a:t>
            </a:r>
          </a:p>
          <a:p xmlns:a="http://schemas.openxmlformats.org/drawingml/2006/main">
            <a:r>
              <a:t>2025年沈阳市生猪养殖由盈转亏 https://fgw.shenyang.gov.cn/wjgz/cbdcjs/202601/t20260121_4974136.html</a:t>
            </a:r>
          </a:p>
          <a:p xmlns:a="http://schemas.openxmlformats.org/drawingml/2006/main">
            <a:r>
              <a:t>2026Q2畜禽养殖成本收益测算 https://xm.shandong.gov.cn/art/2026/8/4/art_101456_10354235.html?xxgkhide=1</a:t>
            </a:r>
          </a:p>
          <a:p xmlns:a="http://schemas.openxmlformats.org/drawingml/2006/main">
            <a:r>
              <a:t>演示与停顿预留约8秒。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05:30—06:38。</a:t>
            </a:r>
          </a:p>
          <a:p xmlns:a="http://schemas.openxmlformats.org/drawingml/2006/main">
            <a:r>
              <a:t>山东材料同时提供标准化预算与实际监测，二者要分开读。标准化到一百二十公斤，自繁自育合计一千四百五十五元，外购仔猪一千三百七十元。除以一百二十，分别是十二点一二五和十一点四一六七元。</a:t>
            </a:r>
          </a:p>
          <a:p xmlns:a="http://schemas.openxmlformats.org/drawingml/2006/main">
            <a:r>
              <a:t>原材料再加百分之三，得到十二点四九和十一点七六。这里的百分之三要按原文调整项理解，不能自动当股东要求回报，更不能再重复计成另一项已含费用。与此同时，实际规模场监测使用一百二十五点二四公斤，单位成本十二点七四元。</a:t>
            </a:r>
          </a:p>
          <a:p xmlns:a="http://schemas.openxmlformats.org/drawingml/2006/main">
            <a:r>
              <a:t>外购仔猪在这一期更便宜，也不意味着外购模式永远优于自繁。源材料中二〇二五年一季度、三季度的预算排序相反。仔猪价格吸收了对未来猪价和育肥利润的预期。比较技术效率时，应该控制仔猪采购时点与价格，否则会把阶段性的采购优势误认为永久生产优势。</a:t>
            </a:r>
          </a:p>
          <a:p xmlns:a="http://schemas.openxmlformats.org/drawingml/2006/main">
            <a:r>
              <a:t/>
            </a:r>
          </a:p>
          <a:p xmlns:a="http://schemas.openxmlformats.org/drawingml/2006/main">
            <a:r>
              <a:t>来源：报告§3.3；参考[10]—[12]</a:t>
            </a:r>
          </a:p>
          <a:p xmlns:a="http://schemas.openxmlformats.org/drawingml/2006/main">
            <a:r>
              <a:t>2026Q2畜禽养殖成本收益测算 https://xm.shandong.gov.cn/art/2026/8/4/art_101456_10354235.html?xxgkhide=1</a:t>
            </a:r>
          </a:p>
          <a:p xmlns:a="http://schemas.openxmlformats.org/drawingml/2006/main">
            <a:r>
              <a:t>2025Q1畜禽养殖成本收益测算 https://xm.shandong.gov.cn/art/2025/4/21/art_101456_10344337.html?xxgkhide=1</a:t>
            </a:r>
          </a:p>
          <a:p xmlns:a="http://schemas.openxmlformats.org/drawingml/2006/main">
            <a:r>
              <a:t>2025Q3畜禽养殖成本收益测算 https://xm.shandong.gov.cn/art/2025/11/3/art_101456_10348533.html?xxgkhide=1</a:t>
            </a:r>
          </a:p>
          <a:p xmlns:a="http://schemas.openxmlformats.org/drawingml/2006/main">
            <a:r>
              <a:t>演示与停顿预留约5秒。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06:38—07:46。</a:t>
            </a:r>
          </a:p>
          <a:p xmlns:a="http://schemas.openxmlformats.org/drawingml/2006/main">
            <a:r>
              <a:t>这张图用五组技术参数展示成本怎样形成。效率较高的组合A约十一点八三元，校准组合B为十二点四元，组合E约十七点五八元。它们同时改变了PSY、料肉比、成活率、利用率，以及人工和饲养天数等条件。</a:t>
            </a:r>
          </a:p>
          <a:p xmlns:a="http://schemas.openxmlformats.org/drawingml/2006/main">
            <a:r>
              <a:t>PSY主要影响繁育成本的相关部分，料肉比影响饲料，利用率影响固定摊销。模型还假设死亡猪平均消耗正常饲料的一半。这些比例是为了拆解机制而设定，尚未经过全国代表性样本估计。</a:t>
            </a:r>
          </a:p>
          <a:p xmlns:a="http://schemas.openxmlformats.org/drawingml/2006/main">
            <a:r>
              <a:t>尤其注意料肉比的定义。生物料肉比若没有包含死亡耗料，可以另算相应损失；经济料肉比若已经包含死淘耗料，再乘一次死亡调整就会重复计价。图中A到E也不代表前百分之十到后百分之十。要把它们变成全国供给曲线，还需要同一期间、同一成本边界，以及按有效商品猪公斤量加权的产能分布。</a:t>
            </a:r>
          </a:p>
          <a:p xmlns:a="http://schemas.openxmlformats.org/drawingml/2006/main">
            <a:r>
              <a:t/>
            </a:r>
          </a:p>
          <a:p xmlns:a="http://schemas.openxmlformats.org/drawingml/2006/main">
            <a:r>
              <a:t>来源：报告§3.4；参考[13]</a:t>
            </a:r>
          </a:p>
          <a:p xmlns:a="http://schemas.openxmlformats.org/drawingml/2006/main">
            <a:r>
              <a:t>神农集团投资者关系活动记录表（活动2025年4月28日，披露4月29日） https://pdf.dfcfw.com/pdf/H22_AN202504291664463319_1.pdf</a:t>
            </a:r>
          </a:p>
          <a:p xmlns:a="http://schemas.openxmlformats.org/drawingml/2006/main">
            <a:r>
              <a:t>演示与停顿预留约8秒。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07:46—08:58。</a:t>
            </a:r>
          </a:p>
          <a:p xmlns:a="http://schemas.openxmlformats.org/drawingml/2006/main">
            <a:r>
              <a:t>成本法问的是：维持满足需求所必需的产能，长期需要怎样的价格。报告把必要产能的完全成本设为十四点九元，假设每头年销量能力对应一千元权益资本，要求百分之十回报。</a:t>
            </a:r>
          </a:p>
          <a:p xmlns:a="http://schemas.openxmlformats.org/drawingml/2006/main">
            <a:r>
              <a:t>一千元乘百分之十是一百元，再除一百二十公斤，是每公斤零点八三三三元。加到十四点九元上，得到十五点七三三三元。这里完全成本已经包含债务利息，所以额外加的是权益机会回报。若调查经济成本已含同一资金机会成本，需要先剥离，避免重复补偿。</a:t>
            </a:r>
          </a:p>
          <a:p xmlns:a="http://schemas.openxmlformats.org/drawingml/2006/main">
            <a:r>
              <a:t>真正需要验证的，是十四点九元档位是否仍为满足需求所必需，以及一千元权益能否支撑对应的年销量能力。地区均值只提供量级参考。这个结果还属于长期中枢，短期主体可能继续亏损生产，现货因此可以低于它；短缺时价格也可以远高于它。把十五点七三当某一季度价格下限，会超出这个公式的用途。</a:t>
            </a:r>
          </a:p>
          <a:p xmlns:a="http://schemas.openxmlformats.org/drawingml/2006/main">
            <a:r>
              <a:t/>
            </a:r>
          </a:p>
          <a:p xmlns:a="http://schemas.openxmlformats.org/drawingml/2006/main">
            <a:r>
              <a:t>来源：报告§5.1—§5.5</a:t>
            </a:r>
          </a:p>
          <a:p xmlns:a="http://schemas.openxmlformats.org/drawingml/2006/main">
            <a:r>
              <a:t/>
            </a:r>
          </a:p>
          <a:p xmlns:a="http://schemas.openxmlformats.org/drawingml/2006/main">
            <a:r>
              <a:t>演示与停顿预留约6秒。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08:58—10:05。</a:t>
            </a:r>
          </a:p>
          <a:p xmlns:a="http://schemas.openxmlformats.org/drawingml/2006/main">
            <a:r>
              <a:t>成本公式到这里得到的是正常中枢十五点七三元，还没有得到周期最高价。为了演示高位年度价格的含义，我们额外采用报告里的高位年度二十元示例，相当于比正常中枢高约百分之二十七点一二。</a:t>
            </a:r>
          </a:p>
          <a:p xmlns:a="http://schemas.openxmlformats.org/drawingml/2006/main">
            <a:r>
              <a:t>这个上浮比例属于情景设定，不能说政府保有量或必要边际成本已经证明了它。它是否合理，后面再用历史振幅、有效供给和需求函数比较。行业篇先把这项价格条件交代清楚，再比较它可能受到哪些供需因素影响。</a:t>
            </a:r>
          </a:p>
          <a:p xmlns:a="http://schemas.openxmlformats.org/drawingml/2006/main">
            <a:r>
              <a:t>还要把时间单位说清楚。这里假设的是一整年按销售公斤量实现二十元，而不是某天、某个月或某季度最高到二十元。若只有一季二十元，其余季度较低，全年均价就要按实际销售权重重新计算。暂时固定全年二十元，是为了让观众看懂同一条假设链，而不是把短期高点悄悄年化。</a:t>
            </a:r>
          </a:p>
          <a:p xmlns:a="http://schemas.openxmlformats.org/drawingml/2006/main">
            <a:r>
              <a:t/>
            </a:r>
          </a:p>
          <a:p xmlns:a="http://schemas.openxmlformats.org/drawingml/2006/main">
            <a:r>
              <a:t>来源：报告修订版 主线演算</a:t>
            </a:r>
          </a:p>
          <a:p xmlns:a="http://schemas.openxmlformats.org/drawingml/2006/main">
            <a:r>
              <a:t/>
            </a:r>
          </a:p>
          <a:p xmlns:a="http://schemas.openxmlformats.org/drawingml/2006/main">
            <a:r>
              <a:t>演示与停顿预留约5秒。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10:05—10:59。</a:t>
            </a:r>
          </a:p>
          <a:p xmlns:a="http://schemas.openxmlformats.org/drawingml/2006/main">
            <a:r>
              <a:t>刚才按必要产能成本得到了正常价格中枢，又明确了全年二十元需要额外的高价假设。现在补充行业判断，先检查母猪减少能否等比例变成猪肉减少，再比较历史和需求两种价格逻辑。</a:t>
            </a:r>
          </a:p>
          <a:p xmlns:a="http://schemas.openxmlformats.org/drawingml/2006/main">
            <a:r>
              <a:t>养殖主体也有不同退出机制。短期只要覆盖付现支出，继续生产可能比闲置少亏；长期若赚不到资金和劳动的机会回报，追加投资可能停止；现金不足时，即使看好未来也可能被迫处置资产。</a:t>
            </a:r>
          </a:p>
          <a:p xmlns:a="http://schemas.openxmlformats.org/drawingml/2006/main">
            <a:r>
              <a:t>主体退出还不等于物理产能消失。猪场转给更高效的经营者后，供应可能保留，生产率还可能提高。因此，后面的补充分析会继续追踪母猪、MSY和出栏重量，再检验不同价格路径需要哪些条件。</a:t>
            </a:r>
          </a:p>
          <a:p xmlns:a="http://schemas.openxmlformats.org/drawingml/2006/main">
            <a:r>
              <a:t/>
            </a:r>
          </a:p>
          <a:p xmlns:a="http://schemas.openxmlformats.org/drawingml/2006/main">
            <a:r>
              <a:t>来源：报告§3.5、§13.1</a:t>
            </a:r>
          </a:p>
          <a:p xmlns:a="http://schemas.openxmlformats.org/drawingml/2006/main">
            <a:r>
              <a:t/>
            </a:r>
          </a:p>
          <a:p xmlns:a="http://schemas.openxmlformats.org/drawingml/2006/main">
            <a:r>
              <a:t>演示与停顿预留约4秒。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10:59—12:02。</a:t>
            </a:r>
          </a:p>
          <a:p xmlns:a="http://schemas.openxmlformats.org/drawingml/2006/main">
            <a:r>
              <a:t>PSY是每头母猪一年提供的断奶仔猪数，MSY进一步连接到商品猪销售。两者之间隔着断奶后成活、留种和商品化，还可能存在母猪分母的差异。</a:t>
            </a:r>
          </a:p>
          <a:p xmlns:a="http://schemas.openxmlformats.org/drawingml/2006/main">
            <a:r>
              <a:t>例如某个调查只统计经产母猪，另一个数据统计全部能繁母猪，那么同一个PSY直接乘全国母猪数，可能高估产出。报告用分母桥接因子表达这种结构差异。这个因子与成活、闲置损失应各算一次，不能多处重复扣减。</a:t>
            </a:r>
          </a:p>
          <a:p xmlns:a="http://schemas.openxmlformats.org/drawingml/2006/main">
            <a:r>
              <a:t>如果已经直接输入同口径MSY，则它替代整组PSY转换因子。网页中改变直接MSY模式下的PSY或成活参数，不应再改变该路线结果，这一点已经纳入回归检查。另外，全年出栏量是多批次流量，年末母猪是时点存量，两者相除可以粗看量级，却不能当作严格的年度母猪生产率。真正的生产率需要匹配母猪年分母和销售批次。</a:t>
            </a:r>
          </a:p>
          <a:p xmlns:a="http://schemas.openxmlformats.org/drawingml/2006/main">
            <a:r>
              <a:t/>
            </a:r>
          </a:p>
          <a:p xmlns:a="http://schemas.openxmlformats.org/drawingml/2006/main">
            <a:r>
              <a:t>来源：报告§4.1</a:t>
            </a:r>
          </a:p>
          <a:p xmlns:a="http://schemas.openxmlformats.org/drawingml/2006/main">
            <a:r>
              <a:t/>
            </a:r>
          </a:p>
          <a:p xmlns:a="http://schemas.openxmlformats.org/drawingml/2006/main">
            <a:r>
              <a:t>演示与停顿预留约5秒。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12:02—13:08。</a:t>
            </a:r>
          </a:p>
          <a:p xmlns:a="http://schemas.openxmlformats.org/drawingml/2006/main">
            <a:r>
              <a:t>国际数据说明技术还有改善空间，也提醒我们比较口径。北美同一调查里，全部母猪口径PSY为二十六点八八，已配母猪口径为二十八点一九，分母一换，结果就不同。法国、丹麦、公司全年披露和国内加权样本也各有范围。</a:t>
            </a:r>
          </a:p>
          <a:p xmlns:a="http://schemas.openxmlformats.org/drawingml/2006/main">
            <a:r>
              <a:t>所以模型没有把某个海外先进值直接套到全国，而是假设从二十三点四向三十二逐步收敛，每年弥合差距的百分之六。一年后的PSY是二十三点九一六，增长约百分之二点二。这里的百分之六是差距缩小速度，不是PSY本身每年增长百分之六。</a:t>
            </a:r>
          </a:p>
          <a:p xmlns:a="http://schemas.openxmlformats.org/drawingml/2006/main">
            <a:r>
              <a:t>三十二是分析期设定的收敛水平，也不是不可突破的生物极限。技术进步可能推高参照，疫病和组织瓶颈也可能拖慢追赶。二十三点四来自二〇二五年资料，在模型中借作二〇二六年八月的相对效率起点，这项跨期归一化需要明确披露。</a:t>
            </a:r>
          </a:p>
          <a:p xmlns:a="http://schemas.openxmlformats.org/drawingml/2006/main">
            <a:r>
              <a:t/>
            </a:r>
          </a:p>
          <a:p xmlns:a="http://schemas.openxmlformats.org/drawingml/2006/main">
            <a:r>
              <a:t>来源：报告§4.2；参考[14]—[21]</a:t>
            </a:r>
          </a:p>
          <a:p xmlns:a="http://schemas.openxmlformats.org/drawingml/2006/main">
            <a:r>
              <a:t>2025年我国生猪产业形势回顾、存在问题与后期展望 https://www.zgxmzz.cn/paper/11661</a:t>
            </a:r>
          </a:p>
          <a:p xmlns:a="http://schemas.openxmlformats.org/drawingml/2006/main">
            <a:r>
              <a:t>投资者关系活动记录表2026-04 https://file.finance.sina.com.cn/211.154.219.97:9494/MRGG/CNSESZ_STOCK/2026/2026-4/2026-04-30/12291248.PDF</a:t>
            </a:r>
          </a:p>
          <a:p xmlns:a="http://schemas.openxmlformats.org/drawingml/2006/main">
            <a:r>
              <a:t>2026-01-16投资者关系活动记录表 https://dataclouds.cninfo.com.cn/shgonggao/investor/2026/20260116/40428da5461449f1832f317b850f26b9.PDF</a:t>
            </a:r>
          </a:p>
          <a:p xmlns:a="http://schemas.openxmlformats.org/drawingml/2006/main">
            <a:r>
              <a:t>2025 North America Year-End Benchmarking Summary https://www.pigchamp.com/Portals/0/Documents/Benchmarking%20Summaries/2025-benchmark-summaries-north-america-yr-end.pdf</a:t>
            </a:r>
          </a:p>
          <a:p xmlns:a="http://schemas.openxmlformats.org/drawingml/2006/main">
            <a:r>
              <a:t>InterPIG figures for2025 https://teagasc.ie/news--events/daily/interpig-figures-for-2025/</a:t>
            </a:r>
          </a:p>
          <a:p xmlns:a="http://schemas.openxmlformats.org/drawingml/2006/main">
            <a:r>
              <a:t>GT-Porc2024 Résultats principaux GTTT, édition2025 https://ifip.asso.fr/app/uploads/2025/07/livretgttt-2024_edition2025.pdf</a:t>
            </a:r>
          </a:p>
          <a:p xmlns:a="http://schemas.openxmlformats.org/drawingml/2006/main">
            <a:r>
              <a:t>Landsgennemsnit for produktivitet i produktionen af grise i 2025, Notat2608 https://www.landbrugsinfo.dk/-/media/landbrugsinfo/public/3/5/4/landsgennemsnit_produktion_grise_2025_notat_2608.pdf</a:t>
            </a:r>
          </a:p>
          <a:p xmlns:a="http://schemas.openxmlformats.org/drawingml/2006/main">
            <a:r>
              <a:t>DanBred delivers €5 per finisher https://danbred.com/press-releases/danbred-delivers-e5-per-finisher</a:t>
            </a:r>
          </a:p>
          <a:p xmlns:a="http://schemas.openxmlformats.org/drawingml/2006/main">
            <a:r>
              <a:t>演示与停顿预留约5秒。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13:08—14:19。</a:t>
            </a:r>
          </a:p>
          <a:p xmlns:a="http://schemas.openxmlformats.org/drawingml/2006/main">
            <a:r>
              <a:t>现在用一组简单的独立因子看有效供给。假设母猪减少百分之十，MSY提高百分之三，出栏重量提高百分之五。三者相乘，得到零点九七三三五，也就是公斤供给只减少约百分之二点六七。</a:t>
            </a:r>
          </a:p>
          <a:p xmlns:a="http://schemas.openxmlformats.org/drawingml/2006/main">
            <a:r>
              <a:t>这个例子并不预测现实一定如此，它展示一个机制：头数变化与可销售猪肉量变化之间，隔着生产效率和重量。仅凭母猪降幅直接外推同幅度供给缺口，通常会遗漏这部分抵消。</a:t>
            </a:r>
          </a:p>
          <a:p xmlns:a="http://schemas.openxmlformats.org/drawingml/2006/main">
            <a:r>
              <a:t>当然，重量也不能无限提高。压栏会增加饲料消耗，可能延长周转，挤占下一批空间，并改变死亡风险和销售时点。模型中的单因素体重敏感性先固定其他变量，完整经营情景还应把这些联系补回来。对公司估值而言，行业普遍增重可能压低全国价格，公司自己增重则可能增加公斤量，同时增加成本。两条作用要分别核算后再合并。</a:t>
            </a:r>
          </a:p>
          <a:p xmlns:a="http://schemas.openxmlformats.org/drawingml/2006/main">
            <a:r>
              <a:t/>
            </a:r>
          </a:p>
          <a:p xmlns:a="http://schemas.openxmlformats.org/drawingml/2006/main">
            <a:r>
              <a:t>来源：报告§4.4</a:t>
            </a:r>
          </a:p>
          <a:p xmlns:a="http://schemas.openxmlformats.org/drawingml/2006/main">
            <a:r>
              <a:t/>
            </a:r>
          </a:p>
          <a:p xmlns:a="http://schemas.openxmlformats.org/drawingml/2006/main">
            <a:r>
              <a:t>演示与停顿预留约10秒。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14:19—15:28。</a:t>
            </a:r>
          </a:p>
          <a:p xmlns:a="http://schemas.openxmlformats.org/drawingml/2006/main">
            <a:r>
              <a:t>我们以十个月作为繁育到商品猪销售的近似主线。二〇二七年一季度对应二〇二六年三到五月母猪，二季度对应六到八月，三季度对应九到十一月，四季度对应十二月到次年二月。</a:t>
            </a:r>
          </a:p>
          <a:p xmlns:a="http://schemas.openxmlformats.org/drawingml/2006/main">
            <a:r>
              <a:t>这解释了为什么四季度去化主要影响下一年下半年，也说明当前看到的母猪变化不一定立即改变当季价格。模型同时保留八个月、十二个月和八到十二个月的分布滞后。分布权重按百分之十、二十、四十、二十、十设定，是演示核，需要批次资料进一步估计。</a:t>
            </a:r>
          </a:p>
          <a:p xmlns:a="http://schemas.openxmlformats.org/drawingml/2006/main">
            <a:r>
              <a:t>另一个容易漏掉的问题是基期锚。改变滞后以后，二〇二六年八月价格对应的母猪基月也会改变，不能一律继续用三千九百九十万头。网页会匹配相应基月，分布滞后则先加权母猪数量，再求价格。缺失月份的插值也保留情景状态，避免被误认为全国真实月度观测。</a:t>
            </a:r>
          </a:p>
          <a:p xmlns:a="http://schemas.openxmlformats.org/drawingml/2006/main">
            <a:r>
              <a:t/>
            </a:r>
          </a:p>
          <a:p xmlns:a="http://schemas.openxmlformats.org/drawingml/2006/main">
            <a:r>
              <a:t>来源：报告§4.5、§7.6</a:t>
            </a:r>
          </a:p>
          <a:p xmlns:a="http://schemas.openxmlformats.org/drawingml/2006/main">
            <a:r>
              <a:t/>
            </a:r>
          </a:p>
          <a:p xmlns:a="http://schemas.openxmlformats.org/drawingml/2006/main">
            <a:r>
              <a:t>演示与停顿预留约7秒。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15:28—16:36。</a:t>
            </a:r>
          </a:p>
          <a:p xmlns:a="http://schemas.openxmlformats.org/drawingml/2006/main">
            <a:r>
              <a:t>使用历史和需求路线前，先看数据覆盖，不能只看图线是否连续。原报告整理了一百四十一个月，其中农业农村部价格有一百三十八个月，发改委出场价六十六个月，全国绝对能繁母猪数五十五个月，旧样本监测指数五十七个月。</a:t>
            </a:r>
          </a:p>
          <a:p xmlns:a="http://schemas.openxmlformats.org/drawingml/2006/main">
            <a:r>
              <a:t>这里最关键的缺口是真实全国月度商品猪生产效率，也就是月度同口径MSY，目前没有得到。模型中的效率路径因此属于假设，不能因为它画成一条平滑曲线就把它当历史观测。</a:t>
            </a:r>
          </a:p>
          <a:p xmlns:a="http://schemas.openxmlformats.org/drawingml/2006/main">
            <a:r>
              <a:t>价格序列同样需要分开。集贸活猪价格、生猪出场价、零售猪肉价格和期货报价分别反映不同环节和调查体系。旧四百个监测县的指数，也不能直接接在全国万头数之后。我们在历史图里保留缺失断点，在预测路径里明确标出插值和情景。这样做会让图线不那么完整，却能避免人为制造并不存在的观测证据。</a:t>
            </a:r>
          </a:p>
          <a:p xmlns:a="http://schemas.openxmlformats.org/drawingml/2006/main">
            <a:r>
              <a:t/>
            </a:r>
          </a:p>
          <a:p xmlns:a="http://schemas.openxmlformats.org/drawingml/2006/main">
            <a:r>
              <a:t>来源：报告§2.1；数据china_history.csv</a:t>
            </a:r>
          </a:p>
          <a:p xmlns:a="http://schemas.openxmlformats.org/drawingml/2006/main">
            <a:r>
              <a:t/>
            </a:r>
          </a:p>
          <a:p xmlns:a="http://schemas.openxmlformats.org/drawingml/2006/main">
            <a:r>
              <a:t>演示与停顿预留约5秒。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16:36—17:44。</a:t>
            </a:r>
          </a:p>
          <a:p xmlns:a="http://schemas.openxmlformats.org/drawingml/2006/main">
            <a:r>
              <a:t>历史法先要回答样本可不可比。早期监测指数与后来的全国绝对数量口径不同，非洲猪瘟阶段又同时改变成活、需求和调运。因此，报告把二〇一五年和非瘟阶段放在背景里，默认校准只使用两个现代去化阶段。</a:t>
            </a:r>
          </a:p>
          <a:p xmlns:a="http://schemas.openxmlformats.org/drawingml/2006/main">
            <a:r>
              <a:t>一个阶段母猪降幅约百分之八点四八，另一个约百分之九点二，但发改委价格窗口的谷到峰涨幅分别超过百分之一百零五和百分之四十四。相近母猪下降，价格表现可以相差很大，说明价格中还吸收了需求、库存、体重和出栏策略等共同作用。</a:t>
            </a:r>
          </a:p>
          <a:p xmlns:a="http://schemas.openxmlformats.org/drawingml/2006/main">
            <a:r>
              <a:t>这里表格特意写成价格窗口，而不是宣称母猪一降，十个月后价格必然上涨这些幅度。两个现代阶段也不能被两套报价口径自动扩充成四个独立周期。它们是同一组经济事件的不同价格观察，样本数量和解释力度都需要如实保留。</a:t>
            </a:r>
          </a:p>
          <a:p xmlns:a="http://schemas.openxmlformats.org/drawingml/2006/main">
            <a:r>
              <a:t/>
            </a:r>
          </a:p>
          <a:p xmlns:a="http://schemas.openxmlformats.org/drawingml/2006/main">
            <a:r>
              <a:t>来源：报告§6.1；参考[23]—[39]</a:t>
            </a:r>
          </a:p>
          <a:p xmlns:a="http://schemas.openxmlformats.org/drawingml/2006/main">
            <a:r>
              <a:t>2015年1月份4000个监测点生猪存栏信息 https://www.nahs.org.cn/jchsjcm/xqsc/tjjcyj/scxs/201903/t20190313_338412.htm</a:t>
            </a:r>
          </a:p>
          <a:p xmlns:a="http://schemas.openxmlformats.org/drawingml/2006/main">
            <a:r>
              <a:t>2016年2月份4000个监测点生猪存栏信息 https://www.nahs.org.cn/jchsjcm/xqsc/tjjcyj/scxs/201903/t20190313_338399.htm</a:t>
            </a:r>
          </a:p>
          <a:p xmlns:a="http://schemas.openxmlformats.org/drawingml/2006/main">
            <a:r>
              <a:t>2015年3月全国畜产品和饲料价格情况 https://www.fx361.com/page/2015/0708/15515946.shtml</a:t>
            </a:r>
          </a:p>
          <a:p xmlns:a="http://schemas.openxmlformats.org/drawingml/2006/main">
            <a:r>
              <a:t>2016年5月全国畜产品和饲料价格情况 https://www.fx361.com/page/2016/0712/16019630.shtml</a:t>
            </a:r>
          </a:p>
          <a:p xmlns:a="http://schemas.openxmlformats.org/drawingml/2006/main">
            <a:r>
              <a:t>2018年1—3月份400个监测县生猪存栏信息 https://www.nahs.org.cn/jchsjcm/xqsc/tjjcyj/scxs/201903/t20190313_338344.htm</a:t>
            </a:r>
          </a:p>
          <a:p xmlns:a="http://schemas.openxmlformats.org/drawingml/2006/main">
            <a:r>
              <a:t>2019年9月份400个监测县生猪存栏信息 https://www.nahs.org.cn/jcyj/scxs/202001/t20200103_344565.htm</a:t>
            </a:r>
          </a:p>
          <a:p xmlns:a="http://schemas.openxmlformats.org/drawingml/2006/main">
            <a:r>
              <a:t>2018年5月全国畜产品和饲料价格情况 https://www.fx361.com/page/2018/0713/15189363.shtml</a:t>
            </a:r>
          </a:p>
          <a:p xmlns:a="http://schemas.openxmlformats.org/drawingml/2006/main">
            <a:r>
              <a:t>2020年9月全国畜产品和饲料价格情况 https://www.nahs.org.cn/jcyj/jghq/202010/t20201020_362908.htm</a:t>
            </a:r>
          </a:p>
          <a:p xmlns:a="http://schemas.openxmlformats.org/drawingml/2006/main">
            <a:r>
              <a:t>2020年8月全国畜产品和饲料价格情况 https://www.nahs.org.cn/jcyj/jghq/202009/t20200916_361165.htm</a:t>
            </a:r>
          </a:p>
          <a:p xmlns:a="http://schemas.openxmlformats.org/drawingml/2006/main">
            <a:r>
              <a:t>建立生猪产能逆周期调控机制—农业农村部答记者问 https://xmsyj.moa.gov.cn/zcjd/202108/t20210820_6374572.htm</a:t>
            </a:r>
          </a:p>
          <a:p xmlns:a="http://schemas.openxmlformats.org/drawingml/2006/main">
            <a:r>
              <a:t>2022-04五部门生猪产品月表 https://www.moa.gov.cn/ztzl/szcpxx/jdsj/2022/202204/</a:t>
            </a:r>
          </a:p>
          <a:p xmlns:a="http://schemas.openxmlformats.org/drawingml/2006/main">
            <a:r>
              <a:t>2022-03五部门生猪产品月表 https://www.moa.gov.cn/ztzl/szcpxx/jdsj/2022/202203/</a:t>
            </a:r>
          </a:p>
          <a:p xmlns:a="http://schemas.openxmlformats.org/drawingml/2006/main">
            <a:r>
              <a:t>2022-10五部门生猪产品月表 https://www.moa.gov.cn/ztzl/szcpxx/jdsj/2022/202210/</a:t>
            </a:r>
          </a:p>
          <a:p xmlns:a="http://schemas.openxmlformats.org/drawingml/2006/main">
            <a:r>
              <a:t>2022-12五部门生猪产品月表 https://www.moa.gov.cn/ztzl/szcpxx/jdsj/2022/202212/</a:t>
            </a:r>
          </a:p>
          <a:p xmlns:a="http://schemas.openxmlformats.org/drawingml/2006/main">
            <a:r>
              <a:t>2024-04五部门生猪产品月表 https://www.moa.gov.cn/ztzl/szcpxx/jdsj/2024/202404/</a:t>
            </a:r>
          </a:p>
          <a:p xmlns:a="http://schemas.openxmlformats.org/drawingml/2006/main">
            <a:r>
              <a:t>2023-07五部门生猪产品月表 https://www.moa.gov.cn/ztzl/szcpxx/jdsj/2023/202307/</a:t>
            </a:r>
          </a:p>
          <a:p xmlns:a="http://schemas.openxmlformats.org/drawingml/2006/main">
            <a:r>
              <a:t>2024-08五部门生猪产品月表 https://www.moa.gov.cn/ztzl/szcpxx/jdsj/2024/202408/</a:t>
            </a:r>
          </a:p>
          <a:p xmlns:a="http://schemas.openxmlformats.org/drawingml/2006/main">
            <a:r>
              <a:t>演示与停顿预留约7秒。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17:44—18:51。</a:t>
            </a:r>
          </a:p>
          <a:p xmlns:a="http://schemas.openxmlformats.org/drawingml/2006/main">
            <a:r>
              <a:t>历史振幅系数的构造，是用价格谷到峰的对数涨幅，除以历史有效供给收缩的负对数。默认假设历史MSY每年提高百分之二，两段MARA校准系数的中位数约七点五九。</a:t>
            </a:r>
          </a:p>
          <a:p xmlns:a="http://schemas.openxmlformats.org/drawingml/2006/main">
            <a:r>
              <a:t>一个看起来反直觉的地方是：如果提高历史效率增长假设，算出的振幅系数反而更大。原因是同样的母猪减少，被效率改善抵消后，历史有效供给收缩更小；同样的价格上涨就被归因给更小的数量变化，系数自然上升。</a:t>
            </a:r>
          </a:p>
          <a:p xmlns:a="http://schemas.openxmlformats.org/drawingml/2006/main">
            <a:r>
              <a:t>当有效供给收缩接近零，分母也接近零，系数会非常不稳定。代码因此对有效去化不足百分之二的阶段排除自动校准。这个阈值是数值稳定规则，不能当经济定律。表中高效率假设得到很高价格，主要反映外推函数的放大效应，其用途更接近压力测试，预测能力仍需要额外的样本外检验。</a:t>
            </a:r>
          </a:p>
          <a:p xmlns:a="http://schemas.openxmlformats.org/drawingml/2006/main">
            <a:r>
              <a:t/>
            </a:r>
          </a:p>
          <a:p xmlns:a="http://schemas.openxmlformats.org/drawingml/2006/main">
            <a:r>
              <a:t>来源：报告§6.2—§6.3</a:t>
            </a:r>
          </a:p>
          <a:p xmlns:a="http://schemas.openxmlformats.org/drawingml/2006/main">
            <a:r>
              <a:t/>
            </a:r>
          </a:p>
          <a:p xmlns:a="http://schemas.openxmlformats.org/drawingml/2006/main">
            <a:r>
              <a:t>演示与停顿预留约8秒。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18:51—20:04。</a:t>
            </a:r>
          </a:p>
          <a:p xmlns:a="http://schemas.openxmlformats.org/drawingml/2006/main">
            <a:r>
              <a:t>这一页是历史法最需要澄清的地方。用同一母猪去化阶段，如果预先把两个端点都向后移动十个月，第一段发改委价格从十四点零六到十四点九零，只上涨约百分之五点九七。第二段从十五点七八到十五点七七，几乎不变。</a:t>
            </a:r>
          </a:p>
          <a:p xmlns:a="http://schemas.openxmlformats.org/drawingml/2006/main">
            <a:r>
              <a:t>它们与事后另选窗口低点和高点得到的百分之一百零五、百分之四十四，回答了不同问题。峰谷告诉我们窗口里曾经实现多大振幅，端点告诉我们事先指定日期之间发生什么。</a:t>
            </a:r>
          </a:p>
          <a:p xmlns:a="http://schemas.openxmlformats.org/drawingml/2006/main">
            <a:r>
              <a:t>因此，不能把事后最大振幅直接说成固定十个月传导的因果效应。同样本滞后比较也只有三十四个目标月份，重叠同比数据还存在序列相关。我们保留历史振幅路线作为机制和幅度对照，把季度路径交给明确的供需假设来推演。这样可以利用历史信息，同时避免让一个很小的样本承担过多预测任务。</a:t>
            </a:r>
          </a:p>
          <a:p xmlns:a="http://schemas.openxmlformats.org/drawingml/2006/main">
            <a:r>
              <a:t/>
            </a:r>
          </a:p>
          <a:p xmlns:a="http://schemas.openxmlformats.org/drawingml/2006/main">
            <a:r>
              <a:t>来源：报告§6.4—§6.6</a:t>
            </a:r>
          </a:p>
          <a:p xmlns:a="http://schemas.openxmlformats.org/drawingml/2006/main">
            <a:r>
              <a:t/>
            </a:r>
          </a:p>
          <a:p xmlns:a="http://schemas.openxmlformats.org/drawingml/2006/main">
            <a:r>
              <a:t>演示与停顿预留约10秒。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20:04—21:17。</a:t>
            </a:r>
          </a:p>
          <a:p xmlns:a="http://schemas.openxmlformats.org/drawingml/2006/main">
            <a:r>
              <a:t>需求路线把过程拆成四步。先用国内有效供给与进口组成总供给，再除以固定价格下的需求趋势，得到供需比。之后通过逆需求函数推导零售猪肉价格，最后用传导斜率转换成活猪价格。</a:t>
            </a:r>
          </a:p>
          <a:p xmlns:a="http://schemas.openxmlformats.org/drawingml/2006/main">
            <a:r>
              <a:t>默认弹性绝对值零点三七四参考USDA关于中国年度家庭猪肉消费的研究。它对应年度家庭零售需求，跨用到月度整体市场和活猪价格，需要额外验证，因此这里作为先验和敏感性参数。零点七五则是本研究设定的绝对价格传导斜率，意思是零售价每变一元，活猪价变化零点七五元，不能理解为百分比传导率。</a:t>
            </a:r>
          </a:p>
          <a:p xmlns:a="http://schemas.openxmlformats.org/drawingml/2006/main">
            <a:r>
              <a:t>基期活猪价格十一点三六元，零售价格二十一元，二者都需要保持统计范围。局部上这条路线隐含的产能价格系数约三点七一，小于默认历史振幅系数七点五九，所以结果分歧有机制原因，不能把三条路线简单平均后称为更可靠的预测。</a:t>
            </a:r>
          </a:p>
          <a:p xmlns:a="http://schemas.openxmlformats.org/drawingml/2006/main">
            <a:r>
              <a:t/>
            </a:r>
          </a:p>
          <a:p xmlns:a="http://schemas.openxmlformats.org/drawingml/2006/main">
            <a:r>
              <a:t>来源：报告§7.1；参考[40]</a:t>
            </a:r>
          </a:p>
          <a:p xmlns:a="http://schemas.openxmlformats.org/drawingml/2006/main">
            <a:r>
              <a:t>China’s Meat Consumption: Growth Potential, ERR-320 https://www.ers.usda.gov/media/9059/err-320.pdf?v=16878</a:t>
            </a:r>
          </a:p>
          <a:p xmlns:a="http://schemas.openxmlformats.org/drawingml/2006/main">
            <a:r>
              <a:t>演示与停顿预留约8秒。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21:17—22:32。</a:t>
            </a:r>
          </a:p>
          <a:p xmlns:a="http://schemas.openxmlformats.org/drawingml/2006/main">
            <a:r>
              <a:t>在参照条件下，需求路线从一月十一点七零元，逐步提高到十月十六点七九元，之后略有回落。季度内按月度价格等权，得到十二点零五、十三点三七、十五点三五和十六点六五元，全年十四点三六元。</a:t>
            </a:r>
          </a:p>
          <a:p xmlns:a="http://schemas.openxmlformats.org/drawingml/2006/main">
            <a:r>
              <a:t>这条路径假设二〇二六年四季度继续按三季度比例去化，十二月母猪约三千四百三十二点三八万头，二〇二七年后续母猪路径先保持。效率则按有界路径继续提高，固定价格下需求每年下降百分之一。</a:t>
            </a:r>
          </a:p>
          <a:p xmlns:a="http://schemas.openxmlformats.org/drawingml/2006/main">
            <a:r>
              <a:t>当滞后母猪数量不再继续下降，而效率仍然改善、需求趋势仍为负时，模型价格就在四季度末略回落。请注意图上最高点是模型十月月均价，不是某一天的现货高点，也不是完整猪周期已经确定的顶点。现实中的压栏、二次育肥、冻品与进口反应，都可能改变时点和幅度，我们稍后用敏感性看这些条件的重要性。</a:t>
            </a:r>
          </a:p>
          <a:p xmlns:a="http://schemas.openxmlformats.org/drawingml/2006/main">
            <a:r>
              <a:t/>
            </a:r>
          </a:p>
          <a:p xmlns:a="http://schemas.openxmlformats.org/drawingml/2006/main">
            <a:r>
              <a:t>来源：报告§7.2</a:t>
            </a:r>
          </a:p>
          <a:p xmlns:a="http://schemas.openxmlformats.org/drawingml/2006/main">
            <a:r>
              <a:t/>
            </a:r>
          </a:p>
          <a:p xmlns:a="http://schemas.openxmlformats.org/drawingml/2006/main">
            <a:r>
              <a:t>演示与停顿预留约12秒。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22:32—23:39。</a:t>
            </a:r>
          </a:p>
          <a:p xmlns:a="http://schemas.openxmlformats.org/drawingml/2006/main">
            <a:r>
              <a:t>先只改变四季度母猪去化。停止去化、延续三季度比例、去化比例翻倍，三组上半年价格完全一样，下半年逐渐拉开，全年均价分别约十三点五三、十四点三六和十五点三二元。</a:t>
            </a:r>
          </a:p>
          <a:p xmlns:a="http://schemas.openxmlformats.org/drawingml/2006/main">
            <a:r>
              <a:t>这来自十个月传导，而不是模型人为把影响安排在下半年。上半年的供给主要由更早批次决定。停止四季度去化，也仍然继承此前已经发生的母猪下降，所以并不意味着二〇二七年供给不受去化影响。</a:t>
            </a:r>
          </a:p>
          <a:p xmlns:a="http://schemas.openxmlformats.org/drawingml/2006/main">
            <a:r>
              <a:t>同速参照的具体计算，是一减去三千六百零二除以三千七百八十，约百分之四点七零九。十二月情景值则为三千六百零二再乘同样的留存比例。网页把去化率独立保存，修改二季度或三季度母猪后，需要显式同步同速比例。本次加了对应按钮，使观众可以选择同步，也可以保留独立的四季度判断。</a:t>
            </a:r>
          </a:p>
          <a:p xmlns:a="http://schemas.openxmlformats.org/drawingml/2006/main">
            <a:r>
              <a:t/>
            </a:r>
          </a:p>
          <a:p xmlns:a="http://schemas.openxmlformats.org/drawingml/2006/main">
            <a:r>
              <a:t>来源：报告§7.3、附录A</a:t>
            </a:r>
          </a:p>
          <a:p xmlns:a="http://schemas.openxmlformats.org/drawingml/2006/main">
            <a:r>
              <a:t/>
            </a:r>
          </a:p>
          <a:p xmlns:a="http://schemas.openxmlformats.org/drawingml/2006/main">
            <a:r>
              <a:t>演示与停顿预留约8秒。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23:39—24:50。</a:t>
            </a:r>
          </a:p>
          <a:p xmlns:a="http://schemas.openxmlformats.org/drawingml/2006/main">
            <a:r>
              <a:t>同样的母猪路径，如果效率不改善，需求路线年均价约十五点三五元。按默认速度追赶是十四点三六元，差距每年缩小百分之十二时约十三点四三元。也就是说，未来行业生产率提高，会抵消一部分母猪去化带来的短缺。</a:t>
            </a:r>
          </a:p>
          <a:p xmlns:a="http://schemas.openxmlformats.org/drawingml/2006/main">
            <a:r>
              <a:t>重量更敏感。全国目标重量从一百二十提高到一百二十五公斤，年均价约十二点七八；提高到一百三十公斤，则约十一点四零。这里固定了其他变量，展示公斤供应变化本身的作用。</a:t>
            </a:r>
          </a:p>
          <a:p xmlns:a="http://schemas.openxmlformats.org/drawingml/2006/main">
            <a:r>
              <a:t>实际经营还会有周转、耗料和死亡的联动，不能把这个价格表直接拼到一个完全不变的公司成本上。行业提效与公司提效也可能同时发生：行业更高效压低售价，公司更高效降低成本，最终利润取决于两者相对改善多少。我们在模型里把两组输入分开，让这种经济联系能够被看见，而不是隐含地只挑有利的一边。</a:t>
            </a:r>
          </a:p>
          <a:p xmlns:a="http://schemas.openxmlformats.org/drawingml/2006/main">
            <a:r>
              <a:t/>
            </a:r>
          </a:p>
          <a:p xmlns:a="http://schemas.openxmlformats.org/drawingml/2006/main">
            <a:r>
              <a:t>来源：报告§7.4</a:t>
            </a:r>
          </a:p>
          <a:p xmlns:a="http://schemas.openxmlformats.org/drawingml/2006/main">
            <a:r>
              <a:t/>
            </a:r>
          </a:p>
          <a:p xmlns:a="http://schemas.openxmlformats.org/drawingml/2006/main">
            <a:r>
              <a:t>演示与停顿预留约8秒。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24:50—26:00。</a:t>
            </a:r>
          </a:p>
          <a:p xmlns:a="http://schemas.openxmlformats.org/drawingml/2006/main">
            <a:r>
              <a:t>需求侧也有几种不同的不确定性。需求趋势描述固定价格下消费量怎样变化，价格弹性描述价格变化时消费如何反应，传导斜率描述零售变化有多少传到活猪环节，三者分别回答不同问题。</a:t>
            </a:r>
          </a:p>
          <a:p xmlns:a="http://schemas.openxmlformats.org/drawingml/2006/main">
            <a:r>
              <a:t>表里需求不下降时年均价十四点八二元，每年下降百分之二时十三点九零元。若弹性绝对值更小，同样的数量缺口要通过更大的价格变化清算，所以零点二的情景给出十七点五九元，零点六只给出十三点一五元。</a:t>
            </a:r>
          </a:p>
          <a:p xmlns:a="http://schemas.openxmlformats.org/drawingml/2006/main">
            <a:r>
              <a:t>常弹性和局部线性在小缺口附近接近，缺口扩大后逐渐分歧。它们的差异是函数风险对照，并非统计置信区间。现实消费还会受收入、替代肉类、餐饮和健康偏好影响。进口与冻品则改变可用供应。若算出极端价格，应回头检查这些反馈，而不是仅凭计算器能够给出数字就把数字当成可信结论。</a:t>
            </a:r>
          </a:p>
          <a:p xmlns:a="http://schemas.openxmlformats.org/drawingml/2006/main">
            <a:r>
              <a:t/>
            </a:r>
          </a:p>
          <a:p xmlns:a="http://schemas.openxmlformats.org/drawingml/2006/main">
            <a:r>
              <a:t>来源：报告§7.5、§7.7</a:t>
            </a:r>
          </a:p>
          <a:p xmlns:a="http://schemas.openxmlformats.org/drawingml/2006/main">
            <a:r>
              <a:t/>
            </a:r>
          </a:p>
          <a:p xmlns:a="http://schemas.openxmlformats.org/drawingml/2006/main">
            <a:r>
              <a:t>演示与停顿预留约8秒。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26:00—27:09。</a:t>
            </a:r>
          </a:p>
          <a:p xmlns:a="http://schemas.openxmlformats.org/drawingml/2006/main">
            <a:r>
              <a:t>固定八、十、十二个月分别给出约十四点九九、十四点三六和十三点八四元，分布滞后约十四点四三元。这显示时点判断会改变本年度价格路径，但并不会自动解决需求和效率估计的问题。</a:t>
            </a:r>
          </a:p>
          <a:p xmlns:a="http://schemas.openxmlformats.org/drawingml/2006/main">
            <a:r>
              <a:t>另一项更根本的选择是锚点。观测锚用二〇二六年八月活猪价格十一点三六元，以及对应的母猪和效率状态。政策锚则额外假设三千七百五十万头母猪对应成本中枢十五点七三元，所以加入了新的经济判断。</a:t>
            </a:r>
          </a:p>
          <a:p xmlns:a="http://schemas.openxmlformats.org/drawingml/2006/main">
            <a:r>
              <a:t>为了保持绝对零售传导一致，政策锚下零售基价也要同步从二十一元平移到约二十六点八三元。只抬活猪锚却保持其他关系不变，会混入不一致假设。政策锚的年均十五点九七元应按这组完整条件解释。它展示政策数量怎样与成本和需求共同映射价格，不能被读成政策本身保证了这个价格。</a:t>
            </a:r>
          </a:p>
          <a:p xmlns:a="http://schemas.openxmlformats.org/drawingml/2006/main">
            <a:r>
              <a:t/>
            </a:r>
          </a:p>
          <a:p xmlns:a="http://schemas.openxmlformats.org/drawingml/2006/main">
            <a:r>
              <a:t>来源：报告§7.6、§7.8</a:t>
            </a:r>
          </a:p>
          <a:p xmlns:a="http://schemas.openxmlformats.org/drawingml/2006/main">
            <a:r>
              <a:t/>
            </a:r>
          </a:p>
          <a:p xmlns:a="http://schemas.openxmlformats.org/drawingml/2006/main">
            <a:r>
              <a:t>演示与停顿预留约7秒。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27:09—28:20。</a:t>
            </a:r>
          </a:p>
          <a:p xmlns:a="http://schemas.openxmlformats.org/drawingml/2006/main">
            <a:r>
              <a:t>美国经验可以帮助我们思考成熟市场，但必须保持定义。五千头以上经营单位的存栏份额，从二〇〇二年的百分之五十三提高到二〇二二年的百分之七十五。这是按经营单位规模分组，成员会跨组迁移，不能直接当固定企业的所有权集中度。</a:t>
            </a:r>
          </a:p>
          <a:p xmlns:a="http://schemas.openxmlformats.org/drawingml/2006/main">
            <a:r>
              <a:t>美国商业屠宰头数过去十年复合增速约百分之一点零六，说明行业总量成熟之后，头部仍可能通过份额变化增长。USDA育肥系统调查还显示，大规模组的经济成本点值更低，但单位是美元每一百磅活重增量，包含购入仔猪及合同双方相关成本，与中国每公斤出栏活重成本比较前要调整。</a:t>
            </a:r>
          </a:p>
          <a:p xmlns:a="http://schemas.openxmlformats.org/drawingml/2006/main">
            <a:r>
              <a:t>Smithfield内部养猪量下降，也提示我们成长可以来自更有效地组织猪源和减少低回报资本占用。对国内养殖行业而言，自养、加工、技术服务和海外合作的扩张，都需要比较投入、资本占用和回收期，不能只看规模。</a:t>
            </a:r>
          </a:p>
          <a:p xmlns:a="http://schemas.openxmlformats.org/drawingml/2006/main">
            <a:r>
              <a:t/>
            </a:r>
          </a:p>
          <a:p xmlns:a="http://schemas.openxmlformats.org/drawingml/2006/main">
            <a:r>
              <a:t>来源：报告§10.6—§10.8；参考[52]—[58]</a:t>
            </a:r>
          </a:p>
          <a:p xmlns:a="http://schemas.openxmlformats.org/drawingml/2006/main">
            <a:r>
              <a:t>2022 Census of Agriculture Highlights: Hogs and Pigs https://www.nass.usda.gov/Publications/Highlights/2024/Census22_HL_Hogs_Pigs.pdf</a:t>
            </a:r>
          </a:p>
          <a:p xmlns:a="http://schemas.openxmlformats.org/drawingml/2006/main">
            <a:r>
              <a:t>2022 Census of Agriculture, Table 1 Historical Highlights https://www.nass.usda.gov/Publications/AgCensus/2022/Full_Report/Volume_1,_Chapter_1_US/st99_1_001_001.pdf</a:t>
            </a:r>
          </a:p>
          <a:p xmlns:a="http://schemas.openxmlformats.org/drawingml/2006/main">
            <a:r>
              <a:t>Overview of the United States Slaughter Industry https://esmis.nal.usda.gov/sites/default/release-files/b5644r52v/jd473028z/7w62fc23r/SlauOverview-10-27-2016.pdf</a:t>
            </a:r>
          </a:p>
          <a:p xmlns:a="http://schemas.openxmlformats.org/drawingml/2006/main">
            <a:r>
              <a:t>Livestock Slaughter 2025 Summary https://esmis.nal.usda.gov/sites/default/release-files/795870/lsan0426.pdf</a:t>
            </a:r>
          </a:p>
          <a:p xmlns:a="http://schemas.openxmlformats.org/drawingml/2006/main">
            <a:r>
              <a:t>Livestock, Dairy, and Poultry Outlook: October 2026, LDP-M-388 https://www.ers.usda.gov/media/29753/ldp-m-388.pdf?v=63883</a:t>
            </a:r>
          </a:p>
          <a:p xmlns:a="http://schemas.openxmlformats.org/drawingml/2006/main">
            <a:r>
              <a:t>The U.S. Hog Industry: Structural Change, Production Systems and Costs, and Manure Management, ERR-361 https://www.ers.usda.gov/media/29249/err-361.pdf?v=25895</a:t>
            </a:r>
          </a:p>
          <a:p xmlns:a="http://schemas.openxmlformats.org/drawingml/2006/main">
            <a:r>
              <a:t>Smithfield Foods FY2025 Form 10-K https://investors.smithfieldfoods.com/sec-filings/sec-filings/content/0000091388-26-000014/smf-20251228.htm</a:t>
            </a:r>
          </a:p>
          <a:p xmlns:a="http://schemas.openxmlformats.org/drawingml/2006/main">
            <a:r>
              <a:t>演示与停顿预留约7秒。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28:20—29:02。</a:t>
            </a:r>
          </a:p>
          <a:p xmlns:a="http://schemas.openxmlformats.org/drawingml/2006/main">
            <a:r>
              <a:t>行业篇到这里结束。我们从养殖成本出发，说明长期价格需要补偿必要产能的成本及正常资本回报；同时区分了长期中枢和短期高价。母猪减少要经过繁育和育肥的时滞，再叠加生产效率和重量，才能形成有效供给的变化。</a:t>
            </a:r>
          </a:p>
          <a:p xmlns:a="http://schemas.openxmlformats.org/drawingml/2006/main">
            <a:r>
              <a:t>历史振幅提供经验比较，需求函数提供条件推演，它们都依赖自己的样本和假设。后续观察的重点是母猪和仔猪出生、实际出栏重量、饲料成本、需求与进口。新证据改变输入时，也要相应修正价格判断。感谢收看。</a:t>
            </a:r>
          </a:p>
          <a:p xmlns:a="http://schemas.openxmlformats.org/drawingml/2006/main">
            <a:r>
              <a:t/>
            </a:r>
          </a:p>
          <a:p xmlns:a="http://schemas.openxmlformats.org/drawingml/2006/main">
            <a:r>
              <a:t>来源：本报告行业分析与公开资料汇总</a:t>
            </a:r>
          </a:p>
          <a:p xmlns:a="http://schemas.openxmlformats.org/drawingml/2006/main">
            <a:r>
              <a:t/>
            </a:r>
          </a:p>
          <a:p xmlns:a="http://schemas.openxmlformats.org/drawingml/2006/main">
            <a:r>
              <a:t>演示与停顿预留约4秒。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29:02—29:39。</a:t>
            </a:r>
          </a:p>
          <a:p xmlns:a="http://schemas.openxmlformats.org/drawingml/2006/main">
            <a:r>
              <a:t>大家好，这一部分单独以牧原为案例，讨论怎样把行业价格假设转为企业经营结果和估值。即使没有看前面的行业篇，也可以从接下来的假设账本开始。</a:t>
            </a:r>
          </a:p>
          <a:p xmlns:a="http://schemas.openxmlformats.org/drawingml/2006/main">
            <a:r>
              <a:t>我们先把必要产能成本、正常价格中枢和全年二十元高价条件列在同一张表，再连续计算公司收入、利润和十倍市盈率定价。完成这一组推导后，才介绍跨周期现金流方法，检查利润持续期、再投资和融资条件的影响。</a:t>
            </a:r>
          </a:p>
          <a:p xmlns:a="http://schemas.openxmlformats.org/drawingml/2006/main">
            <a:r>
              <a:t/>
            </a:r>
          </a:p>
          <a:p xmlns:a="http://schemas.openxmlformats.org/drawingml/2006/main">
            <a:r>
              <a:t>来源：本报告行业分析与公开资料汇总</a:t>
            </a:r>
          </a:p>
          <a:p xmlns:a="http://schemas.openxmlformats.org/drawingml/2006/main">
            <a:r>
              <a:t/>
            </a:r>
          </a:p>
          <a:p xmlns:a="http://schemas.openxmlformats.org/drawingml/2006/main">
            <a:r>
              <a:t>演示与停顿预留约4秒。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29:39—30:47。</a:t>
            </a:r>
          </a:p>
          <a:p xmlns:a="http://schemas.openxmlformats.org/drawingml/2006/main">
            <a:r>
              <a:t>这条主线只选一组参数。必要产能成本十四点九元，每头年产能权益资本一千元，要求回报百分之十，得到正常价格中枢十五点七三三三元。随后选择源报告已有的全年二十元高价示例，公司实现售价先假设与全国价相同。</a:t>
            </a:r>
          </a:p>
          <a:p xmlns:a="http://schemas.openxmlformats.org/drawingml/2006/main">
            <a:r>
              <a:t>公司商品猪销量八千万头，重量一百二十公斤，完全成本十一点八元，归属折算百分之九十五。估值采用十倍市盈率，股份范围为五十七点七二九九六一四四亿股。这里的二十元、十一点八元和十倍都需要作为条件连同结果一起披露。</a:t>
            </a:r>
          </a:p>
          <a:p xmlns:a="http://schemas.openxmlformats.org/drawingml/2006/main">
            <a:r>
              <a:t>这页可以先留在屏幕上。后续每一步计算都使用这些输入，直到得到高位外推估值。主线没有把期货价、季度最高价或零售猪肉价直接混进全年公司价格，也没有同时换成另一套销量或成本。对这些输入有不同看法的观众，可以在主线完成后再改其中一项。</a:t>
            </a:r>
          </a:p>
          <a:p xmlns:a="http://schemas.openxmlformats.org/drawingml/2006/main">
            <a:r>
              <a:t/>
            </a:r>
          </a:p>
          <a:p xmlns:a="http://schemas.openxmlformats.org/drawingml/2006/main">
            <a:r>
              <a:t>来源：报告修订版 主线演算</a:t>
            </a:r>
          </a:p>
          <a:p xmlns:a="http://schemas.openxmlformats.org/drawingml/2006/main">
            <a:r>
              <a:t/>
            </a:r>
          </a:p>
          <a:p xmlns:a="http://schemas.openxmlformats.org/drawingml/2006/main">
            <a:r>
              <a:t>演示与停顿预留约5秒。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30:47—31:50。</a:t>
            </a:r>
          </a:p>
          <a:p xmlns:a="http://schemas.openxmlformats.org/drawingml/2006/main">
            <a:r>
              <a:t>我们先把整条主线排清楚。第一步，必要边际产能的完全成本加上正常权益回报，形成长期价格中枢。第二步，额外给出周期高位年度价格，明确这一高价条件并非成本公式自动得出。第三步，用牧原自己的商品猪销量、重量和完全成本计算收入与利润。第四步，把这个高位年度利润乘十倍市盈率，得到高点外推价格。</a:t>
            </a:r>
          </a:p>
          <a:p xmlns:a="http://schemas.openxmlformats.org/drawingml/2006/main">
            <a:r>
              <a:t>这四步先使用同一组输入连续讲完，中间暂不切换需求函数或现金流折现。这样可以清楚看到每个数值从哪里来，哪些来自源材料，哪些是研究者设定。</a:t>
            </a:r>
          </a:p>
          <a:p xmlns:a="http://schemas.openxmlformats.org/drawingml/2006/main">
            <a:r>
              <a:t>主线计算出来之后，才逐项检查母猪变化、生产效率、周期时点、利润持续期和资本支出。届时如果得出与高点外推不同的价值，我们会说明究竟改变了哪项假设，而不是把几种方法交错混在一起。</a:t>
            </a:r>
          </a:p>
          <a:p xmlns:a="http://schemas.openxmlformats.org/drawingml/2006/main">
            <a:r>
              <a:t/>
            </a:r>
          </a:p>
          <a:p xmlns:a="http://schemas.openxmlformats.org/drawingml/2006/main">
            <a:r>
              <a:t>来源：报告§1、§2.2</a:t>
            </a:r>
          </a:p>
          <a:p xmlns:a="http://schemas.openxmlformats.org/drawingml/2006/main">
            <a:r>
              <a:t/>
            </a:r>
          </a:p>
          <a:p xmlns:a="http://schemas.openxmlformats.org/drawingml/2006/main">
            <a:r>
              <a:t>演示与停顿预留约4秒。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31:50—32:57。</a:t>
            </a:r>
          </a:p>
          <a:p xmlns:a="http://schemas.openxmlformats.org/drawingml/2006/main">
            <a:r>
              <a:t>正式计算前做一次单位检查。销量以万头表示，重量以每头公斤表示，两者相乘后除以一万，得到亿公斤。八千万头乘一百二十公斤，就是九十六亿公斤。</a:t>
            </a:r>
          </a:p>
          <a:p xmlns:a="http://schemas.openxmlformats.org/drawingml/2006/main">
            <a:r>
              <a:t>因此，每公斤收入或成本变化一元，全年折算前利润就变化九十六亿元。若按模型的百分之九十五复合归属折算，利润变化九十一点二亿元。这个量级说明为什么几毛钱的单位成本变化，也会显著影响大型养殖企业。</a:t>
            </a:r>
          </a:p>
          <a:p xmlns:a="http://schemas.openxmlformats.org/drawingml/2006/main">
            <a:r>
              <a:t>但百分之九十五并非一个已经验证的税率。它是税费、少数股东等因素的综合演示参数，实际财报需要分别桥接。估值的单位也要对应：亿元股权价值除以亿股，就直接得到元每股。后面利润矩阵和每股结果都沿用这套单位。读者可以先用这条简单恒等式检查任何看起来特别惊人的利润预测。</a:t>
            </a:r>
          </a:p>
          <a:p xmlns:a="http://schemas.openxmlformats.org/drawingml/2006/main">
            <a:r>
              <a:t/>
            </a:r>
          </a:p>
          <a:p xmlns:a="http://schemas.openxmlformats.org/drawingml/2006/main">
            <a:r>
              <a:t>来源：报告§2.3、§9.4</a:t>
            </a:r>
          </a:p>
          <a:p xmlns:a="http://schemas.openxmlformats.org/drawingml/2006/main">
            <a:r>
              <a:t/>
            </a:r>
          </a:p>
          <a:p xmlns:a="http://schemas.openxmlformats.org/drawingml/2006/main">
            <a:r>
              <a:t>演示与停顿预留约8秒。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32:57—34:06。</a:t>
            </a:r>
          </a:p>
          <a:p xmlns:a="http://schemas.openxmlformats.org/drawingml/2006/main">
            <a:r>
              <a:t>现在把同一组条件装进公司账户。八千万头乘一百二十公斤，形成九十六亿公斤销售量。全年实现售价二十元，收入就是一千九百二十亿元；完全成本十一点八元，对应一千一百三十二点八亿元。</a:t>
            </a:r>
          </a:p>
          <a:p xmlns:a="http://schemas.openxmlformats.org/drawingml/2006/main">
            <a:r>
              <a:t>两者相减，折算前利润七百八十七点二亿元，再乘百分之九十五复合归属折算，得到演示利润七百四十七点八四亿元。这一页还没有进行估值，只是把高价条件转换成利润。</a:t>
            </a:r>
          </a:p>
          <a:p xmlns:a="http://schemas.openxmlformats.org/drawingml/2006/main">
            <a:r>
              <a:t>完全成本需要与销售范围匹配，并已经包含相应管理、财务和销售费用。同一笔利息不能再减一次。仔猪、种猪、加工和服务利润在本例另设为零，内部交易必须抵销。百分之九十五只是综合演示系数，实际税费和少数股东需要分别核算。下一页保持这个利润数字不变，直接完成本条高点外推估值。</a:t>
            </a:r>
          </a:p>
          <a:p xmlns:a="http://schemas.openxmlformats.org/drawingml/2006/main">
            <a:r>
              <a:t/>
            </a:r>
          </a:p>
          <a:p xmlns:a="http://schemas.openxmlformats.org/drawingml/2006/main">
            <a:r>
              <a:t>来源：报告修订版 主线利润演算；原报告§9.4、§12.8</a:t>
            </a:r>
          </a:p>
          <a:p xmlns:a="http://schemas.openxmlformats.org/drawingml/2006/main">
            <a:r>
              <a:t/>
            </a:r>
          </a:p>
          <a:p xmlns:a="http://schemas.openxmlformats.org/drawingml/2006/main">
            <a:r>
              <a:t>演示与停顿预留约10秒。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34:06—35:11。</a:t>
            </a:r>
          </a:p>
          <a:p xmlns:a="http://schemas.openxmlformats.org/drawingml/2006/main">
            <a:r>
              <a:t>保持上一页七百四十七点八四亿元利润，乘十倍市盈率，得到股权外推定价七千四百七十八点四亿元。再除以五十七点七二九九六一四四亿股，得到每股一百二十九点五四元。</a:t>
            </a:r>
          </a:p>
          <a:p xmlns:a="http://schemas.openxmlformats.org/drawingml/2006/main">
            <a:r>
              <a:t>到这里，边际成本确定正常中枢、额外设定周期高位价格、转换公司利润、再用高位利润乘倍数的全过程已经走完。中间没有换一套价格路线，也没有混用另一种利润基数。</a:t>
            </a:r>
          </a:p>
          <a:p xmlns:a="http://schemas.openxmlformats.org/drawingml/2006/main">
            <a:r>
              <a:t>这个结果刻画市场把高位年度利润当作估值基础时的定价条件。它本身并未证明高价会持续多久，也没有逐年扣除维护、扩张和营运资金。因此我们把它命名为高点外推定价。下面才开始补充其他可能：母猪去化能否形成所设高价，实际全年实现价格会不会更低，以及利润在后续回到正常价格时，现金流价值会怎样变化。</a:t>
            </a:r>
          </a:p>
          <a:p xmlns:a="http://schemas.openxmlformats.org/drawingml/2006/main">
            <a:r>
              <a:t/>
            </a:r>
          </a:p>
          <a:p xmlns:a="http://schemas.openxmlformats.org/drawingml/2006/main">
            <a:r>
              <a:t>来源：报告修订版 主线演算</a:t>
            </a:r>
          </a:p>
          <a:p xmlns:a="http://schemas.openxmlformats.org/drawingml/2006/main">
            <a:r>
              <a:t/>
            </a:r>
          </a:p>
          <a:p xmlns:a="http://schemas.openxmlformats.org/drawingml/2006/main">
            <a:r>
              <a:t>演示与停顿预留约5秒。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35:11—36:21。</a:t>
            </a:r>
          </a:p>
          <a:p xmlns:a="http://schemas.openxmlformats.org/drawingml/2006/main">
            <a:r>
              <a:t>进入公司经营时，全国月价不能直接当公司全年实现价格。严格做法是按每个月、每个地区的实际销售头数与重量形成公斤量权重，再加地区、渠道和品质对应的价差。</a:t>
            </a:r>
          </a:p>
          <a:p xmlns:a="http://schemas.openxmlformats.org/drawingml/2006/main">
            <a:r>
              <a:t>这张表先固定全国价格路径，只改变季度销售公斤分布。等权时利润二百三十三点零八亿元，把五个百分点权重从高价四季度移到低价一季度，利润降到二百一十二点零七亿元，差约二十一亿元。反向调整则提高到二百五十四点零九亿元。</a:t>
            </a:r>
          </a:p>
          <a:p xmlns:a="http://schemas.openxmlformats.org/drawingml/2006/main">
            <a:r>
              <a:t>模型的固定公司售价差默认设零。如果有正溢价，需要真实售价记录和同地区同重量基准支持，也要解释品质和销售投入怎样进入成本。每公斤售价差增加一角，在当前规模下演示利润增加九点一二亿元。出栏策略还会改变耗料和周转，完整比较应该核算净利润，而不是只比较实现售价高低。</a:t>
            </a:r>
          </a:p>
          <a:p xmlns:a="http://schemas.openxmlformats.org/drawingml/2006/main">
            <a:r>
              <a:t/>
            </a:r>
          </a:p>
          <a:p xmlns:a="http://schemas.openxmlformats.org/drawingml/2006/main">
            <a:r>
              <a:t>来源：报告§9.1；补充计算销售权重</a:t>
            </a:r>
          </a:p>
          <a:p xmlns:a="http://schemas.openxmlformats.org/drawingml/2006/main">
            <a:r>
              <a:t/>
            </a:r>
          </a:p>
          <a:p xmlns:a="http://schemas.openxmlformats.org/drawingml/2006/main">
            <a:r>
              <a:t>演示与停顿预留约8秒。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36:21—37:31。</a:t>
            </a:r>
          </a:p>
          <a:p xmlns:a="http://schemas.openxmlformats.org/drawingml/2006/main">
            <a:r>
              <a:t>前面一次只改一个参数，现在组合有关联的条件。正常修复延续默认去化和效率；缓慢修复采用较少去化、较快提效、略重出栏、较弱需求和较高首年成本；低谷延长进一步叠加这些压力，偏强修复则采用较快去化和更好的经营条件。</a:t>
            </a:r>
          </a:p>
          <a:p xmlns:a="http://schemas.openxmlformats.org/drawingml/2006/main">
            <a:r>
              <a:t>四组全国年均价分别约十四点三六、十二点四九、十一点一四、十五点九五元。首年演示利润分别约二百三十三点零八、三十五点四七、负一百二十四点三零和四百零五点八二亿元。这里先停留在供需和利润，等介绍现金流方法以后再把各组条件转成估值。</a:t>
            </a:r>
          </a:p>
          <a:p xmlns:a="http://schemas.openxmlformats.org/drawingml/2006/main">
            <a:r>
              <a:t>这些情景没有客观发生概率。它们改变近期条件与修复期，后续正常全国价先统一设十五点五元，基础成本十一点八元。如果判断长期中枢永久改变，要另改长期输入。观众自行加权时也应说明状态权重和更新依据。</a:t>
            </a:r>
          </a:p>
          <a:p xmlns:a="http://schemas.openxmlformats.org/drawingml/2006/main">
            <a:r>
              <a:t/>
            </a:r>
          </a:p>
          <a:p xmlns:a="http://schemas.openxmlformats.org/drawingml/2006/main">
            <a:r>
              <a:t>来源：报告§8；附录E</a:t>
            </a:r>
          </a:p>
          <a:p xmlns:a="http://schemas.openxmlformats.org/drawingml/2006/main">
            <a:r>
              <a:t/>
            </a:r>
          </a:p>
          <a:p xmlns:a="http://schemas.openxmlformats.org/drawingml/2006/main">
            <a:r>
              <a:t>演示与停顿预留约8秒。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37:31—38:44。</a:t>
            </a:r>
          </a:p>
          <a:p xmlns:a="http://schemas.openxmlformats.org/drawingml/2006/main">
            <a:r>
              <a:t>回到二〇二七年需求路线，四季度利润显著不均匀。一季度价格只比十一点八元成本略高，演示利润约五点六亿元；二季度三十五点八四亿元；三季度八十点九七亿元；四季度一百一十点六六亿元。</a:t>
            </a:r>
          </a:p>
          <a:p xmlns:a="http://schemas.openxmlformats.org/drawingml/2006/main">
            <a:r>
              <a:t>每季度都先设两千万头、一百二十公斤，成本全年保持十一点八元，所以这里的差异主要来自价格。四个季度合计约二百三十三点零八亿元，展示舍入数相加可能与未舍入总数相差一分钱量级。</a:t>
            </a:r>
          </a:p>
          <a:p xmlns:a="http://schemas.openxmlformats.org/drawingml/2006/main">
            <a:r>
              <a:t>这种利润分布提醒我们，低价月份的现金支出发生在高价收益到来之前。年度盈利并不能保证任何月份都有充足资金。季度利润也不能直接当季度股东现金流，因为资本支出、营运资金、债务和利息支付可能集中发生。当前估值是年度现金流模型，若要做季度流动性判断，还需要季度资产负债表和更细收付款时点。</a:t>
            </a:r>
          </a:p>
          <a:p xmlns:a="http://schemas.openxmlformats.org/drawingml/2006/main">
            <a:r>
              <a:t/>
            </a:r>
          </a:p>
          <a:p xmlns:a="http://schemas.openxmlformats.org/drawingml/2006/main">
            <a:r>
              <a:t>来源：报告§9.7</a:t>
            </a:r>
          </a:p>
          <a:p xmlns:a="http://schemas.openxmlformats.org/drawingml/2006/main">
            <a:r>
              <a:t/>
            </a:r>
          </a:p>
          <a:p xmlns:a="http://schemas.openxmlformats.org/drawingml/2006/main">
            <a:r>
              <a:t>演示与停顿预留约10秒。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38:44—39:56。</a:t>
            </a:r>
          </a:p>
          <a:p xmlns:a="http://schemas.openxmlformats.org/drawingml/2006/main">
            <a:r>
              <a:t>过去十年牧原经历了非常快的扩张。二〇一五年商品猪销量约一百七十一万头，到二〇二五年约七千七百九十八万头，十年复合增长约百分之四十六点五二。</a:t>
            </a:r>
          </a:p>
          <a:p xmlns:a="http://schemas.openxmlformats.org/drawingml/2006/main">
            <a:r>
              <a:t>图中也能看到增长不是每年单调。二〇一九年销量回落，之后迅速扩大。利润波动更大，二〇二〇年归母利润约二百七十四点五一亿元，二〇二三年亏损四十二点六三亿元，二〇二五年约一百五十四点八七亿元。规模增长、周期价格与资本占用分别影响财务表现。</a:t>
            </a:r>
          </a:p>
          <a:p xmlns:a="http://schemas.openxmlformats.org/drawingml/2006/main">
            <a:r>
              <a:t>历史高增长包含低基数、市场份额提升、行业重组和大量投入，不能把同样增长率直接延长十年。未来需要重新回答总市场多大、公司还能拿到多少份额、产能怎样形成，以及新增资本回报能保持多久。经营现金流也要与利润分开，它可能受到存货与营运资金释放影响，最后还需扣除资本支出，才能讨论股东真正得到多少现金。</a:t>
            </a:r>
          </a:p>
          <a:p xmlns:a="http://schemas.openxmlformats.org/drawingml/2006/main">
            <a:r>
              <a:t/>
            </a:r>
          </a:p>
          <a:p xmlns:a="http://schemas.openxmlformats.org/drawingml/2006/main">
            <a:r>
              <a:t>来源：报告§10.1；参考[44]—[49]</a:t>
            </a:r>
          </a:p>
          <a:p xmlns:a="http://schemas.openxmlformats.org/drawingml/2006/main">
            <a:r>
              <a:t>2015年牧原年度报告 https://static.cninfo.com.cn/finalpage/2016-02-25/1201997101.PDF</a:t>
            </a:r>
          </a:p>
          <a:p xmlns:a="http://schemas.openxmlformats.org/drawingml/2006/main">
            <a:r>
              <a:t>牧原2016年度报告 https://money.finance.sina.com.cn/corp/view/vCB_AllBulletinDetail.php?id=3317425&amp;stockid=002714</a:t>
            </a:r>
          </a:p>
          <a:p xmlns:a="http://schemas.openxmlformats.org/drawingml/2006/main">
            <a:r>
              <a:t>牧原2019年度报告摘要 https://static.cninfo.com.cn/finalpage/2020-02-27/1207325909.PDF</a:t>
            </a:r>
          </a:p>
          <a:p xmlns:a="http://schemas.openxmlformats.org/drawingml/2006/main">
            <a:r>
              <a:t>牧原2022年度报告摘要 https://static.cninfo.com.cn/finalpage/2023-04-28/1216647224.PDF</a:t>
            </a:r>
          </a:p>
          <a:p xmlns:a="http://schemas.openxmlformats.org/drawingml/2006/main">
            <a:r>
              <a:t>牧原2025年度报告摘要 https://static.cninfo.com.cn/finalpage/2026-03-28/1225042506.PDF</a:t>
            </a:r>
          </a:p>
          <a:p xmlns:a="http://schemas.openxmlformats.org/drawingml/2006/main">
            <a:r>
              <a:t>中华人民共和国2025年国民经济和社会发展统计公报 https://www.stats.gov.cn/sj/zxfbhjd/202602/t20260228_1962662.html</a:t>
            </a:r>
          </a:p>
          <a:p xmlns:a="http://schemas.openxmlformats.org/drawingml/2006/main">
            <a:r>
              <a:t>演示与停顿预留约7秒。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39:56—41:07。</a:t>
            </a:r>
          </a:p>
          <a:p xmlns:a="http://schemas.openxmlformats.org/drawingml/2006/main">
            <a:r>
              <a:t>要把九千万或一亿头变成可信成长情景，先校验生物产能。这里指定PSY三十、断奶后成活百分之九十三、商品化百分之九十八，需要平均母猪分别约二百九十三、三百二十九和三百六十六万头。</a:t>
            </a:r>
          </a:p>
          <a:p xmlns:a="http://schemas.openxmlformats.org/drawingml/2006/main">
            <a:r>
              <a:t>这是稳态年化量级，成长过程仍需匹配批次和时滞，不能用年末母猪数直接替代全年平均。份额方面，若全国出栏固定在二〇二五年的七亿多头，九千万头近似占百分之十二点五，一亿头约百分之十三点八九。这个对照只检查规模与份额，不替代行业供需预测。</a:t>
            </a:r>
          </a:p>
          <a:p xmlns:a="http://schemas.openxmlformats.org/drawingml/2006/main">
            <a:r>
              <a:t>资本方面，报告参考公开项目量级，设置每新增年销量能力两千元。八千万增至九千万要新增固定投资二百亿元，再加长期价格条件下九点三亿元营运资金。建设在产出之前，所以还把固定投资提前一年支付。增长不能只加利润，还要先支付形成持续产出能力的资本。</a:t>
            </a:r>
          </a:p>
          <a:p xmlns:a="http://schemas.openxmlformats.org/drawingml/2006/main">
            <a:r>
              <a:t/>
            </a:r>
          </a:p>
          <a:p xmlns:a="http://schemas.openxmlformats.org/drawingml/2006/main">
            <a:r>
              <a:t>来源：报告§10.2—§10.4；参考[49]—[51]</a:t>
            </a:r>
          </a:p>
          <a:p xmlns:a="http://schemas.openxmlformats.org/drawingml/2006/main">
            <a:r>
              <a:t>中华人民共和国2025年国民经济和社会发展统计公报 https://www.stats.gov.cn/sj/zxfbhjd/202602/t20260228_1962662.html</a:t>
            </a:r>
          </a:p>
          <a:p xmlns:a="http://schemas.openxmlformats.org/drawingml/2006/main">
            <a:r>
              <a:t>牧原股份2026年度跟踪评级报告 https://static.cninfo.com.cn/finalpage/2026-05-28/1225334235.PDF</a:t>
            </a:r>
          </a:p>
          <a:p xmlns:a="http://schemas.openxmlformats.org/drawingml/2006/main">
            <a:r>
              <a:t>The Fundamental Determinants of Growth https://pages.stern.nyu.edu/~adamodar/New_Home_Page/valquestions/growth.htm</a:t>
            </a:r>
          </a:p>
          <a:p xmlns:a="http://schemas.openxmlformats.org/drawingml/2006/main">
            <a:r>
              <a:t>演示与停顿预留约8秒。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41:07—42:20。</a:t>
            </a:r>
          </a:p>
          <a:p xmlns:a="http://schemas.openxmlformats.org/drawingml/2006/main">
            <a:r>
              <a:t>开始计算前，先说明两种现金流方法的出发点。FCFF先把整门生意看作一个整体，问经营在支付必要投入之后，能够留给债权人和股东多少现金。因此从融资费用前的税后经营利润出发，用综合资金成本，也就是WACC折现，先得到企业价值，再扣同范围净债和其他权益调整，才得到股东价值。</a:t>
            </a:r>
          </a:p>
          <a:p xmlns:a="http://schemas.openxmlformats.org/drawingml/2006/main">
            <a:r>
              <a:t>FCFE则直接站在股东角度，从已经计入利息的股东净利润出发，扣维护、增长和营运资金，并加入新增借款减偿还，计算最后留给股东的钱。它用股东要求回报率折现，直接得到股权价值，所以不能再扣一次同一笔净债。</a:t>
            </a:r>
          </a:p>
          <a:p xmlns:a="http://schemas.openxmlformats.org/drawingml/2006/main">
            <a:r>
              <a:t>跨周期描述的是时间路径：高价、低价和恢复正常逐年进入现金流，相关投资也要在对应年份支付。这两种方法都能跨周期使用。只要现金归属、融资、税务和折现率一致，结果应相容。本片接下来主要按FCFE逐项演算，FCFF在债务边界处作同口径对照。</a:t>
            </a:r>
          </a:p>
          <a:p xmlns:a="http://schemas.openxmlformats.org/drawingml/2006/main">
            <a:r>
              <a:t/>
            </a:r>
          </a:p>
          <a:p xmlns:a="http://schemas.openxmlformats.org/drawingml/2006/main">
            <a:r>
              <a:t>来源：修订报告§11方法说明、§12.5债务边界</a:t>
            </a:r>
          </a:p>
          <a:p xmlns:a="http://schemas.openxmlformats.org/drawingml/2006/main">
            <a:r>
              <a:t/>
            </a:r>
          </a:p>
          <a:p xmlns:a="http://schemas.openxmlformats.org/drawingml/2006/main">
            <a:r>
              <a:t>演示与停顿预留约8秒。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42:20—43:34。</a:t>
            </a:r>
          </a:p>
          <a:p xmlns:a="http://schemas.openxmlformats.org/drawingml/2006/main">
            <a:r>
              <a:t>利润要转换成股东现金流，需要逐项桥接。研究参照首年利润二百三十三点零八亿元，加回同范围折旧摊销一百一十五点二亿元，扣固定维护六十五亿元、其他必要更新三十亿元，加上营运资金释放约一点零九亿元，得到FCFE约二百五十四点三七亿元。</a:t>
            </a:r>
          </a:p>
          <a:p xmlns:a="http://schemas.openxmlformats.org/drawingml/2006/main">
            <a:r>
              <a:t>这里八千万头首年规模视为已经形成，不重复支付历史建造成本。六十五亿元维护取公司公开交流量级，三十亿元其他必要更新仍是待核对的占位假设，需要与生物资产更新、租赁和费用口径逐项勾稽。</a:t>
            </a:r>
          </a:p>
          <a:p xmlns:a="http://schemas.openxmlformats.org/drawingml/2006/main">
            <a:r>
              <a:t>首年现金流高于利润，并不证明企业永远可以超过百分之一百转现。显性期内折旧与维护有差额，营运资金也可能释放；终值阶段我们要求维护等于折旧，避免把更新缺口永远资本化。采用FCFE已经从含利息的股东利润出发，折现后直接得到股权价值，不应再重复扣一次净债。</a:t>
            </a:r>
          </a:p>
          <a:p xmlns:a="http://schemas.openxmlformats.org/drawingml/2006/main">
            <a:r>
              <a:t/>
            </a:r>
          </a:p>
          <a:p xmlns:a="http://schemas.openxmlformats.org/drawingml/2006/main">
            <a:r>
              <a:t>来源：报告§11.1—§11.2</a:t>
            </a:r>
          </a:p>
          <a:p xmlns:a="http://schemas.openxmlformats.org/drawingml/2006/main">
            <a:r>
              <a:t/>
            </a:r>
          </a:p>
          <a:p xmlns:a="http://schemas.openxmlformats.org/drawingml/2006/main">
            <a:r>
              <a:t>演示与停顿预留约10秒。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43:34—44:44。</a:t>
            </a:r>
          </a:p>
          <a:p xmlns:a="http://schemas.openxmlformats.org/drawingml/2006/main">
            <a:r>
              <a:t>持续经营价值为正，也可能先遇到钱不够的问题。把分红、新增借款、增发和资产出售都设为零，查看各年累计FCFE的最低点，就能算出最低期初自由资金。</a:t>
            </a:r>
          </a:p>
          <a:p xmlns:a="http://schemas.openxmlformats.org/drawingml/2006/main">
            <a:r>
              <a:t>低谷延长、八千万头平量的示例，需要约八十七点五六亿元。若还要扩大到九千万头，首年FCFE负一百三十五点三七亿元，累计缺口需要约一百七十九点九三亿元。它比首年亏损更大，因为恢复前还要继续支付资本。</a:t>
            </a:r>
          </a:p>
          <a:p xmlns:a="http://schemas.openxmlformats.org/drawingml/2006/main">
            <a:r>
              <a:t>这些只是年度年末口径，不能当实际流动性预算。还需要月内最高缺口、到期债务、受限现金、经营储备和可用授信。源报告二〇二六年中期现金等价物约一百三十六点二九亿元，广义有息债代理约七百六十四点二八亿元，不能直接拿现金余额覆盖表格就宣布融资安全。若资金不足，必须调整扩张、融资、分红或股份数，随后重新计算每股价值。</a:t>
            </a:r>
          </a:p>
          <a:p xmlns:a="http://schemas.openxmlformats.org/drawingml/2006/main">
            <a:r>
              <a:t/>
            </a:r>
          </a:p>
          <a:p xmlns:a="http://schemas.openxmlformats.org/drawingml/2006/main">
            <a:r>
              <a:t>来源：报告§11.3、§13.1；参考[61]</a:t>
            </a:r>
          </a:p>
          <a:p xmlns:a="http://schemas.openxmlformats.org/drawingml/2006/main">
            <a:r>
              <a:t>牧原股份2026年中期报告 https://www.hkexnews.hk/listedco/listconews/sehk/2026/0820/2026082000922.pdf</a:t>
            </a:r>
          </a:p>
          <a:p xmlns:a="http://schemas.openxmlformats.org/drawingml/2006/main">
            <a:r>
              <a:t>演示与停顿预留约8秒。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44:44—46:01。</a:t>
            </a:r>
          </a:p>
          <a:p xmlns:a="http://schemas.openxmlformats.org/drawingml/2006/main">
            <a:r>
              <a:t>成本表需要把折旧和经营现金说清楚。存量资产折旧到期可能降低账面成本，但新增、更新和生物资产也可能继续产生折旧，因此未来具体降多少需要资产年限与更新明细支持，不能直接编出下降计划。</a:t>
            </a:r>
          </a:p>
          <a:p xmlns:a="http://schemas.openxmlformats.org/drawingml/2006/main">
            <a:r>
              <a:t>这张独立例子固定售价十六元、九十六亿公斤，先把税费和归属差异设为零。单位折旧从一点二降到零点六，完全成本从十一点八降到十一点二，利润由四百零三点二升到四百六十点八亿元。但折旧加回同时由一百一十五点二降到五十七点六亿元，利润加折旧合计仍是五百一十八点四亿元。</a:t>
            </a:r>
          </a:p>
          <a:p xmlns:a="http://schemas.openxmlformats.org/drawingml/2006/main">
            <a:r>
              <a:t>如果维护等其他现金投入也不变，股东现金流就不因纯会计折旧减少而增加。真正能提高现金的，是付现成本下降、资本支出减少或周转改善。附录现金流参照把基础成本明确保持十一点八元，不再额外人为调高；若采用折旧下降情景，必须同步重算完全成本与折旧加回。</a:t>
            </a:r>
          </a:p>
          <a:p xmlns:a="http://schemas.openxmlformats.org/drawingml/2006/main">
            <a:r>
              <a:t/>
            </a:r>
          </a:p>
          <a:p xmlns:a="http://schemas.openxmlformats.org/drawingml/2006/main">
            <a:r>
              <a:t>来源：报告修订版§12 折旧会计演示；本次独立复算</a:t>
            </a:r>
          </a:p>
          <a:p xmlns:a="http://schemas.openxmlformats.org/drawingml/2006/main">
            <a:r>
              <a:t/>
            </a:r>
          </a:p>
          <a:p xmlns:a="http://schemas.openxmlformats.org/drawingml/2006/main">
            <a:r>
              <a:t>演示与停顿预留约8秒。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46:01—47:11。</a:t>
            </a:r>
          </a:p>
          <a:p xmlns:a="http://schemas.openxmlformats.org/drawingml/2006/main">
            <a:r>
              <a:t>接着把需求路线的年度现金流折现。二〇二七年价格沿用需求路线均价，二〇二八年线性修复，二〇二九年达到正常全国价十五点五元。公司基础完全成本在这组参照里保持十一点八元，折旧摊销为一百一十五点二亿元，显性期必要维护合计九十五亿元。</a:t>
            </a:r>
          </a:p>
          <a:p xmlns:a="http://schemas.openxmlformats.org/drawingml/2006/main">
            <a:r>
              <a:t>重算的十年现金流现值约2056.21亿元，终值首年现金流三百三十七点四四亿元，终值现值约1300.98亿元。股权总价值约3357.19亿元，除以统一股数，得到每股五十八点一五元。终值占比约百分之38.75。</a:t>
            </a:r>
          </a:p>
          <a:p xmlns:a="http://schemas.openxmlformats.org/drawingml/2006/main">
            <a:r>
              <a:t>这组结果仍需要价格修复、维护预算与融资滚续成立。十一点八元固定是明确的成本参照，不代表已经验证未来每年成本不变。若判断未来实际成本下降，应根据饲料、效率、折旧和新增更新资料建路径，并同步调整现金支出。这里没有把成本下降或上升写成未披露的事实。</a:t>
            </a:r>
          </a:p>
          <a:p xmlns:a="http://schemas.openxmlformats.org/drawingml/2006/main">
            <a:r>
              <a:t/>
            </a:r>
          </a:p>
          <a:p xmlns:a="http://schemas.openxmlformats.org/drawingml/2006/main">
            <a:r>
              <a:t>来源：报告§12.2.1</a:t>
            </a:r>
          </a:p>
          <a:p xmlns:a="http://schemas.openxmlformats.org/drawingml/2006/main">
            <a:r>
              <a:t/>
            </a:r>
          </a:p>
          <a:p xmlns:a="http://schemas.openxmlformats.org/drawingml/2006/main">
            <a:r>
              <a:t>演示与停顿预留约8秒。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47:11—48:20。</a:t>
            </a:r>
          </a:p>
          <a:p xmlns:a="http://schemas.openxmlformats.org/drawingml/2006/main">
            <a:r>
              <a:t>长期价格和权益要求回报依然是重要参数。这张表保持二〇二七年需求价格不变，改变后续正常全国价，基础成本仍直接采用十一点八元。各格均使用当前修订模型重新计算。</a:t>
            </a:r>
          </a:p>
          <a:p xmlns:a="http://schemas.openxmlformats.org/drawingml/2006/main">
            <a:r>
              <a:t>在百分之十权益回报要求下，可以沿中间一列比较十四、十五、十五点五、十六和十七元正常价格的价值变化。也可以固定十五点五元，横向比较百分之八、十和十二的要求回报。同样未来现金，要求回报越高，折回今天越少。</a:t>
            </a:r>
          </a:p>
          <a:p xmlns:a="http://schemas.openxmlformats.org/drawingml/2006/main">
            <a:r>
              <a:t>这些格子是指定条件，不是统计置信界。判断差异应该说明来自长期猪价、实际成本、资金投入还是风险回报。公司份额提高也不能自动证明全行业总量更大，行业低成本供给增多时正常中枢还可能变化。这类长期价格判断需要独立证据，不能藏到公司成本栏里处理。</a:t>
            </a:r>
          </a:p>
          <a:p xmlns:a="http://schemas.openxmlformats.org/drawingml/2006/main">
            <a:r>
              <a:t/>
            </a:r>
          </a:p>
          <a:p xmlns:a="http://schemas.openxmlformats.org/drawingml/2006/main">
            <a:r>
              <a:t>来源：报告§12.2.2、§13.3</a:t>
            </a:r>
          </a:p>
          <a:p xmlns:a="http://schemas.openxmlformats.org/drawingml/2006/main">
            <a:r>
              <a:t/>
            </a:r>
          </a:p>
          <a:p xmlns:a="http://schemas.openxmlformats.org/drawingml/2006/main">
            <a:r>
              <a:t>演示与停顿预留约10秒。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48:20—49:27。</a:t>
            </a:r>
          </a:p>
          <a:p xmlns:a="http://schemas.openxmlformats.org/drawingml/2006/main">
            <a:r>
              <a:t>终值增长仍需要付出资本。零增长下，维护等于折旧，终值现金流为正常利润三百三十七点四四亿元。若采用百分之一或百分之二增长，就按正利润乘增长率、再除以新增权益回报率，扣除支持增长所需的再投资。</a:t>
            </a:r>
          </a:p>
          <a:p xmlns:a="http://schemas.openxmlformats.org/drawingml/2006/main">
            <a:r>
              <a:t>新增权益回报先设百分之十五。零增长每股五十八点一五元，百分之一约五十九点二二元，百分之二约六十点五二元。新增回报率属于独立条件，不能仅因为想提高估值就使用很高回报。</a:t>
            </a:r>
          </a:p>
          <a:p xmlns:a="http://schemas.openxmlformats.org/drawingml/2006/main">
            <a:r>
              <a:t>如果增长来自纯销量，每新增年销量头的固定资本及营运资金还要和这项再投资匹配。建设先于产出时，显性期最后一年可能就要为终值第一年扩张付款。若增长来自既有资产效率改善，资本需求则可能不同。应先说明增长来自哪里，再选择与之对应的资本预算。</a:t>
            </a:r>
          </a:p>
          <a:p xmlns:a="http://schemas.openxmlformats.org/drawingml/2006/main">
            <a:r>
              <a:t/>
            </a:r>
          </a:p>
          <a:p xmlns:a="http://schemas.openxmlformats.org/drawingml/2006/main">
            <a:r>
              <a:t>来源：报告§12.2.3；physicalTerminalExtension</a:t>
            </a:r>
          </a:p>
          <a:p xmlns:a="http://schemas.openxmlformats.org/drawingml/2006/main">
            <a:r>
              <a:t/>
            </a:r>
          </a:p>
          <a:p xmlns:a="http://schemas.openxmlformats.org/drawingml/2006/main">
            <a:r>
              <a:t>演示与停顿预留约8秒。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49:27—50:36。</a:t>
            </a:r>
          </a:p>
          <a:p xmlns:a="http://schemas.openxmlformats.org/drawingml/2006/main">
            <a:r>
              <a:t>不同方法可以检查假设，比较时先统一正常利润。长期价格十五点五元、基础成本十一点八元、八千万头和百分之九十五折算，对应正常利润三百三十七点四四亿元，静态权益回报约百分之四十二点零八。把这一利润乘十倍，得到约五十八点四五元每股。</a:t>
            </a:r>
          </a:p>
          <a:p xmlns:a="http://schemas.openxmlformats.org/drawingml/2006/main">
            <a:r>
              <a:t>如果另选百分之二十正常ROE乘当前权益，利润就只有一百六十点三七亿元。它与经营模型采用的正常利润不同，不能把估值差异都归因于PE或PB方法。在清洁盈余、同一盈利、增长及分配条件下，合理PB和剩余收益应与现金流结果相容。</a:t>
            </a:r>
          </a:p>
          <a:p xmlns:a="http://schemas.openxmlformats.org/drawingml/2006/main">
            <a:r>
              <a:t>EV路线先取得同范围集团EBITDA，再扣净债和非控股价值。FCFE已经属于股权现金流，不能再扣净债。利润包含利息时恢复EBITDA需加回同范围利息和折旧，还要还原税费及少数股东范围。各方法应使用同一个经营账户后再比较。</a:t>
            </a:r>
          </a:p>
          <a:p xmlns:a="http://schemas.openxmlformats.org/drawingml/2006/main">
            <a:r>
              <a:t/>
            </a:r>
          </a:p>
          <a:p xmlns:a="http://schemas.openxmlformats.org/drawingml/2006/main">
            <a:r>
              <a:t>来源：报告§12.3—§12.6</a:t>
            </a:r>
          </a:p>
          <a:p xmlns:a="http://schemas.openxmlformats.org/drawingml/2006/main">
            <a:r>
              <a:t/>
            </a:r>
          </a:p>
          <a:p xmlns:a="http://schemas.openxmlformats.org/drawingml/2006/main">
            <a:r>
              <a:t>演示与停顿预留约8秒。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50:36—51:47。</a:t>
            </a:r>
          </a:p>
          <a:p xmlns:a="http://schemas.openxmlformats.org/drawingml/2006/main">
            <a:r>
              <a:t>在修订后的统一模型里，八千万头平量价值约五十八点一五元。百分之二增长三次、每新增年销量头一千元当年投资的配置，重算为六十点五零元；相同销量路径改成两千元提前一年投入，约五十九点七三元。</a:t>
            </a:r>
          </a:p>
          <a:p xmlns:a="http://schemas.openxmlformats.org/drawingml/2006/main">
            <a:r>
              <a:t>二〇三一年达到九千万头，价值约六十一点二三元；达到一亿头，约六十四点二八元。相对平量分别增加约三点零七和六点一三元。所有路径都使用同一单位价格和基础成本，区别在销量及配套资本，增长资本与营运资金仍要逐项扣除。</a:t>
            </a:r>
          </a:p>
          <a:p xmlns:a="http://schemas.openxmlformats.org/drawingml/2006/main">
            <a:r>
              <a:t>正常基础成本从十一点八降到十一点三，且实现改进所需投入已包含在预算时，修订平量价值约六十六点零五元，增加约七点九零元。这仍是独立的成本改善情景，不能自动当成折旧到期预测。若要增加改造或研发支出，应继续从现金流扣除。</a:t>
            </a:r>
          </a:p>
          <a:p xmlns:a="http://schemas.openxmlformats.org/drawingml/2006/main">
            <a:r>
              <a:t/>
            </a:r>
          </a:p>
          <a:p xmlns:a="http://schemas.openxmlformats.org/drawingml/2006/main">
            <a:r>
              <a:t>来源：报告§10.5、§12.7</a:t>
            </a:r>
          </a:p>
          <a:p xmlns:a="http://schemas.openxmlformats.org/drawingml/2006/main">
            <a:r>
              <a:t/>
            </a:r>
          </a:p>
          <a:p xmlns:a="http://schemas.openxmlformats.org/drawingml/2006/main">
            <a:r>
              <a:t>演示与停顿预留约10秒。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51:47—53:03。</a:t>
            </a:r>
          </a:p>
          <a:p xmlns:a="http://schemas.openxmlformats.org/drawingml/2006/main">
            <a:r>
              <a:t>现在回到开头已经完成的主线，直接比较相同首年高价。全年二十元、成本十一点八元的利润，乘十倍得到每股一百二十九点五四元。如果只把这组高价放在首年，随后回到十五点五元，并逐年扣必要资本和营运资金，当前修订模型的现金流价值约六十九点八九元。</a:t>
            </a:r>
          </a:p>
          <a:p xmlns:a="http://schemas.openxmlformats.org/drawingml/2006/main">
            <a:r>
              <a:t>十八元全年价对应的高位十倍PE约九十七点九五元，后续回归的现金流价值约六十五点七三元。十六元则分别约六十六点三五和六十一点五七元。这里没有另外改变公司正常基础成本，差异主要来自价格持续期和现金投入。</a:t>
            </a:r>
          </a:p>
          <a:p xmlns:a="http://schemas.openxmlformats.org/drawingml/2006/main">
            <a:r>
              <a:t>这解释为什么同一个高位利润可以对应不同定价。某一季触及二十元，也还要重新计算全年销售公斤加权价格。高峰时低PE可能来自较高盈利分母，低谷时PE也可能无定义。我们先完整讲清一种外推，再比较其他经济条件，观众就能知道差异究竟来自哪一步。</a:t>
            </a:r>
          </a:p>
          <a:p xmlns:a="http://schemas.openxmlformats.org/drawingml/2006/main">
            <a:r>
              <a:t/>
            </a:r>
          </a:p>
          <a:p xmlns:a="http://schemas.openxmlformats.org/drawingml/2006/main">
            <a:r>
              <a:t>来源：报告§12.8</a:t>
            </a:r>
          </a:p>
          <a:p xmlns:a="http://schemas.openxmlformats.org/drawingml/2006/main">
            <a:r>
              <a:t/>
            </a:r>
          </a:p>
          <a:p xmlns:a="http://schemas.openxmlformats.org/drawingml/2006/main">
            <a:r>
              <a:t>演示与停顿预留约10秒。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53:03—54:13。</a:t>
            </a:r>
          </a:p>
          <a:p xmlns:a="http://schemas.openxmlformats.org/drawingml/2006/main">
            <a:r>
              <a:t>把本期各条推理放到同一页。主线先以必要产能成本得到十五点七三元正常中枢，额外指定全年二十元高位价格，转成七百四十七点八四亿元演示利润，再乘十倍PE，得到一百二十九点五四元外推定价。</a:t>
            </a:r>
          </a:p>
          <a:p xmlns:a="http://schemas.openxmlformats.org/drawingml/2006/main">
            <a:r>
              <a:t>补充价格路线中，需求法二〇二七年均价约十四点三六元，历史振幅外推约二十点八一元。各自的锚点、函数和时间尺度不同。将需求价格逐年修复到十五点五元，并按十一点八元基础成本与必要资本投入计算，平量股权现金流价值约五十八点一五元；二〇三一年达到九千万头，则约六十一点二三元。</a:t>
            </a:r>
          </a:p>
          <a:p xmlns:a="http://schemas.openxmlformats.org/drawingml/2006/main">
            <a:r>
              <a:t>这些结果都按统一股份范围表达，但经济条件并不相同，不能直接平均。需要先确定自己认可的价格及成本条件，再选择相应利润持续期和资本预算。现金流折现基准相当于二〇二六年末，实际交易日应用还要更新过渡现金、股本和融资。</a:t>
            </a:r>
          </a:p>
          <a:p xmlns:a="http://schemas.openxmlformats.org/drawingml/2006/main">
            <a:r>
              <a:t/>
            </a:r>
          </a:p>
          <a:p xmlns:a="http://schemas.openxmlformats.org/drawingml/2006/main">
            <a:r>
              <a:t>来源：报告摘要、§12.2、§12.7</a:t>
            </a:r>
          </a:p>
          <a:p xmlns:a="http://schemas.openxmlformats.org/drawingml/2006/main">
            <a:r>
              <a:t/>
            </a:r>
          </a:p>
          <a:p xmlns:a="http://schemas.openxmlformats.org/drawingml/2006/main">
            <a:r>
              <a:t>演示与停顿预留约5秒。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建议时间 54:13—58:05。</a:t>
            </a:r>
          </a:p>
          <a:p xmlns:a="http://schemas.openxmlformats.org/drawingml/2006/main">
            <a:r>
              <a:t>整期的结论可以落在一张观测清单上。行业端，持续核对母猪与仔猪出生、实际重量、效率和进口；公司端，核对实现售价与全国口径差、完全成本、商品猪销量和资本支出；财务端，核对真正可用现金、债务到期、融资成本与股份变化。</a:t>
            </a:r>
          </a:p>
          <a:p xmlns:a="http://schemas.openxmlformats.org/drawingml/2006/main">
            <a:r>
              <a:t>现在打开配套网页，先载入主线高位情景，确认二十元、七百四十七点八四亿元和一百二十九点五四元，再点击修订现金流参照，确认年均价约十四点三六元、首年利润约二百三十三点零八亿元、价值约五十八点一五元。再切换到二〇三一年九千万头，观察提前投资和每股价值变化。之后载入旧销量及投资配置，比较百分之二增长三次、每头一千元当年投资为何得到六十点五零元。</a:t>
            </a:r>
          </a:p>
          <a:p xmlns:a="http://schemas.openxmlformats.org/drawingml/2006/main">
            <a:r>
              <a:t>演示时再把公司成本提高一角，核对首年利润变化约九点一二亿元，然后恢复论文参照并导出结果。也可以尝试把折现率设到不高于终值增长率，观察网页提示错误而不保留旧结果。观众最终得到的是一套能复查、能修改、能被新证据否定的研究判断。每个数值都应与自己的成本、需求和资本条件一起被记住。</a:t>
            </a:r>
          </a:p>
          <a:p xmlns:a="http://schemas.openxmlformats.org/drawingml/2006/main">
            <a:r>
              <a:t/>
            </a:r>
          </a:p>
          <a:p xmlns:a="http://schemas.openxmlformats.org/drawingml/2006/main">
            <a:r>
              <a:t>来源：报告§13—§15、附录A；配套网页</a:t>
            </a:r>
          </a:p>
          <a:p xmlns:a="http://schemas.openxmlformats.org/drawingml/2006/main">
            <a:r>
              <a:t/>
            </a:r>
          </a:p>
          <a:p xmlns:a="http://schemas.openxmlformats.org/drawingml/2006/main">
            <a:r>
              <a:t>演示与停顿预留约150秒。</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查阅附录，不计入主讲时长。</a:t>
            </a:r>
          </a:p>
          <a:p xmlns:a="http://schemas.openxmlformats.org/drawingml/2006/main">
            <a:r>
              <a:t>本页作为答疑查阅。重点解释生产阶段、母猪分母和价格环节，避免把活猪、零售、出栏活重和活重增量混用。主讲可略过。</a:t>
            </a:r>
          </a:p>
          <a:p xmlns:a="http://schemas.openxmlformats.org/drawingml/2006/main">
            <a:r>
              <a:t/>
            </a:r>
          </a:p>
          <a:p xmlns:a="http://schemas.openxmlformats.org/drawingml/2006/main">
            <a:r>
              <a:t>来源：报告§2、附录C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查阅附录，不计入主讲时长。</a:t>
            </a:r>
          </a:p>
          <a:p xmlns:a="http://schemas.openxmlformats.org/drawingml/2006/main">
            <a:r>
              <a:t>此页列最常用的参照参数。完整账本包括未在主讲中逐项展示的辅助输入，网页导出配置包含版本及全部字段。主讲可略过。</a:t>
            </a:r>
          </a:p>
          <a:p xmlns:a="http://schemas.openxmlformats.org/drawingml/2006/main">
            <a:r>
              <a:t/>
            </a:r>
          </a:p>
          <a:p xmlns:a="http://schemas.openxmlformats.org/drawingml/2006/main">
            <a:r>
              <a:t>来源：报告附录C、附录E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查阅附录，不计入主讲时长。</a:t>
            </a:r>
          </a:p>
          <a:p xmlns:a="http://schemas.openxmlformats.org/drawingml/2006/main">
            <a:r>
              <a:t>修订版逐年现金流参照保持基础完全成本十一点八元，不附加其他自动成本调整。折旧单独列示；未来若改折旧路径，必须同时修改完全成本和折旧加回，并按实际新增及维护资产证据计算。二〇二七年末为第一期，二〇三六年末另计终值。</a:t>
            </a:r>
          </a:p>
          <a:p xmlns:a="http://schemas.openxmlformats.org/drawingml/2006/main">
            <a:r>
              <a:t/>
            </a:r>
          </a:p>
          <a:p xmlns:a="http://schemas.openxmlformats.org/drawingml/2006/main">
            <a:r>
              <a:t>来源：报告§12.2.1</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查阅附录，不计入主讲时长。</a:t>
            </a:r>
          </a:p>
          <a:p xmlns:a="http://schemas.openxmlformats.org/drawingml/2006/main">
            <a:r>
              <a:t>补充计算的最低资金需求和终值物理扩张对照，不能假称已由网页主模型自动给出。配置、来源和计算结果分别保存，便于复核。</a:t>
            </a:r>
          </a:p>
          <a:p xmlns:a="http://schemas.openxmlformats.org/drawingml/2006/main">
            <a:r>
              <a:t/>
            </a:r>
          </a:p>
          <a:p xmlns:a="http://schemas.openxmlformats.org/drawingml/2006/main">
            <a:r>
              <a:t>来源：报告附录A—B</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查阅附录，不计入主讲时长。</a:t>
            </a:r>
          </a:p>
          <a:p xmlns:a="http://schemas.openxmlformats.org/drawingml/2006/main">
            <a:r>
              <a:t>本次按当前修订计算版本重算所有估值，原引擎的数值检查不再冒充新版测试结果。基础成本、折旧和现金支出分别列明，年度现金流及成长差额均可独立复算。</a:t>
            </a:r>
          </a:p>
          <a:p xmlns:a="http://schemas.openxmlformats.org/drawingml/2006/main">
            <a:r>
              <a:t/>
            </a:r>
          </a:p>
          <a:p xmlns:a="http://schemas.openxmlformats.org/drawingml/2006/main">
            <a:r>
              <a:t>来源：修订audit.md、测试日志</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查阅附录，不计入主讲时长。</a:t>
            </a:r>
          </a:p>
          <a:p xmlns:a="http://schemas.openxmlformats.org/drawingml/2006/main">
            <a:r>
              <a:t>本次讲解以用户提供的源材料为证据基础，报告及计算按当前修订条件重新组织。原始统计与公司披露来源继续保留，未来成本及折旧未披露部分明确作为情景。</a:t>
            </a:r>
          </a:p>
          <a:p xmlns:a="http://schemas.openxmlformats.org/drawingml/2006/main">
            <a:r>
              <a:t/>
            </a:r>
          </a:p>
          <a:p xmlns:a="http://schemas.openxmlformats.org/drawingml/2006/main">
            <a:r>
              <a:t>来源：报告参考文献[1]—[65]</a:t>
            </a:r>
          </a:p>
          <a:p xmlns:a="http://schemas.openxmlformats.org/drawingml/2006/main">
            <a:r>
              <a:t>神农集团投资者关系活动记录表（2025年9月5日半年度业绩说明会） https://dataclouds.cninfo.com.cn/shgonggao/2025/2025-09-05/cdb4532a8a3811f0a671fa163e39923a.pdf</a:t>
            </a:r>
          </a:p>
          <a:p xmlns:a="http://schemas.openxmlformats.org/drawingml/2006/main">
            <a:r>
              <a:t>神农集团投资者关系活动记录表（2022年8月8—12日） https://pdf.dfcfw.com/pdf/H22_AN202208121577151593_1.pdf</a:t>
            </a:r>
          </a:p>
          <a:p xmlns:a="http://schemas.openxmlformats.org/drawingml/2006/main">
            <a:r>
              <a:t>神农集团投资者关系活动记录表（2023年3月17日，回顾2022年） https://pdf.dfcfw.com/pdf/H22_AN202303171584342141_1.pdf</a:t>
            </a:r>
          </a:p>
          <a:p xmlns:a="http://schemas.openxmlformats.org/drawingml/2006/main">
            <a:r>
              <a:t>神农集团2025年年度报告 https://dataclouds.cninfo.com.cn/shgonggao/hsomarket/2026/20260424/2e29114d12604284a72be2eb49ebb1ae.PDF</a:t>
            </a:r>
          </a:p>
          <a:p xmlns:a="http://schemas.openxmlformats.org/drawingml/2006/main">
            <a:r>
              <a:t>神农集团投资者关系活动记录表（2026年1月16日） https://pdf.dfcfw.com/pdf/H22_AN202601161817755730_1.pdf</a:t>
            </a:r>
          </a:p>
          <a:p xmlns:a="http://schemas.openxmlformats.org/drawingml/2006/main">
            <a:r>
              <a:t>生猪价格下跌 利润大幅下降——我省2025年3月份生猪成本收益简析 https://zjic.zj.gov.cn/zkdt/rdzx/202504/t20250414_23381983.shtml</a:t>
            </a:r>
          </a:p>
          <a:p xmlns:a="http://schemas.openxmlformats.org/drawingml/2006/main">
            <a:r>
              <a:t>生猪价格大幅下跌 亏损面继续扩大——我省2025年9月份生猪成本收益简析 https://zjic.zj.gov.cn/ywdh/jjyx/202510/t20251021_23756198.shtml</a:t>
            </a:r>
          </a:p>
          <a:p xmlns:a="http://schemas.openxmlformats.org/drawingml/2006/main">
            <a:r>
              <a:t>生猪价格创新低 养殖效益严重亏损——我省2026年4月份生猪成本收益简析 https://zjic.zj.gov.cn/ywdh/jjyx/202605/t20260511_24070085.shtml</a:t>
            </a:r>
          </a:p>
          <a:p xmlns:a="http://schemas.openxmlformats.org/drawingml/2006/main">
            <a:r>
              <a:t>2025年沈阳市生猪养殖由盈转亏 https://fgw.shenyang.gov.cn/wjgz/cbdcjs/202601/t20260121_4974136.html</a:t>
            </a:r>
          </a:p>
          <a:p xmlns:a="http://schemas.openxmlformats.org/drawingml/2006/main">
            <a:r>
              <a:t>2026Q2畜禽养殖成本收益测算 https://xm.shandong.gov.cn/art/2026/8/4/art_101456_10354235.html?xxgkhide=1</a:t>
            </a:r>
          </a:p>
          <a:p xmlns:a="http://schemas.openxmlformats.org/drawingml/2006/main">
            <a:r>
              <a:t>2025Q1畜禽养殖成本收益测算 https://xm.shandong.gov.cn/art/2025/4/21/art_101456_10344337.html?xxgkhide=1</a:t>
            </a:r>
          </a:p>
          <a:p xmlns:a="http://schemas.openxmlformats.org/drawingml/2006/main">
            <a:r>
              <a:t>2025Q3畜禽养殖成本收益测算 https://xm.shandong.gov.cn/art/2025/11/3/art_101456_10348533.html?xxgkhide=1</a:t>
            </a:r>
          </a:p>
          <a:p xmlns:a="http://schemas.openxmlformats.org/drawingml/2006/main">
            <a:r>
              <a:t>神农集团投资者关系活动记录表（活动2025年4月28日，披露4月29日） https://pdf.dfcfw.com/pdf/H22_AN202504291664463319_1.pdf</a:t>
            </a:r>
          </a:p>
          <a:p xmlns:a="http://schemas.openxmlformats.org/drawingml/2006/main">
            <a:r>
              <a:t>2025年我国生猪产业形势回顾、存在问题与后期展望 https://www.zgxmzz.cn/paper/11661</a:t>
            </a:r>
          </a:p>
          <a:p xmlns:a="http://schemas.openxmlformats.org/drawingml/2006/main">
            <a:r>
              <a:t>投资者关系活动记录表2026-04 https://file.finance.sina.com.cn/211.154.219.97:9494/MRGG/CNSESZ_STOCK/2026/2026-4/2026-04-30/12291248.PDF</a:t>
            </a:r>
          </a:p>
          <a:p xmlns:a="http://schemas.openxmlformats.org/drawingml/2006/main">
            <a:r>
              <a:t>2026-01-16投资者关系活动记录表 https://dataclouds.cninfo.com.cn/shgonggao/investor/2026/20260116/40428da5461449f1832f317b850f26b9.PDF</a:t>
            </a:r>
          </a:p>
          <a:p xmlns:a="http://schemas.openxmlformats.org/drawingml/2006/main">
            <a:r>
              <a:t>2025 North America Year-End Benchmarking Summary https://www.pigchamp.com/Portals/0/Documents/Benchmarking%20Summaries/2025-benchmark-summaries-north-america-yr-end.pdf</a:t>
            </a:r>
          </a:p>
          <a:p xmlns:a="http://schemas.openxmlformats.org/drawingml/2006/main">
            <a:r>
              <a:t>InterPIG figures for2025 https://teagasc.ie/news--events/daily/interpig-figures-for-2025/</a:t>
            </a:r>
          </a:p>
          <a:p xmlns:a="http://schemas.openxmlformats.org/drawingml/2006/main">
            <a:r>
              <a:t>GT-Porc2024 Résultats principaux GTTT, édition2025 https://ifip.asso.fr/app/uploads/2025/07/livretgttt-2024_edition2025.pdf</a:t>
            </a:r>
          </a:p>
          <a:p xmlns:a="http://schemas.openxmlformats.org/drawingml/2006/main">
            <a:r>
              <a:t>Landsgennemsnit for produktivitet i produktionen af grise i 2025, Notat2608 https://www.landbrugsinfo.dk/-/media/landbrugsinfo/public/3/5/4/landsgennemsnit_produktion_grise_2025_notat_2608.pdf</a:t>
            </a:r>
          </a:p>
          <a:p xmlns:a="http://schemas.openxmlformats.org/drawingml/2006/main">
            <a:r>
              <a:t>DanBred delivers €5 per finisher https://danbred.com/press-releases/danbred-delivers-e5-per-finisher</a:t>
            </a:r>
          </a:p>
          <a:p xmlns:a="http://schemas.openxmlformats.org/drawingml/2006/main">
            <a:r>
              <a:t>生猪产能综合调控实施方案（2026年修订） https://www.hunan.gov.cn/zqt/zcsd/202605/t20260518_33979020.html</a:t>
            </a:r>
          </a:p>
          <a:p xmlns:a="http://schemas.openxmlformats.org/drawingml/2006/main">
            <a:r>
              <a:t>2015年1月份4000个监测点生猪存栏信息 https://www.nahs.org.cn/jchsjcm/xqsc/tjjcyj/scxs/201903/t20190313_338412.htm</a:t>
            </a:r>
          </a:p>
          <a:p xmlns:a="http://schemas.openxmlformats.org/drawingml/2006/main">
            <a:r>
              <a:t>2016年2月份4000个监测点生猪存栏信息 https://www.nahs.org.cn/jchsjcm/xqsc/tjjcyj/scxs/201903/t20190313_338399.htm</a:t>
            </a:r>
          </a:p>
          <a:p xmlns:a="http://schemas.openxmlformats.org/drawingml/2006/main">
            <a:r>
              <a:t>2015年3月全国畜产品和饲料价格情况 https://www.fx361.com/page/2015/0708/15515946.shtml</a:t>
            </a:r>
          </a:p>
          <a:p xmlns:a="http://schemas.openxmlformats.org/drawingml/2006/main">
            <a:r>
              <a:t>2016年5月全国畜产品和饲料价格情况 https://www.fx361.com/page/2016/0712/16019630.shtml</a:t>
            </a:r>
          </a:p>
          <a:p xmlns:a="http://schemas.openxmlformats.org/drawingml/2006/main">
            <a:r>
              <a:t>2018年1—3月份400个监测县生猪存栏信息 https://www.nahs.org.cn/jchsjcm/xqsc/tjjcyj/scxs/201903/t20190313_338344.htm</a:t>
            </a:r>
          </a:p>
          <a:p xmlns:a="http://schemas.openxmlformats.org/drawingml/2006/main">
            <a:r>
              <a:t>2019年9月份400个监测县生猪存栏信息 https://www.nahs.org.cn/jcyj/scxs/202001/t20200103_344565.htm</a:t>
            </a:r>
          </a:p>
          <a:p xmlns:a="http://schemas.openxmlformats.org/drawingml/2006/main">
            <a:r>
              <a:t>2018年5月全国畜产品和饲料价格情况 https://www.fx361.com/page/2018/0713/15189363.shtml</a:t>
            </a:r>
          </a:p>
          <a:p xmlns:a="http://schemas.openxmlformats.org/drawingml/2006/main">
            <a:r>
              <a:t>2020年9月全国畜产品和饲料价格情况 https://www.nahs.org.cn/jcyj/jghq/202010/t20201020_362908.htm</a:t>
            </a:r>
          </a:p>
          <a:p xmlns:a="http://schemas.openxmlformats.org/drawingml/2006/main">
            <a:r>
              <a:t>2020年8月全国畜产品和饲料价格情况 https://www.nahs.org.cn/jcyj/jghq/202009/t20200916_361165.htm</a:t>
            </a:r>
          </a:p>
          <a:p xmlns:a="http://schemas.openxmlformats.org/drawingml/2006/main">
            <a:r>
              <a:t>建立生猪产能逆周期调控机制—农业农村部答记者问 https://xmsyj.moa.gov.cn/zcjd/202108/t20210820_6374572.htm</a:t>
            </a:r>
          </a:p>
          <a:p xmlns:a="http://schemas.openxmlformats.org/drawingml/2006/main">
            <a:r>
              <a:t>2022-04五部门生猪产品月表 https://www.moa.gov.cn/ztzl/szcpxx/jdsj/2022/202204/</a:t>
            </a:r>
          </a:p>
          <a:p xmlns:a="http://schemas.openxmlformats.org/drawingml/2006/main">
            <a:r>
              <a:t>2022-03五部门生猪产品月表 https://www.moa.gov.cn/ztzl/szcpxx/jdsj/2022/202203/</a:t>
            </a:r>
          </a:p>
          <a:p xmlns:a="http://schemas.openxmlformats.org/drawingml/2006/main">
            <a:r>
              <a:t>2022-10五部门生猪产品月表 https://www.moa.gov.cn/ztzl/szcpxx/jdsj/2022/202210/</a:t>
            </a:r>
          </a:p>
          <a:p xmlns:a="http://schemas.openxmlformats.org/drawingml/2006/main">
            <a:r>
              <a:t>2022-12五部门生猪产品月表 https://www.moa.gov.cn/ztzl/szcpxx/jdsj/2022/202212/</a:t>
            </a:r>
          </a:p>
          <a:p xmlns:a="http://schemas.openxmlformats.org/drawingml/2006/main">
            <a:r>
              <a:t>2024-04五部门生猪产品月表 https://www.moa.gov.cn/ztzl/szcpxx/jdsj/2024/202404/</a:t>
            </a:r>
          </a:p>
          <a:p xmlns:a="http://schemas.openxmlformats.org/drawingml/2006/main">
            <a:r>
              <a:t>2023-07五部门生猪产品月表 https://www.moa.gov.cn/ztzl/szcpxx/jdsj/2023/202307/</a:t>
            </a:r>
          </a:p>
          <a:p xmlns:a="http://schemas.openxmlformats.org/drawingml/2006/main">
            <a:r>
              <a:t>2024-08五部门生猪产品月表 https://www.moa.gov.cn/ztzl/szcpxx/jdsj/2024/202408/</a:t>
            </a:r>
          </a:p>
          <a:p xmlns:a="http://schemas.openxmlformats.org/drawingml/2006/main">
            <a:r>
              <a:t>China’s Meat Consumption: Growth Potential, ERR-320 https://www.ers.usda.gov/media/9059/err-320.pdf?v=16878</a:t>
            </a:r>
          </a:p>
          <a:p xmlns:a="http://schemas.openxmlformats.org/drawingml/2006/main">
            <a:r>
              <a:t>牧原完全成本范围说明 https://static.cninfo.com.cn/finalpage/2024-03-08/1219258427.PDF</a:t>
            </a:r>
          </a:p>
          <a:p xmlns:a="http://schemas.openxmlformats.org/drawingml/2006/main">
            <a:r>
              <a:t>牧原2026年8月投资者关系记录 https://file.finance.sina.com.cn/211.154.219.97:9494/MRGG/CNSESZ_STOCK/2026/2026-8/2026-08-21/12513221.PDF</a:t>
            </a:r>
          </a:p>
          <a:p xmlns:a="http://schemas.openxmlformats.org/drawingml/2006/main">
            <a:r>
              <a:t>牧原2025年度报告 https://file.finance.sina.com.cn/211.154.219.97:9494/MRGG/CNSESZ_STOCK/2026/2026-3/2026-03-28/12029096.PDF</a:t>
            </a:r>
          </a:p>
          <a:p xmlns:a="http://schemas.openxmlformats.org/drawingml/2006/main">
            <a:r>
              <a:t>2015年牧原年度报告 https://static.cninfo.com.cn/finalpage/2016-02-25/1201997101.PDF</a:t>
            </a:r>
          </a:p>
          <a:p xmlns:a="http://schemas.openxmlformats.org/drawingml/2006/main">
            <a:r>
              <a:t>牧原2016年度报告 https://money.finance.sina.com.cn/corp/view/vCB_AllBulletinDetail.php?id=3317425&amp;stockid=002714</a:t>
            </a:r>
          </a:p>
          <a:p xmlns:a="http://schemas.openxmlformats.org/drawingml/2006/main">
            <a:r>
              <a:t>牧原2019年度报告摘要 https://static.cninfo.com.cn/finalpage/2020-02-27/1207325909.PDF</a:t>
            </a:r>
          </a:p>
          <a:p xmlns:a="http://schemas.openxmlformats.org/drawingml/2006/main">
            <a:r>
              <a:t>牧原2022年度报告摘要 https://static.cninfo.com.cn/finalpage/2023-04-28/1216647224.PDF</a:t>
            </a:r>
          </a:p>
          <a:p xmlns:a="http://schemas.openxmlformats.org/drawingml/2006/main">
            <a:r>
              <a:t>牧原2025年度报告摘要 https://static.cninfo.com.cn/finalpage/2026-03-28/1225042506.PDF</a:t>
            </a:r>
          </a:p>
          <a:p xmlns:a="http://schemas.openxmlformats.org/drawingml/2006/main">
            <a:r>
              <a:t>中华人民共和国2025年国民经济和社会发展统计公报 https://www.stats.gov.cn/sj/zxfbhjd/202602/t20260228_1962662.html</a:t>
            </a:r>
          </a:p>
          <a:p xmlns:a="http://schemas.openxmlformats.org/drawingml/2006/main">
            <a:r>
              <a:t>牧原股份2026年度跟踪评级报告 https://static.cninfo.com.cn/finalpage/2026-05-28/1225334235.PDF</a:t>
            </a:r>
          </a:p>
          <a:p xmlns:a="http://schemas.openxmlformats.org/drawingml/2006/main">
            <a:r>
              <a:t>The Fundamental Determinants of Growth https://pages.stern.nyu.edu/~adamodar/New_Home_Page/valquestions/growth.htm</a:t>
            </a:r>
          </a:p>
          <a:p xmlns:a="http://schemas.openxmlformats.org/drawingml/2006/main">
            <a:r>
              <a:t>2022 Census of Agriculture Highlights: Hogs and Pigs https://www.nass.usda.gov/Publications/Highlights/2024/Census22_HL_Hogs_Pigs.pdf</a:t>
            </a:r>
          </a:p>
          <a:p xmlns:a="http://schemas.openxmlformats.org/drawingml/2006/main">
            <a:r>
              <a:t>2022 Census of Agriculture, Table 1 Historical Highlights https://www.nass.usda.gov/Publications/AgCensus/2022/Full_Report/Volume_1,_Chapter_1_US/st99_1_001_001.pdf</a:t>
            </a:r>
          </a:p>
          <a:p xmlns:a="http://schemas.openxmlformats.org/drawingml/2006/main">
            <a:r>
              <a:t>Overview of the United States Slaughter Industry https://esmis.nal.usda.gov/sites/default/release-files/b5644r52v/jd473028z/7w62fc23r/SlauOverview-10-27-2016.pdf</a:t>
            </a:r>
          </a:p>
          <a:p xmlns:a="http://schemas.openxmlformats.org/drawingml/2006/main">
            <a:r>
              <a:t>Livestock Slaughter 2025 Summary https://esmis.nal.usda.gov/sites/default/release-files/795870/lsan0426.pdf</a:t>
            </a:r>
          </a:p>
          <a:p xmlns:a="http://schemas.openxmlformats.org/drawingml/2006/main">
            <a:r>
              <a:t>Livestock, Dairy, and Poultry Outlook: October 2026, LDP-M-388 https://www.ers.usda.gov/media/29753/ldp-m-388.pdf?v=63883</a:t>
            </a:r>
          </a:p>
          <a:p xmlns:a="http://schemas.openxmlformats.org/drawingml/2006/main">
            <a:r>
              <a:t>The U.S. Hog Industry: Structural Change, Production Systems and Costs, and Manure Management, ERR-361 https://www.ers.usda.gov/media/29249/err-361.pdf?v=25895</a:t>
            </a:r>
          </a:p>
          <a:p xmlns:a="http://schemas.openxmlformats.org/drawingml/2006/main">
            <a:r>
              <a:t>Smithfield Foods FY2025 Form 10-K https://investors.smithfieldfoods.com/sec-filings/sec-filings/content/0000091388-26-000014/smf-20251228.htm</a:t>
            </a:r>
          </a:p>
          <a:p xmlns:a="http://schemas.openxmlformats.org/drawingml/2006/main">
            <a:r>
              <a:t>2026年5月13日股东会投资者关系活动记录 https://file.finance.sina.com.cn/211.154.219.97:9494/MRGG/CNSESZ_STOCK/2026/2026-5/2026-05-14/12318530.PDF</a:t>
            </a:r>
          </a:p>
          <a:p xmlns:a="http://schemas.openxmlformats.org/drawingml/2006/main">
            <a:r>
              <a:t>2026年6月23日股东会投资者关系活动记录 https://static.cninfo.com.cn/finalpage/2026-06-24/1225384641.PDF</a:t>
            </a:r>
          </a:p>
          <a:p xmlns:a="http://schemas.openxmlformats.org/drawingml/2006/main">
            <a:r>
              <a:t>牧原股份2026年中期报告 https://www.hkexnews.hk/listedco/listconews/sehk/2026/0820/2026082000922.pdf</a:t>
            </a:r>
          </a:p>
          <a:p xmlns:a="http://schemas.openxmlformats.org/drawingml/2006/main">
            <a:r>
              <a:t>2026年8月全国畜产品和饲料价格情况 https://www.nahs.org.cn/jcyj/scxs/202609/t20260909_474345.htm</a:t>
            </a:r>
          </a:p>
          <a:p xmlns:a="http://schemas.openxmlformats.org/drawingml/2006/main">
            <a:r>
              <a:t>全国能繁母猪 2026-06 https://www.stats.gov.cn/sj/sjjd/202607/t20260716_1964140.html</a:t>
            </a:r>
          </a:p>
          <a:p xmlns:a="http://schemas.openxmlformats.org/drawingml/2006/main">
            <a:r>
              <a:t>全国能繁母猪 2026-09 https://www.stats.gov.cn/sj/sjjd/202610/t20261019_1965646.html</a:t>
            </a:r>
          </a:p>
          <a:p xmlns:a="http://schemas.openxmlformats.org/drawingml/2006/main">
            <a:r>
              <a:t>牧原2026年9月股本月报 https://file.finance.sina.com.cn/211.154.219.97:9494/MRGG/CNSESZ_STOCK/2026/2026-10/2026-10-09/12633519.PDF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ae51426a0648c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9f3fc722be94e4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4ab5324e2b2484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74d0e1cc0e34a2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ba90cdbb533442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6a932c2a6664b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E17DB5-2BC7-4EB7-AD63-FEF3FCE1807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B543F71-17A8-4486-A38A-AB70A0F8350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29947DE-A81F-439E-A917-B9CB89F901F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28E163-8F0B-493C-A9F6-300E2E8ACC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8A21F5F-E84E-4ACA-9FCA-4B4D733A3EF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C74C40F-70D8-4787-91A5-4C34183654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ACBFB4-9326-457C-8CBA-37CE130544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79A0034-9B5D-454A-8C77-0F8E72A77E6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1CA0FAA-6E06-4DE6-8EB2-900220A9B1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D82B641-E7F4-4E02-A596-E1CA8AA55D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45c39ec3324ec0" /><Relationship Type="http://schemas.openxmlformats.org/officeDocument/2006/relationships/slideLayout" Target="/ppt/slideLayouts/slideLayout1.xml" Id="Rd3fc70769ed54260" /><Relationship Type="http://schemas.openxmlformats.org/officeDocument/2006/relationships/slideLayout" Target="/ppt/slideLayouts/slideLayout2.xml" Id="R560dbe27c21546ab" /><Relationship Type="http://schemas.openxmlformats.org/officeDocument/2006/relationships/slideLayout" Target="/ppt/slideLayouts/slideLayout3.xml" Id="Rdafdd3f640c241a6" /><Relationship Type="http://schemas.openxmlformats.org/officeDocument/2006/relationships/slideLayout" Target="/ppt/slideLayouts/slideLayout4.xml" Id="R153dc4a79f7c4292" /><Relationship Type="http://schemas.openxmlformats.org/officeDocument/2006/relationships/slideLayout" Target="/ppt/slideLayouts/slideLayout5.xml" Id="R313957252c134cf6" /><Relationship Type="http://schemas.openxmlformats.org/officeDocument/2006/relationships/slideLayout" Target="/ppt/slideLayouts/slideLayout6.xml" Id="R982650c855a246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fc70769ed54260"/>
    <p:sldLayoutId xmlns:r="http://schemas.openxmlformats.org/officeDocument/2006/relationships" id="2147483650" r:id="R560dbe27c21546ab"/>
    <p:sldLayoutId xmlns:r="http://schemas.openxmlformats.org/officeDocument/2006/relationships" id="2147483651" r:id="Rdafdd3f640c241a6"/>
    <p:sldLayoutId xmlns:r="http://schemas.openxmlformats.org/officeDocument/2006/relationships" id="2147483652" r:id="R153dc4a79f7c4292"/>
    <p:sldLayoutId xmlns:r="http://schemas.openxmlformats.org/officeDocument/2006/relationships" id="2147483653" r:id="R313957252c134cf6"/>
    <p:sldLayoutId xmlns:r="http://schemas.openxmlformats.org/officeDocument/2006/relationships" id="2147483654" r:id="R982650c855a246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icrosoft YaHei"/>
        <a:ea typeface=""/>
        <a:cs typeface=""/>
      </a:majorFont>
      <a:minorFont>
        <a:latin typeface="Microsoft YaHe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dbdfaab0ec24ce8" /><Relationship Type="http://schemas.openxmlformats.org/officeDocument/2006/relationships/notesSlide" Target="/ppt/notesSlides/notesSlide1.xml" Id="Re8652bc8a86240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6e5adf51d1f45dd" /><Relationship Type="http://schemas.openxmlformats.org/officeDocument/2006/relationships/chart" Target="/ppt/slides/charts/chart1.xml" Id="R0e26cf905e9940da" /><Relationship Type="http://schemas.openxmlformats.org/officeDocument/2006/relationships/notesSlide" Target="/ppt/notesSlides/notesSlide2.xml" Id="Re63672535c4647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ff73c5fe05b4fb0" /><Relationship Type="http://schemas.openxmlformats.org/officeDocument/2006/relationships/notesSlide" Target="/ppt/notesSlides/notesSlide3.xml" Id="Ra6fe7091338e4c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24a59b998624e2e" /><Relationship Type="http://schemas.openxmlformats.org/officeDocument/2006/relationships/notesSlide" Target="/ppt/notesSlides/notesSlide4.xml" Id="Ra5d3233eeb134ff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b7d268a42b74542" /><Relationship Type="http://schemas.openxmlformats.org/officeDocument/2006/relationships/notesSlide" Target="/ppt/notesSlides/notesSlide5.xml" Id="R827f362af7ec49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91743dcec124fc2" /><Relationship Type="http://schemas.openxmlformats.org/officeDocument/2006/relationships/notesSlide" Target="/ppt/notesSlides/notesSlide6.xml" Id="R90f2139a18b943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24f376f549d4777" /><Relationship Type="http://schemas.openxmlformats.org/officeDocument/2006/relationships/chart" Target="/ppt/slides/charts/chart2.xml" Id="Rda9a7ba60ef74ab8" /><Relationship Type="http://schemas.openxmlformats.org/officeDocument/2006/relationships/notesSlide" Target="/ppt/notesSlides/notesSlide7.xml" Id="R522813b4d6fa4c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b47076903aa4522" /><Relationship Type="http://schemas.openxmlformats.org/officeDocument/2006/relationships/notesSlide" Target="/ppt/notesSlides/notesSlide8.xml" Id="R70f5345529aa4d1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1b5972519ed4383" /><Relationship Type="http://schemas.openxmlformats.org/officeDocument/2006/relationships/notesSlide" Target="/ppt/notesSlides/notesSlide9.xml" Id="R93810e60faf24a5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717a31d69de4188" /><Relationship Type="http://schemas.openxmlformats.org/officeDocument/2006/relationships/notesSlide" Target="/ppt/notesSlides/notesSlide10.xml" Id="R0ccc12494df740b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f5d51fb0c4e4f32" /><Relationship Type="http://schemas.openxmlformats.org/officeDocument/2006/relationships/notesSlide" Target="/ppt/notesSlides/notesSlide11.xml" Id="R96ffda3fa7bb44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3375a303d8f4bb8" /><Relationship Type="http://schemas.openxmlformats.org/officeDocument/2006/relationships/notesSlide" Target="/ppt/notesSlides/notesSlide12.xml" Id="R92a022f8710e41e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28c1a58469447aa" /><Relationship Type="http://schemas.openxmlformats.org/officeDocument/2006/relationships/notesSlide" Target="/ppt/notesSlides/notesSlide13.xml" Id="Rab9c5040a01944b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120e0a1afad4cde" /><Relationship Type="http://schemas.openxmlformats.org/officeDocument/2006/relationships/notesSlide" Target="/ppt/notesSlides/notesSlide14.xml" Id="Re6b39d575c0a482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b9d5ff49c954470" /><Relationship Type="http://schemas.openxmlformats.org/officeDocument/2006/relationships/notesSlide" Target="/ppt/notesSlides/notesSlide15.xml" Id="R0787b595da2c4c7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708c7ed0e3740be" /><Relationship Type="http://schemas.openxmlformats.org/officeDocument/2006/relationships/notesSlide" Target="/ppt/notesSlides/notesSlide16.xml" Id="R8895a1e88b16453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7bbeec9813b4091" /><Relationship Type="http://schemas.openxmlformats.org/officeDocument/2006/relationships/notesSlide" Target="/ppt/notesSlides/notesSlide17.xml" Id="R1414163002b5416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056adc627cc4cc9" /><Relationship Type="http://schemas.openxmlformats.org/officeDocument/2006/relationships/notesSlide" Target="/ppt/notesSlides/notesSlide18.xml" Id="Rc7751ca404ed410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b7d0b285b66424d" /><Relationship Type="http://schemas.openxmlformats.org/officeDocument/2006/relationships/notesSlide" Target="/ppt/notesSlides/notesSlide19.xml" Id="R44a6e9f44ec34f4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ab63d38f84f4909" /><Relationship Type="http://schemas.openxmlformats.org/officeDocument/2006/relationships/chart" Target="/ppt/slides/charts/chart3.xml" Id="R026e77ea80174046" /><Relationship Type="http://schemas.openxmlformats.org/officeDocument/2006/relationships/notesSlide" Target="/ppt/notesSlides/notesSlide20.xml" Id="R9197ab60e2f24fb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ace12cc5a784f40" /><Relationship Type="http://schemas.openxmlformats.org/officeDocument/2006/relationships/chart" Target="/ppt/slides/charts/chart4.xml" Id="R569f960475784598" /><Relationship Type="http://schemas.openxmlformats.org/officeDocument/2006/relationships/notesSlide" Target="/ppt/notesSlides/notesSlide21.xml" Id="R18718ff2e87c49d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954d2eb2ab04983" /><Relationship Type="http://schemas.openxmlformats.org/officeDocument/2006/relationships/notesSlide" Target="/ppt/notesSlides/notesSlide22.xml" Id="Rf14a68c171d9484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671b1eaf66e4f19" /><Relationship Type="http://schemas.openxmlformats.org/officeDocument/2006/relationships/notesSlide" Target="/ppt/notesSlides/notesSlide23.xml" Id="R6d9ed84618904c5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5cb9c5303324b01" /><Relationship Type="http://schemas.openxmlformats.org/officeDocument/2006/relationships/notesSlide" Target="/ppt/notesSlides/notesSlide24.xml" Id="R591a41929190462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f86dfd8c3d14661" /><Relationship Type="http://schemas.openxmlformats.org/officeDocument/2006/relationships/notesSlide" Target="/ppt/notesSlides/notesSlide25.xml" Id="R8083adc74e6241c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553a447ed0c492b" /><Relationship Type="http://schemas.openxmlformats.org/officeDocument/2006/relationships/notesSlide" Target="/ppt/notesSlides/notesSlide26.xml" Id="Re408f937701d43f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16d6771046f4288" /><Relationship Type="http://schemas.openxmlformats.org/officeDocument/2006/relationships/notesSlide" Target="/ppt/notesSlides/notesSlide27.xml" Id="R9eff325e86e84e5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9078f2fbafd476b" /><Relationship Type="http://schemas.openxmlformats.org/officeDocument/2006/relationships/notesSlide" Target="/ppt/notesSlides/notesSlide28.xml" Id="R50085406e141404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a563677b7894a7d" /><Relationship Type="http://schemas.openxmlformats.org/officeDocument/2006/relationships/notesSlide" Target="/ppt/notesSlides/notesSlide29.xml" Id="R2371ab460f3443c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1b582c8f06e45cb" /><Relationship Type="http://schemas.openxmlformats.org/officeDocument/2006/relationships/notesSlide" Target="/ppt/notesSlides/notesSlide30.xml" Id="R852522f79ea6467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08db7471f1748f2" /><Relationship Type="http://schemas.openxmlformats.org/officeDocument/2006/relationships/notesSlide" Target="/ppt/notesSlides/notesSlide31.xml" Id="R7a85f37ca6f4467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4e4dd680e064717" /><Relationship Type="http://schemas.openxmlformats.org/officeDocument/2006/relationships/notesSlide" Target="/ppt/notesSlides/notesSlide32.xml" Id="R92608166b4b4480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152155929fc408b" /><Relationship Type="http://schemas.openxmlformats.org/officeDocument/2006/relationships/notesSlide" Target="/ppt/notesSlides/notesSlide33.xml" Id="Rabf2f921937e4c1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e14b8ef59374bd2" /><Relationship Type="http://schemas.openxmlformats.org/officeDocument/2006/relationships/notesSlide" Target="/ppt/notesSlides/notesSlide34.xml" Id="R81c530c9a0a2411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3147967baf9e480a" /><Relationship Type="http://schemas.openxmlformats.org/officeDocument/2006/relationships/chart" Target="/ppt/slides/charts/chart5.xml" Id="R79c9a49522df4418" /><Relationship Type="http://schemas.openxmlformats.org/officeDocument/2006/relationships/notesSlide" Target="/ppt/notesSlides/notesSlide35.xml" Id="R18d52da15ab84e6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90750d7ec3974a5b" /><Relationship Type="http://schemas.openxmlformats.org/officeDocument/2006/relationships/chart" Target="/ppt/slides/charts/chart6.xml" Id="R474fd12368d64965" /><Relationship Type="http://schemas.openxmlformats.org/officeDocument/2006/relationships/notesSlide" Target="/ppt/notesSlides/notesSlide36.xml" Id="R165eba78bc6443d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994c7c702e54b6f" /><Relationship Type="http://schemas.openxmlformats.org/officeDocument/2006/relationships/notesSlide" Target="/ppt/notesSlides/notesSlide37.xml" Id="Ra65cf01a36a0480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fb5bc8cb681e429b" /><Relationship Type="http://schemas.openxmlformats.org/officeDocument/2006/relationships/notesSlide" Target="/ppt/notesSlides/notesSlide38.xml" Id="R5677d70a419f47b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0a359d735c15482f" /><Relationship Type="http://schemas.openxmlformats.org/officeDocument/2006/relationships/notesSlide" Target="/ppt/notesSlides/notesSlide39.xml" Id="Recb2f734a518462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1fcf17cb993f4cce" /><Relationship Type="http://schemas.openxmlformats.org/officeDocument/2006/relationships/notesSlide" Target="/ppt/notesSlides/notesSlide40.xml" Id="R1a13519dcec045b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7d4397af6924a5a" /><Relationship Type="http://schemas.openxmlformats.org/officeDocument/2006/relationships/notesSlide" Target="/ppt/notesSlides/notesSlide41.xml" Id="Rfb780b3359d9484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6e94e73f9f3849d1" /><Relationship Type="http://schemas.openxmlformats.org/officeDocument/2006/relationships/notesSlide" Target="/ppt/notesSlides/notesSlide42.xml" Id="R80755c87d90b41c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a13061349c61476f" /><Relationship Type="http://schemas.openxmlformats.org/officeDocument/2006/relationships/notesSlide" Target="/ppt/notesSlides/notesSlide43.xml" Id="Rf2433e79cf77464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afd017f0377a4eed" /><Relationship Type="http://schemas.openxmlformats.org/officeDocument/2006/relationships/notesSlide" Target="/ppt/notesSlides/notesSlide44.xml" Id="Rcfcce9a8fa3143f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ddb713242cb04197" /><Relationship Type="http://schemas.openxmlformats.org/officeDocument/2006/relationships/notesSlide" Target="/ppt/notesSlides/notesSlide45.xml" Id="Rea74eefa295e4bb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cd66b399b6214b30" /><Relationship Type="http://schemas.openxmlformats.org/officeDocument/2006/relationships/chart" Target="/ppt/slides/charts/chart7.xml" Id="R91b110f5ba224f61" /><Relationship Type="http://schemas.openxmlformats.org/officeDocument/2006/relationships/notesSlide" Target="/ppt/notesSlides/notesSlide46.xml" Id="Re1caf138f7f742c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4e8f7b854c6543fb" /><Relationship Type="http://schemas.openxmlformats.org/officeDocument/2006/relationships/chart" Target="/ppt/slides/charts/chart8.xml" Id="Rcfe7601c047f4695" /><Relationship Type="http://schemas.openxmlformats.org/officeDocument/2006/relationships/notesSlide" Target="/ppt/notesSlides/notesSlide47.xml" Id="R1e9cd4718e3041e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021e38dfd9e24ef1" /><Relationship Type="http://schemas.openxmlformats.org/officeDocument/2006/relationships/notesSlide" Target="/ppt/notesSlides/notesSlide48.xml" Id="Rde816d3af08240a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4e37ea5d7aab48b0" /><Relationship Type="http://schemas.openxmlformats.org/officeDocument/2006/relationships/notesSlide" Target="/ppt/notesSlides/notesSlide49.xml" Id="Rf6f0bbff9bf1447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d1d6fbdc16144d11" /><Relationship Type="http://schemas.openxmlformats.org/officeDocument/2006/relationships/notesSlide" Target="/ppt/notesSlides/notesSlide50.xml" Id="Reece70ef021e498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664048201d8744f2" /><Relationship Type="http://schemas.openxmlformats.org/officeDocument/2006/relationships/notesSlide" Target="/ppt/notesSlides/notesSlide51.xml" Id="R551ff1abdae54d2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c33a56105b844e39" /><Relationship Type="http://schemas.openxmlformats.org/officeDocument/2006/relationships/notesSlide" Target="/ppt/notesSlides/notesSlide52.xml" Id="Rbc2c0a0cb546412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69bf76441bdc4c6e" /><Relationship Type="http://schemas.openxmlformats.org/officeDocument/2006/relationships/notesSlide" Target="/ppt/notesSlides/notesSlide53.xml" Id="R8850144def974b65"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9a4a27a03b3b4023" /><Relationship Type="http://schemas.openxmlformats.org/officeDocument/2006/relationships/notesSlide" Target="/ppt/notesSlides/notesSlide54.xml" Id="R1688c83a34714d2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237a9104fa0442fd" /><Relationship Type="http://schemas.openxmlformats.org/officeDocument/2006/relationships/notesSlide" Target="/ppt/notesSlides/notesSlide55.xml" Id="R33aff8821baf4217" /></Relationships>
</file>

<file path=ppt/slides/charts/chart1.xml><?xml version="1.0" encoding="utf-8"?>
<c:chartSpace xmlns:c="http://schemas.openxmlformats.org/drawingml/2006/chart">
  <c:lang val="en-US"/>
  <c:chart>
    <c:plotArea>
      <c:barChart>
        <c:barDir val="col"/>
        <c:grouping val="clustered"/>
        <c:varyColors val="0"/>
        <c:ser>
          <c:idx val="0"/>
          <c:order val="0"/>
          <c:tx>
            <c:v>元/头</c:v>
          </c:tx>
          <c:spPr>
            <a:solidFill xmlns:a="http://schemas.openxmlformats.org/drawingml/2006/main">
              <a:srgbClr val="087F80"/>
            </a:solidFill>
            <a:ln xmlns:a="http://schemas.openxmlformats.org/drawingml/2006/main" w="28575">
              <a:solidFill>
                <a:srgbClr val="087F80"/>
              </a:solidFill>
            </a:ln>
          </c:spPr>
          <c:invertIfNegative val="0"/>
          <c:cat>
            <c:strLit>
              <c:ptCount val="6"/>
              <c:pt idx="0">
                <c:v>仔猪</c:v>
              </c:pt>
              <c:pt idx="1">
                <c:v>饲料</c:v>
              </c:pt>
              <c:pt idx="2">
                <c:v>动保</c:v>
              </c:pt>
              <c:pt idx="3">
                <c:v>人工</c:v>
              </c:pt>
              <c:pt idx="4">
                <c:v>折旧</c:v>
              </c:pt>
              <c:pt idx="5">
                <c:v>总部</c:v>
              </c:pt>
            </c:strLit>
          </c:cat>
          <c:val>
            <c:numLit>
              <c:formatCode>0.0</c:formatCode>
              <c:ptCount val="6"/>
              <c:pt idx="0">
                <c:v>348</c:v>
              </c:pt>
              <c:pt idx="1">
                <c:v>804</c:v>
              </c:pt>
              <c:pt idx="2">
                <c:v>36</c:v>
              </c:pt>
              <c:pt idx="3">
                <c:v>180</c:v>
              </c:pt>
              <c:pt idx="4">
                <c:v>24</c:v>
              </c:pt>
              <c:pt idx="5">
                <c:v>96</c:v>
              </c:pt>
            </c:numLit>
          </c:val>
        </c:ser>
        <c:dLbls>
          <c:numFmt formatCode="0.00" sourceLinked="0"/>
          <c:txPr>
            <a:bodyPr xmlns:a="http://schemas.openxmlformats.org/drawingml/2006/main" anchorCtr="1"/>
            <a:lstStyle xmlns:a="http://schemas.openxmlformats.org/drawingml/2006/main"/>
            <a:p xmlns:a="http://schemas.openxmlformats.org/drawingml/2006/main">
              <a:pPr>
                <a:defRPr sz="1425">
                  <a:solidFill>
                    <a:srgbClr val="102C3A"/>
                  </a:solidFil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CD9DE"/>
            </a:solidFill>
          </a:ln>
        </c:spPr>
        <c:txPr>
          <a:bodyPr xmlns:a="http://schemas.openxmlformats.org/drawingml/2006/main" anchorCtr="1"/>
          <a:lstStyle xmlns:a="http://schemas.openxmlformats.org/drawingml/2006/main"/>
          <a:p xmlns:a="http://schemas.openxmlformats.org/drawingml/2006/main">
            <a:pPr>
              <a:defRPr sz="1500">
                <a:solidFill>
                  <a:srgbClr val="102C3A"/>
                </a:solidFill>
              </a:defRPr>
            </a:pPr>
          </a:p>
        </c:txPr>
        <c:crossAx val="48672768"/>
      </c:catAx>
      <c:valAx>
        <c:axId val="48672768"/>
        <c:scaling>
          <c:orientation val="minMax"/>
          <c:min val="0"/>
        </c:scaling>
        <c:delete val="0"/>
        <c:axPos val="l"/>
        <c:majorGridlines>
          <c:spPr>
            <a:ln xmlns:a="http://schemas.openxmlformats.org/drawingml/2006/main" w="9525">
              <a:solidFill>
                <a:srgbClr val="CCD9DE"/>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4A6271"/>
                </a:solidFill>
              </a:defRPr>
            </a:pPr>
          </a:p>
        </c:txPr>
        <c:crossAx val="48650112"/>
        <c:crossBetween val="between"/>
      </c:valAx>
      <c:spPr>
        <a:solidFill xmlns:a="http://schemas.openxmlformats.org/drawingml/2006/main">
          <a:srgbClr val="F8FAFC"/>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02C3A"/>
              </a:solidFill>
            </a:defRPr>
          </a:pPr>
        </a:p>
      </c:txPr>
    </c:legend>
    <c:plotVisOnly val="1"/>
  </c:chart>
  <c:spPr>
    <a:solidFill xmlns:a="http://schemas.openxmlformats.org/drawingml/2006/main">
      <a:srgbClr val="F8FAFC"/>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完全成本 元/kg</c:v>
          </c:tx>
          <c:spPr>
            <a:solidFill xmlns:a="http://schemas.openxmlformats.org/drawingml/2006/main">
              <a:srgbClr val="087F80"/>
            </a:solidFill>
            <a:ln xmlns:a="http://schemas.openxmlformats.org/drawingml/2006/main" w="28575">
              <a:solidFill>
                <a:srgbClr val="087F80"/>
              </a:solidFill>
            </a:ln>
          </c:spPr>
          <c:invertIfNegative val="0"/>
          <c:cat>
            <c:strLit>
              <c:ptCount val="5"/>
              <c:pt idx="0">
                <c:v>A</c:v>
              </c:pt>
              <c:pt idx="1">
                <c:v>B</c:v>
              </c:pt>
              <c:pt idx="2">
                <c:v>C</c:v>
              </c:pt>
              <c:pt idx="3">
                <c:v>D</c:v>
              </c:pt>
              <c:pt idx="4">
                <c:v>E</c:v>
              </c:pt>
            </c:strLit>
          </c:cat>
          <c:val>
            <c:numLit>
              <c:formatCode>0.0</c:formatCode>
              <c:ptCount val="5"/>
              <c:pt idx="0">
                <c:v>11.83</c:v>
              </c:pt>
              <c:pt idx="1">
                <c:v>12.4</c:v>
              </c:pt>
              <c:pt idx="2">
                <c:v>13.69</c:v>
              </c:pt>
              <c:pt idx="3">
                <c:v>15.26</c:v>
              </c:pt>
              <c:pt idx="4">
                <c:v>17.58</c:v>
              </c:pt>
            </c:numLit>
          </c:val>
        </c:ser>
        <c:dLbls>
          <c:numFmt formatCode="0.00" sourceLinked="0"/>
          <c:txPr>
            <a:bodyPr xmlns:a="http://schemas.openxmlformats.org/drawingml/2006/main" anchorCtr="1"/>
            <a:lstStyle xmlns:a="http://schemas.openxmlformats.org/drawingml/2006/main"/>
            <a:p xmlns:a="http://schemas.openxmlformats.org/drawingml/2006/main">
              <a:pPr>
                <a:defRPr sz="1425">
                  <a:solidFill>
                    <a:srgbClr val="102C3A"/>
                  </a:solidFil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CD9DE"/>
            </a:solidFill>
          </a:ln>
        </c:spPr>
        <c:txPr>
          <a:bodyPr xmlns:a="http://schemas.openxmlformats.org/drawingml/2006/main" anchorCtr="1"/>
          <a:lstStyle xmlns:a="http://schemas.openxmlformats.org/drawingml/2006/main"/>
          <a:p xmlns:a="http://schemas.openxmlformats.org/drawingml/2006/main">
            <a:pPr>
              <a:defRPr sz="1500">
                <a:solidFill>
                  <a:srgbClr val="102C3A"/>
                </a:solidFill>
              </a:defRPr>
            </a:pPr>
          </a:p>
        </c:txPr>
        <c:crossAx val="48672768"/>
      </c:catAx>
      <c:valAx>
        <c:axId val="48672768"/>
        <c:scaling>
          <c:orientation val="minMax"/>
          <c:min val="0"/>
        </c:scaling>
        <c:delete val="0"/>
        <c:axPos val="l"/>
        <c:majorGridlines>
          <c:spPr>
            <a:ln xmlns:a="http://schemas.openxmlformats.org/drawingml/2006/main" w="9525">
              <a:solidFill>
                <a:srgbClr val="CCD9DE"/>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4A6271"/>
                </a:solidFill>
              </a:defRPr>
            </a:pPr>
          </a:p>
        </c:txPr>
        <c:crossAx val="48650112"/>
        <c:crossBetween val="between"/>
      </c:valAx>
      <c:spPr>
        <a:solidFill xmlns:a="http://schemas.openxmlformats.org/drawingml/2006/main">
          <a:srgbClr val="F8FAFC"/>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02C3A"/>
              </a:solidFill>
            </a:defRPr>
          </a:pPr>
        </a:p>
      </c:txPr>
    </c:legend>
    <c:plotVisOnly val="1"/>
  </c:chart>
  <c:spPr>
    <a:solidFill xmlns:a="http://schemas.openxmlformats.org/drawingml/2006/main">
      <a:srgbClr val="F8FAFC"/>
    </a:solidFill>
  </c:spPr>
</c:chartSpace>
</file>

<file path=ppt/slides/charts/chart3.xml><?xml version="1.0" encoding="utf-8"?>
<c:chartSpace xmlns:c="http://schemas.openxmlformats.org/drawingml/2006/chart">
  <c:lang val="en-US"/>
  <c:chart>
    <c:plotArea>
      <c:lineChart>
        <c:grouping val="standard"/>
        <c:varyColors val="0"/>
        <c:ser>
          <c:idx val="0"/>
          <c:order val="0"/>
          <c:tx>
            <c:v>模型月均价 元/kg</c:v>
          </c:tx>
          <c:spPr>
            <a:solidFill xmlns:a="http://schemas.openxmlformats.org/drawingml/2006/main">
              <a:srgbClr val="087F80"/>
            </a:solidFill>
            <a:ln xmlns:a="http://schemas.openxmlformats.org/drawingml/2006/main" w="28575">
              <a:solidFill>
                <a:srgbClr val="087F80"/>
              </a:solidFill>
            </a:ln>
          </c:spPr>
          <c:marker>
            <c:symbol val="none"/>
          </c:marker>
          <c:cat>
            <c:strLit>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Lit>
          </c:cat>
          <c:val>
            <c:numLit>
              <c:formatCode>0.0</c:formatCode>
              <c:ptCount val="12"/>
              <c:pt idx="0">
                <c:v>11.7023</c:v>
              </c:pt>
              <c:pt idx="1">
                <c:v>12.0416</c:v>
              </c:pt>
              <c:pt idx="2">
                <c:v>12.3935</c:v>
              </c:pt>
              <c:pt idx="3">
                <c:v>12.7588</c:v>
              </c:pt>
              <c:pt idx="4">
                <c:v>13.3608</c:v>
              </c:pt>
              <c:pt idx="5">
                <c:v>13.9966</c:v>
              </c:pt>
              <c:pt idx="6">
                <c:v>14.6686</c:v>
              </c:pt>
              <c:pt idx="7">
                <c:v>15.3389</c:v>
              </c:pt>
              <c:pt idx="8">
                <c:v>16.0467</c:v>
              </c:pt>
              <c:pt idx="9">
                <c:v>16.7949</c:v>
              </c:pt>
              <c:pt idx="10">
                <c:v>16.6531</c:v>
              </c:pt>
              <c:pt idx="11">
                <c:v>16.5129</c:v>
              </c:pt>
            </c:numLit>
          </c:val>
          <c:smooth val="0"/>
        </c:ser>
        <c:dLbls>
          <c:numFmt formatCode="0.00" sourceLinked="0"/>
          <c:txPr>
            <a:bodyPr xmlns:a="http://schemas.openxmlformats.org/drawingml/2006/main" anchorCtr="1"/>
            <a:lstStyle xmlns:a="http://schemas.openxmlformats.org/drawingml/2006/main"/>
            <a:p xmlns:a="http://schemas.openxmlformats.org/drawingml/2006/main">
              <a:pPr>
                <a:defRPr sz="1425">
                  <a:solidFill>
                    <a:srgbClr val="102C3A"/>
                  </a:solidFil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CD9DE"/>
            </a:solidFill>
          </a:ln>
        </c:spPr>
        <c:txPr>
          <a:bodyPr xmlns:a="http://schemas.openxmlformats.org/drawingml/2006/main" anchorCtr="1"/>
          <a:lstStyle xmlns:a="http://schemas.openxmlformats.org/drawingml/2006/main"/>
          <a:p xmlns:a="http://schemas.openxmlformats.org/drawingml/2006/main">
            <a:pPr>
              <a:defRPr sz="1350">
                <a:solidFill>
                  <a:srgbClr val="102C3A"/>
                </a:solidFill>
              </a:defRPr>
            </a:pPr>
          </a:p>
        </c:txPr>
        <c:crossAx val="48672768"/>
      </c:catAx>
      <c:valAx>
        <c:axId val="48672768"/>
        <c:scaling>
          <c:orientation val="minMax"/>
          <c:min val="0"/>
        </c:scaling>
        <c:delete val="0"/>
        <c:axPos val="l"/>
        <c:majorGridlines>
          <c:spPr>
            <a:ln xmlns:a="http://schemas.openxmlformats.org/drawingml/2006/main" w="9525">
              <a:solidFill>
                <a:srgbClr val="CCD9DE"/>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4A6271"/>
                </a:solidFill>
              </a:defRPr>
            </a:pPr>
          </a:p>
        </c:txPr>
        <c:crossAx val="48650112"/>
        <c:crossBetween val="between"/>
      </c:valAx>
      <c:spPr>
        <a:solidFill xmlns:a="http://schemas.openxmlformats.org/drawingml/2006/main">
          <a:srgbClr val="F8FAFC"/>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02C3A"/>
              </a:solidFill>
            </a:defRPr>
          </a:pPr>
        </a:p>
      </c:txPr>
    </c:legend>
    <c:plotVisOnly val="1"/>
  </c:chart>
  <c:spPr>
    <a:solidFill xmlns:a="http://schemas.openxmlformats.org/drawingml/2006/main">
      <a:srgbClr val="F8FAFC"/>
    </a:solidFill>
  </c:spPr>
</c:chartSpace>
</file>

<file path=ppt/slides/charts/chart4.xml><?xml version="1.0" encoding="utf-8"?>
<c:chartSpace xmlns:c="http://schemas.openxmlformats.org/drawingml/2006/chart">
  <c:lang val="en-US"/>
  <c:chart>
    <c:plotArea>
      <c:lineChart>
        <c:grouping val="standard"/>
        <c:varyColors val="0"/>
        <c:ser>
          <c:idx val="0"/>
          <c:order val="0"/>
          <c:tx>
            <c:v>Q4停止去化</c:v>
          </c:tx>
          <c:spPr>
            <a:solidFill xmlns:a="http://schemas.openxmlformats.org/drawingml/2006/main">
              <a:srgbClr val="087F80"/>
            </a:solidFill>
            <a:ln xmlns:a="http://schemas.openxmlformats.org/drawingml/2006/main" w="28575">
              <a:solidFill>
                <a:srgbClr val="087F80"/>
              </a:solidFill>
            </a:ln>
          </c:spPr>
          <c:marker>
            <c:symbol val="none"/>
          </c:marker>
          <c:cat>
            <c:strLit>
              <c:ptCount val="4"/>
              <c:pt idx="0">
                <c:v>Q1</c:v>
              </c:pt>
              <c:pt idx="1">
                <c:v>Q2</c:v>
              </c:pt>
              <c:pt idx="2">
                <c:v>Q3</c:v>
              </c:pt>
              <c:pt idx="3">
                <c:v>Q4</c:v>
              </c:pt>
            </c:strLit>
          </c:cat>
          <c:val>
            <c:numLit>
              <c:formatCode>0.0</c:formatCode>
              <c:ptCount val="4"/>
              <c:pt idx="0">
                <c:v>12.05</c:v>
              </c:pt>
              <c:pt idx="1">
                <c:v>13.37</c:v>
              </c:pt>
              <c:pt idx="2">
                <c:v>14.54</c:v>
              </c:pt>
              <c:pt idx="3">
                <c:v>14.16</c:v>
              </c:pt>
            </c:numLit>
          </c:val>
          <c:smooth val="0"/>
        </c:ser>
        <c:ser>
          <c:idx val="1"/>
          <c:order val="1"/>
          <c:tx>
            <c:v>Q4延续Q3比例</c:v>
          </c:tx>
          <c:spPr>
            <a:solidFill xmlns:a="http://schemas.openxmlformats.org/drawingml/2006/main">
              <a:srgbClr val="A16207"/>
            </a:solidFill>
            <a:ln xmlns:a="http://schemas.openxmlformats.org/drawingml/2006/main" w="28575">
              <a:solidFill>
                <a:srgbClr val="A16207"/>
              </a:solidFill>
            </a:ln>
          </c:spPr>
          <c:marker>
            <c:symbol val="none"/>
          </c:marker>
          <c:cat>
            <c:strLit>
              <c:ptCount val="4"/>
              <c:pt idx="0">
                <c:v>Q1</c:v>
              </c:pt>
              <c:pt idx="1">
                <c:v>Q2</c:v>
              </c:pt>
              <c:pt idx="2">
                <c:v>Q3</c:v>
              </c:pt>
              <c:pt idx="3">
                <c:v>Q4</c:v>
              </c:pt>
            </c:strLit>
          </c:cat>
          <c:val>
            <c:numLit>
              <c:formatCode>0.0</c:formatCode>
              <c:ptCount val="4"/>
              <c:pt idx="0">
                <c:v>12.05</c:v>
              </c:pt>
              <c:pt idx="1">
                <c:v>13.37</c:v>
              </c:pt>
              <c:pt idx="2">
                <c:v>15.35</c:v>
              </c:pt>
              <c:pt idx="3">
                <c:v>16.65</c:v>
              </c:pt>
            </c:numLit>
          </c:val>
          <c:smooth val="0"/>
        </c:ser>
        <c:ser>
          <c:idx val="2"/>
          <c:order val="2"/>
          <c:tx>
            <c:v>Q4去化比例翻倍</c:v>
          </c:tx>
          <c:spPr>
            <a:solidFill xmlns:a="http://schemas.openxmlformats.org/drawingml/2006/main">
              <a:srgbClr val="567B9F"/>
            </a:solidFill>
            <a:ln xmlns:a="http://schemas.openxmlformats.org/drawingml/2006/main" w="28575">
              <a:solidFill>
                <a:srgbClr val="567B9F"/>
              </a:solidFill>
            </a:ln>
          </c:spPr>
          <c:marker>
            <c:symbol val="none"/>
          </c:marker>
          <c:cat>
            <c:strLit>
              <c:ptCount val="4"/>
              <c:pt idx="0">
                <c:v>Q1</c:v>
              </c:pt>
              <c:pt idx="1">
                <c:v>Q2</c:v>
              </c:pt>
              <c:pt idx="2">
                <c:v>Q3</c:v>
              </c:pt>
              <c:pt idx="3">
                <c:v>Q4</c:v>
              </c:pt>
            </c:strLit>
          </c:cat>
          <c:val>
            <c:numLit>
              <c:formatCode>0.0</c:formatCode>
              <c:ptCount val="4"/>
              <c:pt idx="0">
                <c:v>12.05</c:v>
              </c:pt>
              <c:pt idx="1">
                <c:v>13.37</c:v>
              </c:pt>
              <c:pt idx="2">
                <c:v>16.25</c:v>
              </c:pt>
              <c:pt idx="3">
                <c:v>19.63</c:v>
              </c:pt>
            </c:numLit>
          </c:val>
          <c:smooth val="0"/>
        </c:ser>
        <c:dLbls>
          <c:numFmt formatCode="0.00" sourceLinked="0"/>
          <c:txPr>
            <a:bodyPr xmlns:a="http://schemas.openxmlformats.org/drawingml/2006/main" anchorCtr="1"/>
            <a:lstStyle xmlns:a="http://schemas.openxmlformats.org/drawingml/2006/main"/>
            <a:p xmlns:a="http://schemas.openxmlformats.org/drawingml/2006/main">
              <a:pPr>
                <a:defRPr sz="1425">
                  <a:solidFill>
                    <a:srgbClr val="102C3A"/>
                  </a:solidFil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CD9DE"/>
            </a:solidFill>
          </a:ln>
        </c:spPr>
        <c:txPr>
          <a:bodyPr xmlns:a="http://schemas.openxmlformats.org/drawingml/2006/main" anchorCtr="1"/>
          <a:lstStyle xmlns:a="http://schemas.openxmlformats.org/drawingml/2006/main"/>
          <a:p xmlns:a="http://schemas.openxmlformats.org/drawingml/2006/main">
            <a:pPr>
              <a:defRPr sz="1500">
                <a:solidFill>
                  <a:srgbClr val="102C3A"/>
                </a:solidFill>
              </a:defRPr>
            </a:pPr>
          </a:p>
        </c:txPr>
        <c:crossAx val="48672768"/>
      </c:catAx>
      <c:valAx>
        <c:axId val="48672768"/>
        <c:scaling>
          <c:orientation val="minMax"/>
          <c:min val="0"/>
        </c:scaling>
        <c:delete val="0"/>
        <c:axPos val="l"/>
        <c:majorGridlines>
          <c:spPr>
            <a:ln xmlns:a="http://schemas.openxmlformats.org/drawingml/2006/main" w="9525">
              <a:solidFill>
                <a:srgbClr val="CCD9DE"/>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4A6271"/>
                </a:solidFill>
              </a:defRPr>
            </a:pPr>
          </a:p>
        </c:txPr>
        <c:crossAx val="48650112"/>
        <c:crossBetween val="between"/>
      </c:valAx>
      <c:spPr>
        <a:solidFill xmlns:a="http://schemas.openxmlformats.org/drawingml/2006/main">
          <a:srgbClr val="F8FAFC"/>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02C3A"/>
              </a:solidFill>
            </a:defRPr>
          </a:pPr>
        </a:p>
      </c:txPr>
    </c:legend>
    <c:plotVisOnly val="1"/>
  </c:chart>
  <c:spPr>
    <a:solidFill xmlns:a="http://schemas.openxmlformats.org/drawingml/2006/main">
      <a:srgbClr val="F8FAFC"/>
    </a:solidFill>
  </c:spPr>
</c:chartSpace>
</file>

<file path=ppt/slides/charts/chart5.xml><?xml version="1.0" encoding="utf-8"?>
<c:chartSpace xmlns:c="http://schemas.openxmlformats.org/drawingml/2006/chart">
  <c:lang val="en-US"/>
  <c:chart>
    <c:plotArea>
      <c:barChart>
        <c:barDir val="col"/>
        <c:grouping val="clustered"/>
        <c:varyColors val="0"/>
        <c:ser>
          <c:idx val="0"/>
          <c:order val="0"/>
          <c:tx>
            <c:v>演示归属利润 亿元</c:v>
          </c:tx>
          <c:spPr>
            <a:solidFill xmlns:a="http://schemas.openxmlformats.org/drawingml/2006/main">
              <a:srgbClr val="087F80"/>
            </a:solidFill>
            <a:ln xmlns:a="http://schemas.openxmlformats.org/drawingml/2006/main" w="28575">
              <a:solidFill>
                <a:srgbClr val="087F80"/>
              </a:solidFill>
            </a:ln>
          </c:spPr>
          <c:invertIfNegative val="0"/>
          <c:cat>
            <c:strLit>
              <c:ptCount val="4"/>
              <c:pt idx="0">
                <c:v>Q1</c:v>
              </c:pt>
              <c:pt idx="1">
                <c:v>Q2</c:v>
              </c:pt>
              <c:pt idx="2">
                <c:v>Q3</c:v>
              </c:pt>
              <c:pt idx="3">
                <c:v>Q4</c:v>
              </c:pt>
            </c:strLit>
          </c:cat>
          <c:val>
            <c:numLit>
              <c:formatCode>0.0</c:formatCode>
              <c:ptCount val="4"/>
              <c:pt idx="0">
                <c:v>5.6</c:v>
              </c:pt>
              <c:pt idx="1">
                <c:v>35.84</c:v>
              </c:pt>
              <c:pt idx="2">
                <c:v>80.97</c:v>
              </c:pt>
              <c:pt idx="3">
                <c:v>110.66</c:v>
              </c:pt>
            </c:numLit>
          </c:val>
        </c:ser>
        <c:dLbls>
          <c:numFmt formatCode="0.00" sourceLinked="0"/>
          <c:txPr>
            <a:bodyPr xmlns:a="http://schemas.openxmlformats.org/drawingml/2006/main" anchorCtr="1"/>
            <a:lstStyle xmlns:a="http://schemas.openxmlformats.org/drawingml/2006/main"/>
            <a:p xmlns:a="http://schemas.openxmlformats.org/drawingml/2006/main">
              <a:pPr>
                <a:defRPr sz="1425">
                  <a:solidFill>
                    <a:srgbClr val="102C3A"/>
                  </a:solidFil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CD9DE"/>
            </a:solidFill>
          </a:ln>
        </c:spPr>
        <c:txPr>
          <a:bodyPr xmlns:a="http://schemas.openxmlformats.org/drawingml/2006/main" anchorCtr="1"/>
          <a:lstStyle xmlns:a="http://schemas.openxmlformats.org/drawingml/2006/main"/>
          <a:p xmlns:a="http://schemas.openxmlformats.org/drawingml/2006/main">
            <a:pPr>
              <a:defRPr sz="1500">
                <a:solidFill>
                  <a:srgbClr val="102C3A"/>
                </a:solidFill>
              </a:defRPr>
            </a:pPr>
          </a:p>
        </c:txPr>
        <c:crossAx val="48672768"/>
      </c:catAx>
      <c:valAx>
        <c:axId val="48672768"/>
        <c:scaling>
          <c:orientation val="minMax"/>
          <c:min val="0"/>
        </c:scaling>
        <c:delete val="0"/>
        <c:axPos val="l"/>
        <c:majorGridlines>
          <c:spPr>
            <a:ln xmlns:a="http://schemas.openxmlformats.org/drawingml/2006/main" w="9525">
              <a:solidFill>
                <a:srgbClr val="CCD9DE"/>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4A6271"/>
                </a:solidFill>
              </a:defRPr>
            </a:pPr>
          </a:p>
        </c:txPr>
        <c:crossAx val="48650112"/>
        <c:crossBetween val="between"/>
      </c:valAx>
      <c:spPr>
        <a:solidFill xmlns:a="http://schemas.openxmlformats.org/drawingml/2006/main">
          <a:srgbClr val="F8FAFC"/>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02C3A"/>
              </a:solidFill>
            </a:defRPr>
          </a:pPr>
        </a:p>
      </c:txPr>
    </c:legend>
    <c:plotVisOnly val="1"/>
  </c:chart>
  <c:spPr>
    <a:solidFill xmlns:a="http://schemas.openxmlformats.org/drawingml/2006/main">
      <a:srgbClr val="F8FAFC"/>
    </a:solidFill>
  </c:spPr>
</c:chartSpace>
</file>

<file path=ppt/slides/charts/chart6.xml><?xml version="1.0" encoding="utf-8"?>
<c:chartSpace xmlns:c="http://schemas.openxmlformats.org/drawingml/2006/chart">
  <c:lang val="en-US"/>
  <c:chart>
    <c:plotArea>
      <c:lineChart>
        <c:grouping val="standard"/>
        <c:varyColors val="0"/>
        <c:ser>
          <c:idx val="0"/>
          <c:order val="0"/>
          <c:tx>
            <c:v>商品猪销量 万头</c:v>
          </c:tx>
          <c:spPr>
            <a:solidFill xmlns:a="http://schemas.openxmlformats.org/drawingml/2006/main">
              <a:srgbClr val="087F80"/>
            </a:solidFill>
            <a:ln xmlns:a="http://schemas.openxmlformats.org/drawingml/2006/main" w="28575">
              <a:solidFill>
                <a:srgbClr val="087F80"/>
              </a:solidFill>
            </a:ln>
          </c:spPr>
          <c:marker>
            <c:symbol val="none"/>
          </c:marker>
          <c:cat>
            <c:numLit>
              <c:formatCode>General</c:formatCode>
              <c:ptCount val="10"/>
              <c:pt idx="0">
                <c:v>2016</c:v>
              </c:pt>
              <c:pt idx="1">
                <c:v>2017</c:v>
              </c:pt>
              <c:pt idx="2">
                <c:v>2018</c:v>
              </c:pt>
              <c:pt idx="3">
                <c:v>2019</c:v>
              </c:pt>
              <c:pt idx="4">
                <c:v>2020</c:v>
              </c:pt>
              <c:pt idx="5">
                <c:v>2021</c:v>
              </c:pt>
              <c:pt idx="6">
                <c:v>2022</c:v>
              </c:pt>
              <c:pt idx="7">
                <c:v>2023</c:v>
              </c:pt>
              <c:pt idx="8">
                <c:v>2024</c:v>
              </c:pt>
              <c:pt idx="9">
                <c:v>2025</c:v>
              </c:pt>
            </c:numLit>
          </c:cat>
          <c:val>
            <c:numLit>
              <c:formatCode>0.0</c:formatCode>
              <c:ptCount val="10"/>
              <c:pt idx="0">
                <c:v>222.84</c:v>
              </c:pt>
              <c:pt idx="1">
                <c:v>524.32</c:v>
              </c:pt>
              <c:pt idx="2">
                <c:v>1010.9</c:v>
              </c:pt>
              <c:pt idx="3">
                <c:v>867.91</c:v>
              </c:pt>
              <c:pt idx="4">
                <c:v>1152.4</c:v>
              </c:pt>
              <c:pt idx="5">
                <c:v>3688.7</c:v>
              </c:pt>
              <c:pt idx="6">
                <c:v>5529.6</c:v>
              </c:pt>
              <c:pt idx="7">
                <c:v>6226.7</c:v>
              </c:pt>
              <c:pt idx="8">
                <c:v>6547.7</c:v>
              </c:pt>
              <c:pt idx="9">
                <c:v>7798.1</c:v>
              </c:pt>
            </c:numLit>
          </c:val>
          <c:smooth val="0"/>
        </c:ser>
        <c:dLbls>
          <c:numFmt formatCode="0.00" sourceLinked="0"/>
          <c:txPr>
            <a:bodyPr xmlns:a="http://schemas.openxmlformats.org/drawingml/2006/main" anchorCtr="1"/>
            <a:lstStyle xmlns:a="http://schemas.openxmlformats.org/drawingml/2006/main"/>
            <a:p xmlns:a="http://schemas.openxmlformats.org/drawingml/2006/main">
              <a:pPr>
                <a:defRPr sz="1425">
                  <a:solidFill>
                    <a:srgbClr val="102C3A"/>
                  </a:solidFil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CCD9DE"/>
            </a:solidFill>
          </a:ln>
        </c:spPr>
        <c:txPr>
          <a:bodyPr xmlns:a="http://schemas.openxmlformats.org/drawingml/2006/main" anchorCtr="1"/>
          <a:lstStyle xmlns:a="http://schemas.openxmlformats.org/drawingml/2006/main"/>
          <a:p xmlns:a="http://schemas.openxmlformats.org/drawingml/2006/main">
            <a:pPr>
              <a:defRPr sz="1350">
                <a:solidFill>
                  <a:srgbClr val="102C3A"/>
                </a:solidFill>
              </a:defRPr>
            </a:pPr>
          </a:p>
        </c:txPr>
        <c:crossAx val="48672768"/>
      </c:catAx>
      <c:valAx>
        <c:axId val="48672768"/>
        <c:scaling>
          <c:orientation val="minMax"/>
          <c:min val="0"/>
        </c:scaling>
        <c:delete val="0"/>
        <c:axPos val="l"/>
        <c:majorGridlines>
          <c:spPr>
            <a:ln xmlns:a="http://schemas.openxmlformats.org/drawingml/2006/main" w="9525">
              <a:solidFill>
                <a:srgbClr val="CCD9DE"/>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4A6271"/>
                </a:solidFill>
              </a:defRPr>
            </a:pPr>
          </a:p>
        </c:txPr>
        <c:crossAx val="48650112"/>
        <c:crossBetween val="between"/>
      </c:valAx>
      <c:spPr>
        <a:solidFill xmlns:a="http://schemas.openxmlformats.org/drawingml/2006/main">
          <a:srgbClr val="F8FAFC"/>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02C3A"/>
              </a:solidFill>
            </a:defRPr>
          </a:pPr>
        </a:p>
      </c:txPr>
    </c:legend>
    <c:plotVisOnly val="1"/>
  </c:chart>
  <c:spPr>
    <a:solidFill xmlns:a="http://schemas.openxmlformats.org/drawingml/2006/main">
      <a:srgbClr val="F8FAFC"/>
    </a:solidFill>
  </c:spPr>
</c:chartSpace>
</file>

<file path=ppt/slides/charts/chart7.xml><?xml version="1.0" encoding="utf-8"?>
<c:chartSpace xmlns:c="http://schemas.openxmlformats.org/drawingml/2006/chart">
  <c:lang val="en-US"/>
  <c:chart>
    <c:plotArea>
      <c:barChart>
        <c:barDir val="col"/>
        <c:grouping val="clustered"/>
        <c:varyColors val="0"/>
        <c:ser>
          <c:idx val="0"/>
          <c:order val="0"/>
          <c:tx>
            <c:v>条件价值 元/股</c:v>
          </c:tx>
          <c:spPr>
            <a:solidFill xmlns:a="http://schemas.openxmlformats.org/drawingml/2006/main">
              <a:srgbClr val="087F80"/>
            </a:solidFill>
            <a:ln xmlns:a="http://schemas.openxmlformats.org/drawingml/2006/main" w="28575">
              <a:solidFill>
                <a:srgbClr val="087F80"/>
              </a:solidFill>
            </a:ln>
          </c:spPr>
          <c:invertIfNegative val="0"/>
          <c:cat>
            <c:strLit>
              <c:ptCount val="5"/>
              <c:pt idx="0">
                <c:v>8000万头平量</c:v>
              </c:pt>
              <c:pt idx="1">
                <c:v>2%×3次低投资</c:v>
              </c:pt>
              <c:pt idx="2">
                <c:v>同增长新资本假设</c:v>
              </c:pt>
              <c:pt idx="3">
                <c:v>2031年9000万</c:v>
              </c:pt>
              <c:pt idx="4">
                <c:v>2031年1亿</c:v>
              </c:pt>
            </c:strLit>
          </c:cat>
          <c:val>
            <c:numLit>
              <c:formatCode>0.0</c:formatCode>
              <c:ptCount val="5"/>
              <c:pt idx="0">
                <c:v>58.1532790643764</c:v>
              </c:pt>
              <c:pt idx="1">
                <c:v>60.497399193323844</c:v>
              </c:pt>
              <c:pt idx="2">
                <c:v>59.73132946500905</c:v>
              </c:pt>
              <c:pt idx="3">
                <c:v>61.22621241421078</c:v>
              </c:pt>
              <c:pt idx="4">
                <c:v>64.28048940460657</c:v>
              </c:pt>
            </c:numLit>
          </c:val>
        </c:ser>
        <c:dLbls>
          <c:numFmt formatCode="0.00" sourceLinked="0"/>
          <c:txPr>
            <a:bodyPr xmlns:a="http://schemas.openxmlformats.org/drawingml/2006/main" anchorCtr="1"/>
            <a:lstStyle xmlns:a="http://schemas.openxmlformats.org/drawingml/2006/main"/>
            <a:p xmlns:a="http://schemas.openxmlformats.org/drawingml/2006/main">
              <a:pPr>
                <a:defRPr sz="1425">
                  <a:solidFill>
                    <a:srgbClr val="102C3A"/>
                  </a:solidFil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CD9DE"/>
            </a:solidFill>
          </a:ln>
        </c:spPr>
        <c:txPr>
          <a:bodyPr xmlns:a="http://schemas.openxmlformats.org/drawingml/2006/main" anchorCtr="1"/>
          <a:lstStyle xmlns:a="http://schemas.openxmlformats.org/drawingml/2006/main"/>
          <a:p xmlns:a="http://schemas.openxmlformats.org/drawingml/2006/main">
            <a:pPr>
              <a:defRPr sz="1500">
                <a:solidFill>
                  <a:srgbClr val="102C3A"/>
                </a:solidFill>
              </a:defRPr>
            </a:pPr>
          </a:p>
        </c:txPr>
        <c:crossAx val="48672768"/>
      </c:catAx>
      <c:valAx>
        <c:axId val="48672768"/>
        <c:scaling>
          <c:orientation val="minMax"/>
          <c:min val="0"/>
        </c:scaling>
        <c:delete val="0"/>
        <c:axPos val="l"/>
        <c:majorGridlines>
          <c:spPr>
            <a:ln xmlns:a="http://schemas.openxmlformats.org/drawingml/2006/main" w="9525">
              <a:solidFill>
                <a:srgbClr val="CCD9DE"/>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4A6271"/>
                </a:solidFill>
              </a:defRPr>
            </a:pPr>
          </a:p>
        </c:txPr>
        <c:crossAx val="48650112"/>
        <c:crossBetween val="between"/>
      </c:valAx>
      <c:spPr>
        <a:solidFill xmlns:a="http://schemas.openxmlformats.org/drawingml/2006/main">
          <a:srgbClr val="F8FAFC"/>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02C3A"/>
              </a:solidFill>
            </a:defRPr>
          </a:pPr>
        </a:p>
      </c:txPr>
    </c:legend>
    <c:plotVisOnly val="1"/>
  </c:chart>
  <c:spPr>
    <a:solidFill xmlns:a="http://schemas.openxmlformats.org/drawingml/2006/main">
      <a:srgbClr val="F8FAFC"/>
    </a:solidFill>
  </c:spPr>
</c:chartSpace>
</file>

<file path=ppt/slides/charts/chart8.xml><?xml version="1.0" encoding="utf-8"?>
<c:chartSpace xmlns:c="http://schemas.openxmlformats.org/drawingml/2006/chart">
  <c:lang val="en-US"/>
  <c:chart>
    <c:plotArea>
      <c:barChart>
        <c:barDir val="col"/>
        <c:grouping val="clustered"/>
        <c:varyColors val="0"/>
        <c:ser>
          <c:idx val="0"/>
          <c:order val="0"/>
          <c:tx>
            <c:v>峰值利润×10PE 元/股</c:v>
          </c:tx>
          <c:spPr>
            <a:solidFill xmlns:a="http://schemas.openxmlformats.org/drawingml/2006/main">
              <a:srgbClr val="087F80"/>
            </a:solidFill>
            <a:ln xmlns:a="http://schemas.openxmlformats.org/drawingml/2006/main" w="28575">
              <a:solidFill>
                <a:srgbClr val="087F80"/>
              </a:solidFill>
            </a:ln>
          </c:spPr>
          <c:invertIfNegative val="0"/>
          <c:cat>
            <c:strLit>
              <c:ptCount val="3"/>
              <c:pt idx="0">
                <c:v>全年价16元</c:v>
              </c:pt>
              <c:pt idx="1">
                <c:v>全年价18元</c:v>
              </c:pt>
              <c:pt idx="2">
                <c:v>全年价20元</c:v>
              </c:pt>
            </c:strLit>
          </c:cat>
          <c:val>
            <c:numLit>
              <c:formatCode>0.0</c:formatCode>
              <c:ptCount val="3"/>
              <c:pt idx="0">
                <c:v>66.35</c:v>
              </c:pt>
              <c:pt idx="1">
                <c:v>97.95</c:v>
              </c:pt>
              <c:pt idx="2">
                <c:v>129.54</c:v>
              </c:pt>
            </c:numLit>
          </c:val>
        </c:ser>
        <c:ser>
          <c:idx val="1"/>
          <c:order val="1"/>
          <c:tx>
            <c:v>后续回归FCFE 元/股</c:v>
          </c:tx>
          <c:spPr>
            <a:solidFill xmlns:a="http://schemas.openxmlformats.org/drawingml/2006/main">
              <a:srgbClr val="A16207"/>
            </a:solidFill>
            <a:ln xmlns:a="http://schemas.openxmlformats.org/drawingml/2006/main" w="28575">
              <a:solidFill>
                <a:srgbClr val="A16207"/>
              </a:solidFill>
            </a:ln>
          </c:spPr>
          <c:invertIfNegative val="0"/>
          <c:cat>
            <c:strLit>
              <c:ptCount val="3"/>
              <c:pt idx="0">
                <c:v>全年价16元</c:v>
              </c:pt>
              <c:pt idx="1">
                <c:v>全年价18元</c:v>
              </c:pt>
              <c:pt idx="2">
                <c:v>全年价20元</c:v>
              </c:pt>
            </c:strLit>
          </c:cat>
          <c:val>
            <c:numLit>
              <c:formatCode>0.0</c:formatCode>
              <c:ptCount val="3"/>
              <c:pt idx="0">
                <c:v>61.57165504098149</c:v>
              </c:pt>
              <c:pt idx="1">
                <c:v>65.7295664118373</c:v>
              </c:pt>
              <c:pt idx="2">
                <c:v>69.8874777826931</c:v>
              </c:pt>
            </c:numLit>
          </c:val>
        </c:ser>
        <c:dLbls>
          <c:numFmt formatCode="0.00" sourceLinked="0"/>
          <c:txPr>
            <a:bodyPr xmlns:a="http://schemas.openxmlformats.org/drawingml/2006/main" anchorCtr="1"/>
            <a:lstStyle xmlns:a="http://schemas.openxmlformats.org/drawingml/2006/main"/>
            <a:p xmlns:a="http://schemas.openxmlformats.org/drawingml/2006/main">
              <a:pPr>
                <a:defRPr sz="1425">
                  <a:solidFill>
                    <a:srgbClr val="102C3A"/>
                  </a:solidFil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CD9DE"/>
            </a:solidFill>
          </a:ln>
        </c:spPr>
        <c:txPr>
          <a:bodyPr xmlns:a="http://schemas.openxmlformats.org/drawingml/2006/main" anchorCtr="1"/>
          <a:lstStyle xmlns:a="http://schemas.openxmlformats.org/drawingml/2006/main"/>
          <a:p xmlns:a="http://schemas.openxmlformats.org/drawingml/2006/main">
            <a:pPr>
              <a:defRPr sz="1500">
                <a:solidFill>
                  <a:srgbClr val="102C3A"/>
                </a:solidFill>
              </a:defRPr>
            </a:pPr>
          </a:p>
        </c:txPr>
        <c:crossAx val="48672768"/>
      </c:catAx>
      <c:valAx>
        <c:axId val="48672768"/>
        <c:scaling>
          <c:orientation val="minMax"/>
          <c:min val="0"/>
        </c:scaling>
        <c:delete val="0"/>
        <c:axPos val="l"/>
        <c:majorGridlines>
          <c:spPr>
            <a:ln xmlns:a="http://schemas.openxmlformats.org/drawingml/2006/main" w="9525">
              <a:solidFill>
                <a:srgbClr val="CCD9DE"/>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4A6271"/>
                </a:solidFill>
              </a:defRPr>
            </a:pPr>
          </a:p>
        </c:txPr>
        <c:crossAx val="48650112"/>
        <c:crossBetween val="between"/>
      </c:valAx>
      <c:spPr>
        <a:solidFill xmlns:a="http://schemas.openxmlformats.org/drawingml/2006/main">
          <a:srgbClr val="F8FAFC"/>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02C3A"/>
              </a:solidFill>
            </a:defRPr>
          </a:pPr>
        </a:p>
      </c:txPr>
    </c:legend>
    <c:plotVisOnly val="1"/>
  </c:chart>
  <c:spPr>
    <a:solidFill xmlns:a="http://schemas.openxmlformats.org/drawingml/2006/main">
      <a:srgbClr val="F8FAFC"/>
    </a:solidFill>
  </c:spPr>
</c:chartSpace>
</file>

<file path=ppt/slides/slide1.xml><?xml version="1.0" encoding="utf-8"?>
<p:sld xmlns:p="http://schemas.openxmlformats.org/presentationml/2006/main">
  <p:cSld>
    <p:bg>
      <p:bgPr>
        <a:solidFill xmlns:a="http://schemas.openxmlformats.org/drawingml/2006/main">
          <a:srgbClr val="102C3A"/>
        </a:solidFill>
      </p:bgPr>
    </p:bg>
    <p:spTree>
      <p:nvGrpSpPr>
        <p:cNvPr id="1" name=""/>
        <p:cNvGrpSpPr/>
        <p:nvPr/>
      </p:nvGrpSpPr>
      <p:grpSpPr>
        <a:xfrm xmlns:a="http://schemas.openxmlformats.org/drawingml/2006/main"/>
      </p:grpSpPr>
      <p:sp>
        <p:nvSpPr>
          <p:cNvPr id="2" name="cover-title">
            <a:extLst xmlns:a="http://schemas.openxmlformats.org/drawingml/2006/main">
              <a:ext uri="{FF2B5EF4-FFF2-40B4-BE49-F238E27FC236}">
                <a16:creationId xmlns:a16="http://schemas.microsoft.com/office/drawing/2014/main" id="{8FB6733A-E673-45CC-BD44-7308A0A17CE3}"/>
              </a:ext>
            </a:extLst>
          </p:cNvPr>
          <p:cNvSpPr>
            <a:spLocks xmlns:a="http://schemas.openxmlformats.org/drawingml/2006/main" noGrp="1"/>
          </p:cNvSpPr>
          <p:nvPr/>
        </p:nvSpPr>
        <p:spPr>
          <a:xfrm xmlns:a="http://schemas.openxmlformats.org/drawingml/2006/main">
            <a:off x="666750" y="952500"/>
            <a:ext cx="108108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4275" b="1">
                <a:solidFill>
                  <a:srgbClr val="FFFFFF"/>
                </a:solidFill>
              </a:defRPr>
            </a:defPPr>
            <a:lvl1pPr>
              <a:defRPr sz="4275" b="1">
                <a:solidFill>
                  <a:srgbClr val="FFFFFF"/>
                </a:solidFill>
              </a:defRPr>
            </a:lvl1pPr>
            <a:lvl2pPr>
              <a:defRPr sz="4275" b="1">
                <a:solidFill>
                  <a:srgbClr val="FFFFFF"/>
                </a:solidFill>
              </a:defRPr>
            </a:lvl2pPr>
            <a:lvl3pPr>
              <a:defRPr sz="4275" b="1">
                <a:solidFill>
                  <a:srgbClr val="FFFFFF"/>
                </a:solidFill>
              </a:defRPr>
            </a:lvl3pPr>
            <a:lvl4pPr>
              <a:defRPr sz="4275" b="1">
                <a:solidFill>
                  <a:srgbClr val="FFFFFF"/>
                </a:solidFill>
              </a:defRPr>
            </a:lvl4pPr>
            <a:lvl5pPr>
              <a:defRPr sz="4275" b="1">
                <a:solidFill>
                  <a:srgbClr val="FFFFFF"/>
                </a:solidFill>
              </a:defRPr>
            </a:lvl5pPr>
            <a:lvl6pPr>
              <a:defRPr sz="4275" b="1">
                <a:solidFill>
                  <a:srgbClr val="FFFFFF"/>
                </a:solidFill>
              </a:defRPr>
            </a:lvl6pPr>
            <a:lvl7pPr>
              <a:defRPr sz="4275" b="1">
                <a:solidFill>
                  <a:srgbClr val="FFFFFF"/>
                </a:solidFill>
              </a:defRPr>
            </a:lvl7pPr>
            <a:lvl8pPr>
              <a:defRPr sz="4275" b="1">
                <a:solidFill>
                  <a:srgbClr val="FFFFFF"/>
                </a:solidFill>
              </a:defRPr>
            </a:lvl8pPr>
            <a:lvl9pPr>
              <a:defRPr sz="4275" b="1">
                <a:solidFill>
                  <a:srgbClr val="FFFFFF"/>
                </a:solidFill>
              </a:defRPr>
            </a:lvl9pPr>
          </a:lstStyle>
          <a:p xmlns:a="http://schemas.openxmlformats.org/drawingml/2006/main">
            <a:pPr>
              <a:defRPr sz="4275" b="1">
                <a:solidFill>
                  <a:srgbClr val="FFFFFF"/>
                </a:solidFill>
              </a:defRPr>
            </a:pPr>
            <a:r>
              <a:rPr sz="4275" b="1">
                <a:solidFill>
                  <a:srgbClr val="FFFFFF"/>
                </a:solidFill>
              </a:rPr>
              <a:t>猪周期：</a:t>
            </a:r>
          </a:p>
          <a:p xmlns:a="http://schemas.openxmlformats.org/drawingml/2006/main">
            <a:pPr>
              <a:defRPr sz="4275" b="1">
                <a:solidFill>
                  <a:srgbClr val="FFFFFF"/>
                </a:solidFill>
              </a:defRPr>
            </a:pPr>
            <a:r>
              <a:rPr sz="4275" b="1">
                <a:solidFill>
                  <a:srgbClr val="FFFFFF"/>
                </a:solidFill>
              </a:rPr>
              <a:t>成本、产能与价格</a:t>
            </a:r>
          </a:p>
        </p:txBody>
      </p:sp>
      <p:sp>
        <p:nvSpPr>
          <p:cNvPr id="3" name="cover-subtitle">
            <a:extLst xmlns:a="http://schemas.openxmlformats.org/drawingml/2006/main">
              <a:ext uri="{FF2B5EF4-FFF2-40B4-BE49-F238E27FC236}">
                <a16:creationId xmlns:a16="http://schemas.microsoft.com/office/drawing/2014/main" id="{373FF615-46F1-46ED-9CE2-44BB6E6A42D8}"/>
              </a:ext>
            </a:extLst>
          </p:cNvPr>
          <p:cNvSpPr>
            <a:spLocks xmlns:a="http://schemas.openxmlformats.org/drawingml/2006/main" noGrp="1"/>
          </p:cNvSpPr>
          <p:nvPr/>
        </p:nvSpPr>
        <p:spPr>
          <a:xfrm xmlns:a="http://schemas.openxmlformats.org/drawingml/2006/main">
            <a:off x="704850" y="31432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D1E5E8"/>
                </a:solidFill>
              </a:defRPr>
            </a:defPPr>
            <a:lvl1pPr>
              <a:defRPr sz="2250" b="0">
                <a:solidFill>
                  <a:srgbClr val="D1E5E8"/>
                </a:solidFill>
              </a:defRPr>
            </a:lvl1pPr>
            <a:lvl2pPr>
              <a:defRPr sz="2250" b="0">
                <a:solidFill>
                  <a:srgbClr val="D1E5E8"/>
                </a:solidFill>
              </a:defRPr>
            </a:lvl2pPr>
            <a:lvl3pPr>
              <a:defRPr sz="2250" b="0">
                <a:solidFill>
                  <a:srgbClr val="D1E5E8"/>
                </a:solidFill>
              </a:defRPr>
            </a:lvl3pPr>
            <a:lvl4pPr>
              <a:defRPr sz="2250" b="0">
                <a:solidFill>
                  <a:srgbClr val="D1E5E8"/>
                </a:solidFill>
              </a:defRPr>
            </a:lvl4pPr>
            <a:lvl5pPr>
              <a:defRPr sz="2250" b="0">
                <a:solidFill>
                  <a:srgbClr val="D1E5E8"/>
                </a:solidFill>
              </a:defRPr>
            </a:lvl5pPr>
            <a:lvl6pPr>
              <a:defRPr sz="2250" b="0">
                <a:solidFill>
                  <a:srgbClr val="D1E5E8"/>
                </a:solidFill>
              </a:defRPr>
            </a:lvl6pPr>
            <a:lvl7pPr>
              <a:defRPr sz="2250" b="0">
                <a:solidFill>
                  <a:srgbClr val="D1E5E8"/>
                </a:solidFill>
              </a:defRPr>
            </a:lvl7pPr>
            <a:lvl8pPr>
              <a:defRPr sz="2250" b="0">
                <a:solidFill>
                  <a:srgbClr val="D1E5E8"/>
                </a:solidFill>
              </a:defRPr>
            </a:lvl8pPr>
            <a:lvl9pPr>
              <a:defRPr sz="2250" b="0">
                <a:solidFill>
                  <a:srgbClr val="D1E5E8"/>
                </a:solidFill>
              </a:defRPr>
            </a:lvl9pPr>
          </a:lstStyle>
          <a:p xmlns:a="http://schemas.openxmlformats.org/drawingml/2006/main">
            <a:pPr>
              <a:defRPr sz="2250" b="0">
                <a:solidFill>
                  <a:srgbClr val="D1E5E8"/>
                </a:solidFill>
              </a:defRPr>
            </a:pPr>
            <a:r>
              <a:rPr sz="2250" b="0">
                <a:solidFill>
                  <a:srgbClr val="D1E5E8"/>
                </a:solidFill>
              </a:rPr>
              <a:t>从一头猪的成本，理解价格中枢与周期波动</a:t>
            </a:r>
          </a:p>
        </p:txBody>
      </p:sp>
      <p:sp>
        <p:nvSpPr>
          <p:cNvPr id="4" name="cover-date">
            <a:extLst xmlns:a="http://schemas.openxmlformats.org/drawingml/2006/main">
              <a:ext uri="{FF2B5EF4-FFF2-40B4-BE49-F238E27FC236}">
                <a16:creationId xmlns:a16="http://schemas.microsoft.com/office/drawing/2014/main" id="{E96FF852-78E2-4FD1-B538-F2DE0D6A4671}"/>
              </a:ext>
            </a:extLst>
          </p:cNvPr>
          <p:cNvSpPr>
            <a:spLocks xmlns:a="http://schemas.openxmlformats.org/drawingml/2006/main" noGrp="1"/>
          </p:cNvSpPr>
          <p:nvPr/>
        </p:nvSpPr>
        <p:spPr>
          <a:xfrm xmlns:a="http://schemas.openxmlformats.org/drawingml/2006/main">
            <a:off x="704850" y="4638675"/>
            <a:ext cx="1057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0">
                <a:solidFill>
                  <a:srgbClr val="D1E5E8"/>
                </a:solidFill>
              </a:defRPr>
            </a:defPPr>
            <a:lvl1pPr>
              <a:defRPr sz="1650" b="0">
                <a:solidFill>
                  <a:srgbClr val="D1E5E8"/>
                </a:solidFill>
              </a:defRPr>
            </a:lvl1pPr>
            <a:lvl2pPr>
              <a:defRPr sz="1650" b="0">
                <a:solidFill>
                  <a:srgbClr val="D1E5E8"/>
                </a:solidFill>
              </a:defRPr>
            </a:lvl2pPr>
            <a:lvl3pPr>
              <a:defRPr sz="1650" b="0">
                <a:solidFill>
                  <a:srgbClr val="D1E5E8"/>
                </a:solidFill>
              </a:defRPr>
            </a:lvl3pPr>
            <a:lvl4pPr>
              <a:defRPr sz="1650" b="0">
                <a:solidFill>
                  <a:srgbClr val="D1E5E8"/>
                </a:solidFill>
              </a:defRPr>
            </a:lvl4pPr>
            <a:lvl5pPr>
              <a:defRPr sz="1650" b="0">
                <a:solidFill>
                  <a:srgbClr val="D1E5E8"/>
                </a:solidFill>
              </a:defRPr>
            </a:lvl5pPr>
            <a:lvl6pPr>
              <a:defRPr sz="1650" b="0">
                <a:solidFill>
                  <a:srgbClr val="D1E5E8"/>
                </a:solidFill>
              </a:defRPr>
            </a:lvl6pPr>
            <a:lvl7pPr>
              <a:defRPr sz="1650" b="0">
                <a:solidFill>
                  <a:srgbClr val="D1E5E8"/>
                </a:solidFill>
              </a:defRPr>
            </a:lvl7pPr>
            <a:lvl8pPr>
              <a:defRPr sz="1650" b="0">
                <a:solidFill>
                  <a:srgbClr val="D1E5E8"/>
                </a:solidFill>
              </a:defRPr>
            </a:lvl8pPr>
            <a:lvl9pPr>
              <a:defRPr sz="1650" b="0">
                <a:solidFill>
                  <a:srgbClr val="D1E5E8"/>
                </a:solidFill>
              </a:defRPr>
            </a:lvl9pPr>
          </a:lstStyle>
          <a:p xmlns:a="http://schemas.openxmlformats.org/drawingml/2006/main">
            <a:pPr>
              <a:defRPr sz="1650" b="0">
                <a:solidFill>
                  <a:srgbClr val="D1E5E8"/>
                </a:solidFill>
              </a:defRPr>
            </a:pPr>
            <a:r>
              <a:rPr sz="1650" b="0">
                <a:solidFill>
                  <a:srgbClr val="D1E5E8"/>
                </a:solidFill>
              </a:rPr>
              <a:t>行业篇｜资料截至2026.10.24｜条件情景2027</a:t>
            </a:r>
          </a:p>
        </p:txBody>
      </p:sp>
      <p:sp>
        <p:nvSpPr>
          <p:cNvPr id="5" name="cover-duration">
            <a:extLst xmlns:a="http://schemas.openxmlformats.org/drawingml/2006/main">
              <a:ext uri="{FF2B5EF4-FFF2-40B4-BE49-F238E27FC236}">
                <a16:creationId xmlns:a16="http://schemas.microsoft.com/office/drawing/2014/main" id="{3CB15ABB-2675-47E4-B530-C3BF14191F2E}"/>
              </a:ext>
            </a:extLst>
          </p:cNvPr>
          <p:cNvSpPr>
            <a:spLocks xmlns:a="http://schemas.openxmlformats.org/drawingml/2006/main" noGrp="1"/>
          </p:cNvSpPr>
          <p:nvPr/>
        </p:nvSpPr>
        <p:spPr>
          <a:xfrm xmlns:a="http://schemas.openxmlformats.org/drawingml/2006/main">
            <a:off x="704850" y="55721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E6BB70"/>
                </a:solidFill>
              </a:defRPr>
            </a:defPPr>
            <a:lvl1pPr>
              <a:defRPr sz="1725" b="0">
                <a:solidFill>
                  <a:srgbClr val="E6BB70"/>
                </a:solidFill>
              </a:defRPr>
            </a:lvl1pPr>
            <a:lvl2pPr>
              <a:defRPr sz="1725" b="0">
                <a:solidFill>
                  <a:srgbClr val="E6BB70"/>
                </a:solidFill>
              </a:defRPr>
            </a:lvl2pPr>
            <a:lvl3pPr>
              <a:defRPr sz="1725" b="0">
                <a:solidFill>
                  <a:srgbClr val="E6BB70"/>
                </a:solidFill>
              </a:defRPr>
            </a:lvl3pPr>
            <a:lvl4pPr>
              <a:defRPr sz="1725" b="0">
                <a:solidFill>
                  <a:srgbClr val="E6BB70"/>
                </a:solidFill>
              </a:defRPr>
            </a:lvl4pPr>
            <a:lvl5pPr>
              <a:defRPr sz="1725" b="0">
                <a:solidFill>
                  <a:srgbClr val="E6BB70"/>
                </a:solidFill>
              </a:defRPr>
            </a:lvl5pPr>
            <a:lvl6pPr>
              <a:defRPr sz="1725" b="0">
                <a:solidFill>
                  <a:srgbClr val="E6BB70"/>
                </a:solidFill>
              </a:defRPr>
            </a:lvl6pPr>
            <a:lvl7pPr>
              <a:defRPr sz="1725" b="0">
                <a:solidFill>
                  <a:srgbClr val="E6BB70"/>
                </a:solidFill>
              </a:defRPr>
            </a:lvl7pPr>
            <a:lvl8pPr>
              <a:defRPr sz="1725" b="0">
                <a:solidFill>
                  <a:srgbClr val="E6BB70"/>
                </a:solidFill>
              </a:defRPr>
            </a:lvl8pPr>
            <a:lvl9pPr>
              <a:defRPr sz="1725" b="0">
                <a:solidFill>
                  <a:srgbClr val="E6BB70"/>
                </a:solidFill>
              </a:defRPr>
            </a:lvl9pPr>
          </a:lstStyle>
          <a:p xmlns:a="http://schemas.openxmlformats.org/drawingml/2006/main">
            <a:pPr>
              <a:defRPr sz="1725" b="0">
                <a:solidFill>
                  <a:srgbClr val="E6BB70"/>
                </a:solidFill>
              </a:defRPr>
            </a:pPr>
            <a:r>
              <a:rPr sz="1725" b="0">
                <a:solidFill>
                  <a:srgbClr val="E6BB70"/>
                </a:solidFill>
              </a:rPr>
              <a:t>行业篇26页 / 企业篇23页 / 附录6页   约58分钟</a:t>
            </a:r>
          </a:p>
        </p:txBody>
      </p:sp>
    </p:spTree>
    <p:extLst>
      <p:ext uri="{BB962C8B-B14F-4D97-AF65-F5344CB8AC3E}">
        <p14:creationId xmlns:p14="http://schemas.microsoft.com/office/powerpoint/2010/main" val="1702852870"/>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B54FCD0-4ACD-4016-890B-2E016B408F54}"/>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生猪养殖成本科普：一头120公斤猪的钱花在哪里</a:t>
            </a:r>
          </a:p>
        </p:txBody>
      </p:sp>
      <p:graphicFrame>
        <p:nvGraphicFramePr>
          <p:cNvPr id="3" name="">
            <a:extLst xmlns:a="http://schemas.openxmlformats.org/drawingml/2006/main">
              <a:ext uri="{FF2B5EF4-FFF2-40B4-BE49-F238E27FC236}">
                <a16:creationId xmlns:a16="http://schemas.microsoft.com/office/drawing/2014/main" id="{5EA74E22-7D80-4AE4-A029-90A2358B6B1B}"/>
              </a:ext>
            </a:extLst>
          </p:cNvPr>
          <p:cNvGraphicFramePr/>
          <p:nvPr/>
        </p:nvGraphicFramePr>
        <p:xfrm>
          <a:off xmlns:a="http://schemas.openxmlformats.org/drawingml/2006/main" x="609600" y="1476375"/>
          <a:ext xmlns:a="http://schemas.openxmlformats.org/drawingml/2006/main" cx="6229350" cy="4000500"/>
        </p:xfrm>
        <a:graphic xmlns:a="http://schemas.openxmlformats.org/drawingml/2006/main">
          <a:graphicData uri="http://schemas.openxmlformats.org/drawingml/2006/table">
            <a:tbl>
              <a:tblPr/>
              <a:tblGrid>
                <a:gridCol w="2740914"/>
                <a:gridCol w="1744218"/>
                <a:gridCol w="1744218"/>
              </a:tblGrid>
              <a:tr h="500063">
                <a:tc>
                  <a:txBody>
                    <a:bodyPr/>
                    <a:lstStyle/>
                    <a:p>
                      <a:r>
                        <a:rPr sz="1800" b="1">
                          <a:solidFill>
                            <a:srgbClr val="FFFFFF"/>
                          </a:solidFill>
                        </a:rPr>
                        <a:t>成本项目</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00" b="1">
                          <a:solidFill>
                            <a:srgbClr val="FFFFFF"/>
                          </a:solidFill>
                        </a:rPr>
                        <a:t>元/公斤</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00" b="1">
                          <a:solidFill>
                            <a:srgbClr val="FFFFFF"/>
                          </a:solidFill>
                        </a:rPr>
                        <a:t>元/头</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500063">
                <a:tc>
                  <a:txBody>
                    <a:bodyPr/>
                    <a:lstStyle/>
                    <a:p>
                      <a:r>
                        <a:rPr sz="1800" b="0">
                          <a:solidFill>
                            <a:srgbClr val="102C3A"/>
                          </a:solidFill>
                        </a:rPr>
                        <a:t>仔猪</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00" b="0">
                          <a:solidFill>
                            <a:srgbClr val="102C3A"/>
                          </a:solidFill>
                        </a:rPr>
                        <a:t>2.90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00" b="0">
                          <a:solidFill>
                            <a:srgbClr val="102C3A"/>
                          </a:solidFill>
                        </a:rPr>
                        <a:t>348</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00063">
                <a:tc>
                  <a:txBody>
                    <a:bodyPr/>
                    <a:lstStyle/>
                    <a:p>
                      <a:r>
                        <a:rPr sz="1800" b="0">
                          <a:solidFill>
                            <a:srgbClr val="102C3A"/>
                          </a:solidFill>
                        </a:rPr>
                        <a:t>饲料</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00" b="0">
                          <a:solidFill>
                            <a:srgbClr val="102C3A"/>
                          </a:solidFill>
                        </a:rPr>
                        <a:t>6.70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00" b="0">
                          <a:solidFill>
                            <a:srgbClr val="102C3A"/>
                          </a:solidFill>
                        </a:rPr>
                        <a:t>804</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00063">
                <a:tc>
                  <a:txBody>
                    <a:bodyPr/>
                    <a:lstStyle/>
                    <a:p>
                      <a:r>
                        <a:rPr sz="1800" b="0">
                          <a:solidFill>
                            <a:srgbClr val="102C3A"/>
                          </a:solidFill>
                        </a:rPr>
                        <a:t>动保</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00" b="0">
                          <a:solidFill>
                            <a:srgbClr val="102C3A"/>
                          </a:solidFill>
                        </a:rPr>
                        <a:t>0.30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00" b="0">
                          <a:solidFill>
                            <a:srgbClr val="102C3A"/>
                          </a:solidFill>
                        </a:rPr>
                        <a:t>36</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00063">
                <a:tc>
                  <a:txBody>
                    <a:bodyPr/>
                    <a:lstStyle/>
                    <a:p>
                      <a:r>
                        <a:rPr sz="1800" b="0">
                          <a:solidFill>
                            <a:srgbClr val="102C3A"/>
                          </a:solidFill>
                        </a:rPr>
                        <a:t>人工</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00" b="0">
                          <a:solidFill>
                            <a:srgbClr val="102C3A"/>
                          </a:solidFill>
                        </a:rPr>
                        <a:t>1.50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00" b="0">
                          <a:solidFill>
                            <a:srgbClr val="102C3A"/>
                          </a:solidFill>
                        </a:rPr>
                        <a:t>180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00063">
                <a:tc>
                  <a:txBody>
                    <a:bodyPr/>
                    <a:lstStyle/>
                    <a:p>
                      <a:r>
                        <a:rPr sz="1800" b="0">
                          <a:solidFill>
                            <a:srgbClr val="102C3A"/>
                          </a:solidFill>
                        </a:rPr>
                        <a:t>折旧</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00" b="0">
                          <a:solidFill>
                            <a:srgbClr val="102C3A"/>
                          </a:solidFill>
                        </a:rPr>
                        <a:t>0.20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00" b="0">
                          <a:solidFill>
                            <a:srgbClr val="102C3A"/>
                          </a:solidFill>
                        </a:rPr>
                        <a:t>24</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00063">
                <a:tc>
                  <a:txBody>
                    <a:bodyPr/>
                    <a:lstStyle/>
                    <a:p>
                      <a:r>
                        <a:rPr sz="1800" b="0">
                          <a:solidFill>
                            <a:srgbClr val="102C3A"/>
                          </a:solidFill>
                        </a:rPr>
                        <a:t>总部费用</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00" b="0">
                          <a:solidFill>
                            <a:srgbClr val="102C3A"/>
                          </a:solidFill>
                        </a:rPr>
                        <a:t>0.80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00" b="0">
                          <a:solidFill>
                            <a:srgbClr val="102C3A"/>
                          </a:solidFill>
                        </a:rPr>
                        <a:t>96</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00063">
                <a:tc>
                  <a:txBody>
                    <a:bodyPr/>
                    <a:lstStyle/>
                    <a:p>
                      <a:r>
                        <a:rPr sz="1800" b="0">
                          <a:solidFill>
                            <a:srgbClr val="102C3A"/>
                          </a:solidFill>
                        </a:rPr>
                        <a:t>合计</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00" b="0">
                          <a:solidFill>
                            <a:srgbClr val="102C3A"/>
                          </a:solidFill>
                        </a:rPr>
                        <a:t>12.40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00" b="0">
                          <a:solidFill>
                            <a:srgbClr val="102C3A"/>
                          </a:solidFill>
                        </a:rPr>
                        <a:t>1488</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bl>
          </a:graphicData>
        </a:graphic>
      </p:graphicFrame>
      <p:graphicFrame>
        <p:nvGraphicFramePr>
          <p:cNvPr id="4" name="Chart">
            <a:extLst xmlns:a="http://schemas.openxmlformats.org/drawingml/2006/main">
              <a:ext uri="{FF2B5EF4-FFF2-40B4-BE49-F238E27FC236}">
                <a16:creationId xmlns:a16="http://schemas.microsoft.com/office/drawing/2014/main" id="{BEA6C175-49D8-444E-A578-0D74E164A425}"/>
              </a:ext>
            </a:extLst>
          </p:cNvPr>
          <p:cNvGraphicFramePr/>
          <p:nvPr/>
        </p:nvGraphicFramePr>
        <p:xfrm>
          <a:off xmlns:a="http://schemas.openxmlformats.org/drawingml/2006/main" x="7143750" y="1657350"/>
          <a:ext xmlns:a="http://schemas.openxmlformats.org/drawingml/2006/main" cx="4429125" cy="3181350"/>
        </p:xfrm>
        <a:graphic xmlns:a="http://schemas.openxmlformats.org/drawingml/2006/main">
          <a:graphicData uri="http://schemas.openxmlformats.org/drawingml/2006/chart">
            <c:chart xmlns:r="http://schemas.openxmlformats.org/officeDocument/2006/relationships" xmlns:c="http://schemas.openxmlformats.org/drawingml/2006/chart" r:id="R0e26cf905e9940da"/>
          </a:graphicData>
        </a:graphic>
      </p:graphicFrame>
      <p:sp>
        <p:nvSpPr>
          <p:cNvPr id="5" name="cost-explanation">
            <a:extLst xmlns:a="http://schemas.openxmlformats.org/drawingml/2006/main">
              <a:ext uri="{FF2B5EF4-FFF2-40B4-BE49-F238E27FC236}">
                <a16:creationId xmlns:a16="http://schemas.microsoft.com/office/drawing/2014/main" id="{E66FC2EE-9979-4CE3-A0CE-235FA3ECA2B7}"/>
              </a:ext>
            </a:extLst>
          </p:cNvPr>
          <p:cNvSpPr>
            <a:spLocks xmlns:a="http://schemas.openxmlformats.org/drawingml/2006/main" noGrp="1"/>
          </p:cNvSpPr>
          <p:nvPr/>
        </p:nvSpPr>
        <p:spPr>
          <a:xfrm xmlns:a="http://schemas.openxmlformats.org/drawingml/2006/main">
            <a:off x="7353300" y="4953000"/>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0">
                <a:solidFill>
                  <a:srgbClr val="4A6271"/>
                </a:solidFill>
              </a:defRPr>
            </a:defPPr>
            <a:lvl1pPr>
              <a:defRPr sz="1650" b="0">
                <a:solidFill>
                  <a:srgbClr val="4A6271"/>
                </a:solidFill>
              </a:defRPr>
            </a:lvl1pPr>
            <a:lvl2pPr>
              <a:defRPr sz="1650" b="0">
                <a:solidFill>
                  <a:srgbClr val="4A6271"/>
                </a:solidFill>
              </a:defRPr>
            </a:lvl2pPr>
            <a:lvl3pPr>
              <a:defRPr sz="1650" b="0">
                <a:solidFill>
                  <a:srgbClr val="4A6271"/>
                </a:solidFill>
              </a:defRPr>
            </a:lvl3pPr>
            <a:lvl4pPr>
              <a:defRPr sz="1650" b="0">
                <a:solidFill>
                  <a:srgbClr val="4A6271"/>
                </a:solidFill>
              </a:defRPr>
            </a:lvl4pPr>
            <a:lvl5pPr>
              <a:defRPr sz="1650" b="0">
                <a:solidFill>
                  <a:srgbClr val="4A6271"/>
                </a:solidFill>
              </a:defRPr>
            </a:lvl5pPr>
            <a:lvl6pPr>
              <a:defRPr sz="1650" b="0">
                <a:solidFill>
                  <a:srgbClr val="4A6271"/>
                </a:solidFill>
              </a:defRPr>
            </a:lvl6pPr>
            <a:lvl7pPr>
              <a:defRPr sz="1650" b="0">
                <a:solidFill>
                  <a:srgbClr val="4A6271"/>
                </a:solidFill>
              </a:defRPr>
            </a:lvl7pPr>
            <a:lvl8pPr>
              <a:defRPr sz="1650" b="0">
                <a:solidFill>
                  <a:srgbClr val="4A6271"/>
                </a:solidFill>
              </a:defRPr>
            </a:lvl8pPr>
            <a:lvl9pPr>
              <a:defRPr sz="1650" b="0">
                <a:solidFill>
                  <a:srgbClr val="4A6271"/>
                </a:solidFill>
              </a:defRPr>
            </a:lvl9pPr>
          </a:lstStyle>
          <a:p xmlns:a="http://schemas.openxmlformats.org/drawingml/2006/main">
            <a:pPr>
              <a:defRPr sz="1650" b="0">
                <a:solidFill>
                  <a:srgbClr val="4A6271"/>
                </a:solidFill>
              </a:defRPr>
            </a:pPr>
            <a:r>
              <a:rPr sz="1650" b="0">
                <a:solidFill>
                  <a:srgbClr val="4A6271"/>
                </a:solidFill>
              </a:rPr>
              <a:t>仔猪成本已含繁育阶段费用</a:t>
            </a:r>
          </a:p>
          <a:p xmlns:a="http://schemas.openxmlformats.org/drawingml/2006/main">
            <a:pPr>
              <a:defRPr sz="1650" b="0">
                <a:solidFill>
                  <a:srgbClr val="4A6271"/>
                </a:solidFill>
              </a:defRPr>
            </a:pPr>
            <a:r>
              <a:rPr sz="1650" b="0">
                <a:solidFill>
                  <a:srgbClr val="4A6271"/>
                </a:solidFill>
              </a:rPr>
              <a:t>本例属于神农披露口径</a:t>
            </a:r>
          </a:p>
        </p:txBody>
      </p:sp>
      <p:sp>
        <p:nvSpPr>
          <p:cNvPr id="6" name="takeaway">
            <a:extLst xmlns:a="http://schemas.openxmlformats.org/drawingml/2006/main">
              <a:ext uri="{FF2B5EF4-FFF2-40B4-BE49-F238E27FC236}">
                <a16:creationId xmlns:a16="http://schemas.microsoft.com/office/drawing/2014/main" id="{96765E63-8A96-47BF-906B-F0208F0E9886}"/>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饲料约占54%，仔猪约占23%，六项合计12.4元/公斤</a:t>
            </a:r>
          </a:p>
        </p:txBody>
      </p:sp>
      <p:sp>
        <p:nvSpPr>
          <p:cNvPr id="7" name="source">
            <a:extLst xmlns:a="http://schemas.openxmlformats.org/drawingml/2006/main">
              <a:ext uri="{FF2B5EF4-FFF2-40B4-BE49-F238E27FC236}">
                <a16:creationId xmlns:a16="http://schemas.microsoft.com/office/drawing/2014/main" id="{56BC1D10-F7AE-443D-8044-30ABB54CFDE0}"/>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报告§3.1；参考[1]—[5]</a:t>
            </a:r>
          </a:p>
        </p:txBody>
      </p:sp>
      <p:sp>
        <p:nvSpPr>
          <p:cNvPr id="8" name="page">
            <a:extLst xmlns:a="http://schemas.openxmlformats.org/drawingml/2006/main">
              <a:ext uri="{FF2B5EF4-FFF2-40B4-BE49-F238E27FC236}">
                <a16:creationId xmlns:a16="http://schemas.microsoft.com/office/drawing/2014/main" id="{F6A95642-5E88-4D34-B759-30B4EF4238DA}"/>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02</a:t>
            </a:r>
          </a:p>
        </p:txBody>
      </p:sp>
    </p:spTree>
    <p:extLst>
      <p:ext uri="{BB962C8B-B14F-4D97-AF65-F5344CB8AC3E}">
        <p14:creationId xmlns:p14="http://schemas.microsoft.com/office/powerpoint/2010/main" val="18955972"/>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918F8769-6AD1-4021-87F3-17AF05C1B29E}"/>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政策目标、逐利与资本约束</a:t>
            </a:r>
          </a:p>
        </p:txBody>
      </p:sp>
      <p:sp>
        <p:nvSpPr>
          <p:cNvPr id="3" name="content-0">
            <a:extLst xmlns:a="http://schemas.openxmlformats.org/drawingml/2006/main">
              <a:ext uri="{FF2B5EF4-FFF2-40B4-BE49-F238E27FC236}">
                <a16:creationId xmlns:a16="http://schemas.microsoft.com/office/drawing/2014/main" id="{8B3DF856-7590-4D52-9CF4-0782CDECF657}"/>
              </a:ext>
            </a:extLst>
          </p:cNvPr>
          <p:cNvSpPr>
            <a:spLocks xmlns:a="http://schemas.openxmlformats.org/drawingml/2006/main" noGrp="1"/>
          </p:cNvSpPr>
          <p:nvPr/>
        </p:nvSpPr>
        <p:spPr>
          <a:xfrm xmlns:a="http://schemas.openxmlformats.org/drawingml/2006/main">
            <a:off x="714375" y="156210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H1：政策保有量提供正常数量参照</a:t>
            </a:r>
          </a:p>
        </p:txBody>
      </p:sp>
      <p:sp>
        <p:nvSpPr>
          <p:cNvPr id="4" name="content-1">
            <a:extLst xmlns:a="http://schemas.openxmlformats.org/drawingml/2006/main">
              <a:ext uri="{FF2B5EF4-FFF2-40B4-BE49-F238E27FC236}">
                <a16:creationId xmlns:a16="http://schemas.microsoft.com/office/drawing/2014/main" id="{AE96C7A6-500C-482E-9470-6488C5D2A0FC}"/>
              </a:ext>
            </a:extLst>
          </p:cNvPr>
          <p:cNvSpPr>
            <a:spLocks xmlns:a="http://schemas.openxmlformats.org/drawingml/2006/main" noGrp="1"/>
          </p:cNvSpPr>
          <p:nvPr/>
        </p:nvSpPr>
        <p:spPr>
          <a:xfrm xmlns:a="http://schemas.openxmlformats.org/drawingml/2006/main">
            <a:off x="714375" y="254317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H2：养殖主体比较经营与退出的预期收益</a:t>
            </a:r>
          </a:p>
        </p:txBody>
      </p:sp>
      <p:sp>
        <p:nvSpPr>
          <p:cNvPr id="5" name="content-2">
            <a:extLst xmlns:a="http://schemas.openxmlformats.org/drawingml/2006/main">
              <a:ext uri="{FF2B5EF4-FFF2-40B4-BE49-F238E27FC236}">
                <a16:creationId xmlns:a16="http://schemas.microsoft.com/office/drawing/2014/main" id="{0098901B-22F1-439B-92E8-0456A19B3673}"/>
              </a:ext>
            </a:extLst>
          </p:cNvPr>
          <p:cNvSpPr>
            <a:spLocks xmlns:a="http://schemas.openxmlformats.org/drawingml/2006/main" noGrp="1"/>
          </p:cNvSpPr>
          <p:nvPr/>
        </p:nvSpPr>
        <p:spPr>
          <a:xfrm xmlns:a="http://schemas.openxmlformats.org/drawingml/2006/main">
            <a:off x="714375" y="352425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H3：亏损、扩张及偿债都需要可用资本</a:t>
            </a:r>
          </a:p>
        </p:txBody>
      </p:sp>
      <p:sp>
        <p:nvSpPr>
          <p:cNvPr id="6" name="content-3">
            <a:extLst xmlns:a="http://schemas.openxmlformats.org/drawingml/2006/main">
              <a:ext uri="{FF2B5EF4-FFF2-40B4-BE49-F238E27FC236}">
                <a16:creationId xmlns:a16="http://schemas.microsoft.com/office/drawing/2014/main" id="{24796D6B-8531-4402-8CAF-D5F4E5E06FB6}"/>
              </a:ext>
            </a:extLst>
          </p:cNvPr>
          <p:cNvSpPr>
            <a:spLocks xmlns:a="http://schemas.openxmlformats.org/drawingml/2006/main" noGrp="1"/>
          </p:cNvSpPr>
          <p:nvPr/>
        </p:nvSpPr>
        <p:spPr>
          <a:xfrm xmlns:a="http://schemas.openxmlformats.org/drawingml/2006/main">
            <a:off x="714375" y="450532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补充条件：需求水平、生产效率、必要成本和资本回报</a:t>
            </a:r>
          </a:p>
        </p:txBody>
      </p:sp>
      <p:sp>
        <p:nvSpPr>
          <p:cNvPr id="7" name="takeaway">
            <a:extLst xmlns:a="http://schemas.openxmlformats.org/drawingml/2006/main">
              <a:ext uri="{FF2B5EF4-FFF2-40B4-BE49-F238E27FC236}">
                <a16:creationId xmlns:a16="http://schemas.microsoft.com/office/drawing/2014/main" id="{69155428-AF6F-4719-9047-E757E6AB75C4}"/>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3750万头政策参照需要与效率、需求和价格函数一起使用</a:t>
            </a:r>
          </a:p>
        </p:txBody>
      </p:sp>
      <p:sp>
        <p:nvSpPr>
          <p:cNvPr id="8" name="source">
            <a:extLst xmlns:a="http://schemas.openxmlformats.org/drawingml/2006/main">
              <a:ext uri="{FF2B5EF4-FFF2-40B4-BE49-F238E27FC236}">
                <a16:creationId xmlns:a16="http://schemas.microsoft.com/office/drawing/2014/main" id="{45900469-B979-4E0D-8353-6483C9D6D3B6}"/>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报告§1.4、§5.4；参考[22]</a:t>
            </a:r>
          </a:p>
        </p:txBody>
      </p:sp>
      <p:sp>
        <p:nvSpPr>
          <p:cNvPr id="9" name="page">
            <a:extLst xmlns:a="http://schemas.openxmlformats.org/drawingml/2006/main">
              <a:ext uri="{FF2B5EF4-FFF2-40B4-BE49-F238E27FC236}">
                <a16:creationId xmlns:a16="http://schemas.microsoft.com/office/drawing/2014/main" id="{3A155C1F-BE8C-4D35-9240-E3E20044A2F6}"/>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03</a:t>
            </a:r>
          </a:p>
        </p:txBody>
      </p:sp>
    </p:spTree>
    <p:extLst>
      <p:ext uri="{BB962C8B-B14F-4D97-AF65-F5344CB8AC3E}">
        <p14:creationId xmlns:p14="http://schemas.microsoft.com/office/powerpoint/2010/main" val="1232302169"/>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56CF02F4-4C29-41E7-86B5-F318BADA66A6}"/>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完全成本与现金支出</a:t>
            </a:r>
          </a:p>
        </p:txBody>
      </p:sp>
      <p:graphicFrame>
        <p:nvGraphicFramePr>
          <p:cNvPr id="3" name="">
            <a:extLst xmlns:a="http://schemas.openxmlformats.org/drawingml/2006/main">
              <a:ext uri="{FF2B5EF4-FFF2-40B4-BE49-F238E27FC236}">
                <a16:creationId xmlns:a16="http://schemas.microsoft.com/office/drawing/2014/main" id="{97F36146-120F-441B-8108-5E7F44682171}"/>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4279392"/>
                <a:gridCol w="2523744"/>
                <a:gridCol w="4169664"/>
              </a:tblGrid>
              <a:tr h="754380">
                <a:tc>
                  <a:txBody>
                    <a:bodyPr/>
                    <a:lstStyle/>
                    <a:p>
                      <a:r>
                        <a:rPr sz="1875" b="1">
                          <a:solidFill>
                            <a:srgbClr val="FFFFFF"/>
                          </a:solidFill>
                        </a:rPr>
                        <a:t>概念</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包含内容</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分析用途</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754380">
                <a:tc>
                  <a:txBody>
                    <a:bodyPr/>
                    <a:lstStyle/>
                    <a:p>
                      <a:r>
                        <a:rPr sz="1875" b="0">
                          <a:solidFill>
                            <a:srgbClr val="102C3A"/>
                          </a:solidFill>
                        </a:rPr>
                        <a:t>生产成本</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与生产阶段对应的投入</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生产效率与过程比较</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754380">
                <a:tc>
                  <a:txBody>
                    <a:bodyPr/>
                    <a:lstStyle/>
                    <a:p>
                      <a:r>
                        <a:rPr sz="1875" b="0">
                          <a:solidFill>
                            <a:srgbClr val="102C3A"/>
                          </a:solidFill>
                        </a:rPr>
                        <a:t>会计完全成本</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生产投入及对应期间费用</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同范围盈利判断</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754380">
                <a:tc>
                  <a:txBody>
                    <a:bodyPr/>
                    <a:lstStyle/>
                    <a:p>
                      <a:r>
                        <a:rPr sz="1875" b="0">
                          <a:solidFill>
                            <a:srgbClr val="102C3A"/>
                          </a:solidFill>
                        </a:rPr>
                        <a:t>现金成本</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实际付现及相关周转</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短期流动性判断</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754380">
                <a:tc>
                  <a:txBody>
                    <a:bodyPr/>
                    <a:lstStyle/>
                    <a:p>
                      <a:r>
                        <a:rPr sz="1875" b="0">
                          <a:solidFill>
                            <a:srgbClr val="102C3A"/>
                          </a:solidFill>
                        </a:rPr>
                        <a:t>经济成本</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再加自有资本与家庭劳动机会成本</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长期投入与退出判断</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bl>
          </a:graphicData>
        </a:graphic>
      </p:graphicFrame>
      <p:sp>
        <p:nvSpPr>
          <p:cNvPr id="4" name="takeaway">
            <a:extLst xmlns:a="http://schemas.openxmlformats.org/drawingml/2006/main">
              <a:ext uri="{FF2B5EF4-FFF2-40B4-BE49-F238E27FC236}">
                <a16:creationId xmlns:a16="http://schemas.microsoft.com/office/drawing/2014/main" id="{2E05BFDD-8D1E-4C1E-86DF-60E59FDD60D5}"/>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12.4减去直接列示折旧0.2，不能直接当完整现金成本</a:t>
            </a:r>
          </a:p>
        </p:txBody>
      </p:sp>
      <p:sp>
        <p:nvSpPr>
          <p:cNvPr id="5" name="source">
            <a:extLst xmlns:a="http://schemas.openxmlformats.org/drawingml/2006/main">
              <a:ext uri="{FF2B5EF4-FFF2-40B4-BE49-F238E27FC236}">
                <a16:creationId xmlns:a16="http://schemas.microsoft.com/office/drawing/2014/main" id="{4CD7884A-5A66-48CC-8BBC-DFE9E3FE3EBE}"/>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报告§3.1、§3.5；参考[1]—[5]</a:t>
            </a:r>
          </a:p>
        </p:txBody>
      </p:sp>
      <p:sp>
        <p:nvSpPr>
          <p:cNvPr id="6" name="page">
            <a:extLst xmlns:a="http://schemas.openxmlformats.org/drawingml/2006/main">
              <a:ext uri="{FF2B5EF4-FFF2-40B4-BE49-F238E27FC236}">
                <a16:creationId xmlns:a16="http://schemas.microsoft.com/office/drawing/2014/main" id="{2483B16C-4C8B-45CF-A839-6363CD511A5E}"/>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04</a:t>
            </a:r>
          </a:p>
        </p:txBody>
      </p:sp>
    </p:spTree>
    <p:extLst>
      <p:ext uri="{BB962C8B-B14F-4D97-AF65-F5344CB8AC3E}">
        <p14:creationId xmlns:p14="http://schemas.microsoft.com/office/powerpoint/2010/main" val="453228198"/>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EF9E7CF3-5C98-4B4F-9998-EA890A8353AE}"/>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官方调查提供成本量级参照</a:t>
            </a:r>
          </a:p>
        </p:txBody>
      </p:sp>
      <p:graphicFrame>
        <p:nvGraphicFramePr>
          <p:cNvPr id="3" name="">
            <a:extLst xmlns:a="http://schemas.openxmlformats.org/drawingml/2006/main">
              <a:ext uri="{FF2B5EF4-FFF2-40B4-BE49-F238E27FC236}">
                <a16:creationId xmlns:a16="http://schemas.microsoft.com/office/drawing/2014/main" id="{6487CB52-51D4-4769-A730-1BCCCE9F2BCE}"/>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4279392"/>
                <a:gridCol w="2523744"/>
                <a:gridCol w="4169664"/>
              </a:tblGrid>
              <a:tr h="628650">
                <a:tc>
                  <a:txBody>
                    <a:bodyPr/>
                    <a:lstStyle/>
                    <a:p>
                      <a:r>
                        <a:rPr sz="1875" b="1">
                          <a:solidFill>
                            <a:srgbClr val="FFFFFF"/>
                          </a:solidFill>
                        </a:rPr>
                        <a:t>调查及期次</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原出栏重kg</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调查成本元/kg</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628650">
                <a:tc>
                  <a:txBody>
                    <a:bodyPr/>
                    <a:lstStyle/>
                    <a:p>
                      <a:r>
                        <a:rPr sz="1875" b="0">
                          <a:solidFill>
                            <a:srgbClr val="102C3A"/>
                          </a:solidFill>
                        </a:rPr>
                        <a:t>浙江2025.03</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141.68</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15.7688</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628650">
                <a:tc>
                  <a:txBody>
                    <a:bodyPr/>
                    <a:lstStyle/>
                    <a:p>
                      <a:r>
                        <a:rPr sz="1875" b="0">
                          <a:solidFill>
                            <a:srgbClr val="102C3A"/>
                          </a:solidFill>
                        </a:rPr>
                        <a:t>浙江2025.09</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141.10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14.9661</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628650">
                <a:tc>
                  <a:txBody>
                    <a:bodyPr/>
                    <a:lstStyle/>
                    <a:p>
                      <a:r>
                        <a:rPr sz="1875" b="0">
                          <a:solidFill>
                            <a:srgbClr val="102C3A"/>
                          </a:solidFill>
                        </a:rPr>
                        <a:t>浙江2026.04</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142.24</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14.8436</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628650">
                <a:tc>
                  <a:txBody>
                    <a:bodyPr/>
                    <a:lstStyle/>
                    <a:p>
                      <a:r>
                        <a:rPr sz="1875" b="0">
                          <a:solidFill>
                            <a:srgbClr val="102C3A"/>
                          </a:solidFill>
                        </a:rPr>
                        <a:t>沈阳2025</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138.97</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15.3559</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628650">
                <a:tc>
                  <a:txBody>
                    <a:bodyPr/>
                    <a:lstStyle/>
                    <a:p>
                      <a:r>
                        <a:rPr sz="1875" b="0">
                          <a:solidFill>
                            <a:srgbClr val="102C3A"/>
                          </a:solidFill>
                        </a:rPr>
                        <a:t>山东2026Q2规模场</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125.24</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12.7400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bl>
          </a:graphicData>
        </a:graphic>
      </p:graphicFrame>
      <p:sp>
        <p:nvSpPr>
          <p:cNvPr id="4" name="takeaway">
            <a:extLst xmlns:a="http://schemas.openxmlformats.org/drawingml/2006/main">
              <a:ext uri="{FF2B5EF4-FFF2-40B4-BE49-F238E27FC236}">
                <a16:creationId xmlns:a16="http://schemas.microsoft.com/office/drawing/2014/main" id="{64EC96E0-E7C5-4EE9-B35A-D7E416E51141}"/>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地区、时期、重量、经营方式和费用边界共同影响成本</a:t>
            </a:r>
          </a:p>
        </p:txBody>
      </p:sp>
      <p:sp>
        <p:nvSpPr>
          <p:cNvPr id="5" name="source">
            <a:extLst xmlns:a="http://schemas.openxmlformats.org/drawingml/2006/main">
              <a:ext uri="{FF2B5EF4-FFF2-40B4-BE49-F238E27FC236}">
                <a16:creationId xmlns:a16="http://schemas.microsoft.com/office/drawing/2014/main" id="{B14124FA-A5FF-4A17-BBE7-A472EBD5C76A}"/>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报告§3.2；参考[6]—[10]</a:t>
            </a:r>
          </a:p>
        </p:txBody>
      </p:sp>
      <p:sp>
        <p:nvSpPr>
          <p:cNvPr id="6" name="page">
            <a:extLst xmlns:a="http://schemas.openxmlformats.org/drawingml/2006/main">
              <a:ext uri="{FF2B5EF4-FFF2-40B4-BE49-F238E27FC236}">
                <a16:creationId xmlns:a16="http://schemas.microsoft.com/office/drawing/2014/main" id="{D437EE59-9E73-4989-8272-A7D831D323C9}"/>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05</a:t>
            </a:r>
          </a:p>
        </p:txBody>
      </p:sp>
    </p:spTree>
    <p:extLst>
      <p:ext uri="{BB962C8B-B14F-4D97-AF65-F5344CB8AC3E}">
        <p14:creationId xmlns:p14="http://schemas.microsoft.com/office/powerpoint/2010/main" val="1243140144"/>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F5CBAD72-24EA-43E2-8B51-AD776694915E}"/>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山东标准化预算与实际监测</a:t>
            </a:r>
          </a:p>
        </p:txBody>
      </p:sp>
      <p:graphicFrame>
        <p:nvGraphicFramePr>
          <p:cNvPr id="3" name="">
            <a:extLst xmlns:a="http://schemas.openxmlformats.org/drawingml/2006/main">
              <a:ext uri="{FF2B5EF4-FFF2-40B4-BE49-F238E27FC236}">
                <a16:creationId xmlns:a16="http://schemas.microsoft.com/office/drawing/2014/main" id="{CF940777-A610-47BD-B8A0-61A289D41303}"/>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4279392"/>
                <a:gridCol w="2523744"/>
                <a:gridCol w="4169664"/>
              </a:tblGrid>
              <a:tr h="538843">
                <a:tc>
                  <a:txBody>
                    <a:bodyPr/>
                    <a:lstStyle/>
                    <a:p>
                      <a:r>
                        <a:rPr sz="1875" b="1">
                          <a:solidFill>
                            <a:srgbClr val="FFFFFF"/>
                          </a:solidFill>
                        </a:rPr>
                        <a:t>2026Q2标准化120kg预算</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自繁自育</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外购仔猪</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538843">
                <a:tc>
                  <a:txBody>
                    <a:bodyPr/>
                    <a:lstStyle/>
                    <a:p>
                      <a:r>
                        <a:rPr sz="1875" b="0">
                          <a:solidFill>
                            <a:srgbClr val="102C3A"/>
                          </a:solidFill>
                        </a:rPr>
                        <a:t>仔猪元/头</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280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230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饲料元/头</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900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900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38843">
                <a:tc>
                  <a:txBody>
                    <a:bodyPr/>
                    <a:lstStyle/>
                    <a:p>
                      <a:r>
                        <a:rPr sz="1875" b="0">
                          <a:solidFill>
                            <a:srgbClr val="102C3A"/>
                          </a:solidFill>
                        </a:rPr>
                        <a:t>其余项目合计元/头</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275</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240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总成本元/头</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1455</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1370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38843">
                <a:tc>
                  <a:txBody>
                    <a:bodyPr/>
                    <a:lstStyle/>
                    <a:p>
                      <a:r>
                        <a:rPr sz="1875" b="0">
                          <a:solidFill>
                            <a:srgbClr val="102C3A"/>
                          </a:solidFill>
                        </a:rPr>
                        <a:t>除120后元/kg</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12.1250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11.4167</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原文额外3%后元/kg</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12.49</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11.76</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bl>
          </a:graphicData>
        </a:graphic>
      </p:graphicFrame>
      <p:sp>
        <p:nvSpPr>
          <p:cNvPr id="4" name="takeaway">
            <a:extLst xmlns:a="http://schemas.openxmlformats.org/drawingml/2006/main">
              <a:ext uri="{FF2B5EF4-FFF2-40B4-BE49-F238E27FC236}">
                <a16:creationId xmlns:a16="http://schemas.microsoft.com/office/drawing/2014/main" id="{36A70BAC-679F-4781-8E22-903C8E12D372}"/>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同一材料的实际规模场监测为125.24公斤、12.74元/公斤</a:t>
            </a:r>
          </a:p>
        </p:txBody>
      </p:sp>
      <p:sp>
        <p:nvSpPr>
          <p:cNvPr id="5" name="source">
            <a:extLst xmlns:a="http://schemas.openxmlformats.org/drawingml/2006/main">
              <a:ext uri="{FF2B5EF4-FFF2-40B4-BE49-F238E27FC236}">
                <a16:creationId xmlns:a16="http://schemas.microsoft.com/office/drawing/2014/main" id="{532ECCA6-0BE4-4EA6-9340-B82EC6D6A751}"/>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报告§3.3；参考[10]—[12]</a:t>
            </a:r>
          </a:p>
        </p:txBody>
      </p:sp>
      <p:sp>
        <p:nvSpPr>
          <p:cNvPr id="6" name="page">
            <a:extLst xmlns:a="http://schemas.openxmlformats.org/drawingml/2006/main">
              <a:ext uri="{FF2B5EF4-FFF2-40B4-BE49-F238E27FC236}">
                <a16:creationId xmlns:a16="http://schemas.microsoft.com/office/drawing/2014/main" id="{7A805923-DDA2-4BEF-907A-2BF37AD99042}"/>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06</a:t>
            </a:r>
          </a:p>
        </p:txBody>
      </p:sp>
    </p:spTree>
    <p:extLst>
      <p:ext uri="{BB962C8B-B14F-4D97-AF65-F5344CB8AC3E}">
        <p14:creationId xmlns:p14="http://schemas.microsoft.com/office/powerpoint/2010/main" val="72119722"/>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7A4D8BD3-FF4E-40CE-906C-4FA211960CAA}"/>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生产效率怎样改变成本</a:t>
            </a:r>
          </a:p>
        </p:txBody>
      </p:sp>
      <p:graphicFrame>
        <p:nvGraphicFramePr>
          <p:cNvPr id="3" name="Chart">
            <a:extLst xmlns:a="http://schemas.openxmlformats.org/drawingml/2006/main">
              <a:ext uri="{FF2B5EF4-FFF2-40B4-BE49-F238E27FC236}">
                <a16:creationId xmlns:a16="http://schemas.microsoft.com/office/drawing/2014/main" id="{C8541002-C351-4ADF-B471-5DADC3629954}"/>
              </a:ext>
            </a:extLst>
          </p:cNvPr>
          <p:cNvGraphicFramePr/>
          <p:nvPr/>
        </p:nvGraphicFramePr>
        <p:xfrm>
          <a:off xmlns:a="http://schemas.openxmlformats.org/drawingml/2006/main" x="609600" y="1543050"/>
          <a:ext xmlns:a="http://schemas.openxmlformats.org/drawingml/2006/main" cx="10934700" cy="3619500"/>
        </p:xfrm>
        <a:graphic xmlns:a="http://schemas.openxmlformats.org/drawingml/2006/main">
          <a:graphicData uri="http://schemas.openxmlformats.org/drawingml/2006/chart">
            <c:chart xmlns:r="http://schemas.openxmlformats.org/officeDocument/2006/relationships" xmlns:c="http://schemas.openxmlformats.org/drawingml/2006/chart" r:id="Rda9a7ba60ef74ab8"/>
          </a:graphicData>
        </a:graphic>
      </p:graphicFrame>
      <p:sp>
        <p:nvSpPr>
          <p:cNvPr id="4" name="takeaway">
            <a:extLst xmlns:a="http://schemas.openxmlformats.org/drawingml/2006/main">
              <a:ext uri="{FF2B5EF4-FFF2-40B4-BE49-F238E27FC236}">
                <a16:creationId xmlns:a16="http://schemas.microsoft.com/office/drawing/2014/main" id="{7270A208-6C91-4A44-9CE3-7E68F7B43318}"/>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A—E是技术参数组合，尚未对应全国效率分位</a:t>
            </a:r>
          </a:p>
        </p:txBody>
      </p:sp>
      <p:sp>
        <p:nvSpPr>
          <p:cNvPr id="5" name="source">
            <a:extLst xmlns:a="http://schemas.openxmlformats.org/drawingml/2006/main">
              <a:ext uri="{FF2B5EF4-FFF2-40B4-BE49-F238E27FC236}">
                <a16:creationId xmlns:a16="http://schemas.microsoft.com/office/drawing/2014/main" id="{E30B973B-AA8D-4E2E-BE31-6F934659F702}"/>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报告§3.4；参考[13]</a:t>
            </a:r>
          </a:p>
        </p:txBody>
      </p:sp>
      <p:sp>
        <p:nvSpPr>
          <p:cNvPr id="6" name="page">
            <a:extLst xmlns:a="http://schemas.openxmlformats.org/drawingml/2006/main">
              <a:ext uri="{FF2B5EF4-FFF2-40B4-BE49-F238E27FC236}">
                <a16:creationId xmlns:a16="http://schemas.microsoft.com/office/drawing/2014/main" id="{FA8D75AC-4343-4DDD-AF85-4B40717512CD}"/>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07</a:t>
            </a:r>
          </a:p>
        </p:txBody>
      </p:sp>
    </p:spTree>
    <p:extLst>
      <p:ext uri="{BB962C8B-B14F-4D97-AF65-F5344CB8AC3E}">
        <p14:creationId xmlns:p14="http://schemas.microsoft.com/office/powerpoint/2010/main" val="1095812125"/>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8C64338-1AA3-462A-8533-546E1C6C7CD5}"/>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必要产能成本与长期中枢</a:t>
            </a:r>
          </a:p>
        </p:txBody>
      </p:sp>
      <p:sp>
        <p:nvSpPr>
          <p:cNvPr id="3" name="content-0">
            <a:extLst xmlns:a="http://schemas.openxmlformats.org/drawingml/2006/main">
              <a:ext uri="{FF2B5EF4-FFF2-40B4-BE49-F238E27FC236}">
                <a16:creationId xmlns:a16="http://schemas.microsoft.com/office/drawing/2014/main" id="{AD596054-82BF-4C45-9864-94C08862F809}"/>
              </a:ext>
            </a:extLst>
          </p:cNvPr>
          <p:cNvSpPr>
            <a:spLocks xmlns:a="http://schemas.openxmlformats.org/drawingml/2006/main" noGrp="1"/>
          </p:cNvSpPr>
          <p:nvPr/>
        </p:nvSpPr>
        <p:spPr>
          <a:xfrm xmlns:a="http://schemas.openxmlformats.org/drawingml/2006/main">
            <a:off x="714375" y="156210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625" b="1">
                <a:solidFill>
                  <a:srgbClr val="087F80"/>
                </a:solidFill>
              </a:defRPr>
            </a:defPPr>
            <a:lvl1pPr>
              <a:defRPr sz="2625" b="1">
                <a:solidFill>
                  <a:srgbClr val="087F80"/>
                </a:solidFill>
              </a:defRPr>
            </a:lvl1pPr>
            <a:lvl2pPr>
              <a:defRPr sz="2625" b="1">
                <a:solidFill>
                  <a:srgbClr val="087F80"/>
                </a:solidFill>
              </a:defRPr>
            </a:lvl2pPr>
            <a:lvl3pPr>
              <a:defRPr sz="2625" b="1">
                <a:solidFill>
                  <a:srgbClr val="087F80"/>
                </a:solidFill>
              </a:defRPr>
            </a:lvl3pPr>
            <a:lvl4pPr>
              <a:defRPr sz="2625" b="1">
                <a:solidFill>
                  <a:srgbClr val="087F80"/>
                </a:solidFill>
              </a:defRPr>
            </a:lvl4pPr>
            <a:lvl5pPr>
              <a:defRPr sz="2625" b="1">
                <a:solidFill>
                  <a:srgbClr val="087F80"/>
                </a:solidFill>
              </a:defRPr>
            </a:lvl5pPr>
            <a:lvl6pPr>
              <a:defRPr sz="2625" b="1">
                <a:solidFill>
                  <a:srgbClr val="087F80"/>
                </a:solidFill>
              </a:defRPr>
            </a:lvl6pPr>
            <a:lvl7pPr>
              <a:defRPr sz="2625" b="1">
                <a:solidFill>
                  <a:srgbClr val="087F80"/>
                </a:solidFill>
              </a:defRPr>
            </a:lvl7pPr>
            <a:lvl8pPr>
              <a:defRPr sz="2625" b="1">
                <a:solidFill>
                  <a:srgbClr val="087F80"/>
                </a:solidFill>
              </a:defRPr>
            </a:lvl8pPr>
            <a:lvl9pPr>
              <a:defRPr sz="2625" b="1">
                <a:solidFill>
                  <a:srgbClr val="087F80"/>
                </a:solidFill>
              </a:defRPr>
            </a:lvl9pPr>
          </a:lstStyle>
          <a:p xmlns:a="http://schemas.openxmlformats.org/drawingml/2006/main">
            <a:pPr>
              <a:defRPr sz="2625" b="1">
                <a:solidFill>
                  <a:srgbClr val="087F80"/>
                </a:solidFill>
              </a:defRPr>
            </a:pPr>
            <a:r>
              <a:rPr sz="2625" b="1">
                <a:solidFill>
                  <a:srgbClr val="087F80"/>
                </a:solidFill>
              </a:rPr>
              <a:t>P成本 = C必要 + 每头权益资本 × 要求回报 / 120</a:t>
            </a:r>
          </a:p>
        </p:txBody>
      </p:sp>
      <p:sp>
        <p:nvSpPr>
          <p:cNvPr id="4" name="content-1">
            <a:extLst xmlns:a="http://schemas.openxmlformats.org/drawingml/2006/main">
              <a:ext uri="{FF2B5EF4-FFF2-40B4-BE49-F238E27FC236}">
                <a16:creationId xmlns:a16="http://schemas.microsoft.com/office/drawing/2014/main" id="{F8BAFBF2-BA5F-4706-B2D1-70339CEE95FC}"/>
              </a:ext>
            </a:extLst>
          </p:cNvPr>
          <p:cNvSpPr>
            <a:spLocks xmlns:a="http://schemas.openxmlformats.org/drawingml/2006/main" noGrp="1"/>
          </p:cNvSpPr>
          <p:nvPr/>
        </p:nvSpPr>
        <p:spPr>
          <a:xfrm xmlns:a="http://schemas.openxmlformats.org/drawingml/2006/main">
            <a:off x="714375" y="254317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14.9 + 1000 × 10% / 120 = 15.7333元/kg</a:t>
            </a:r>
          </a:p>
        </p:txBody>
      </p:sp>
      <p:sp>
        <p:nvSpPr>
          <p:cNvPr id="5" name="content-2">
            <a:extLst xmlns:a="http://schemas.openxmlformats.org/drawingml/2006/main">
              <a:ext uri="{FF2B5EF4-FFF2-40B4-BE49-F238E27FC236}">
                <a16:creationId xmlns:a16="http://schemas.microsoft.com/office/drawing/2014/main" id="{C871D3A7-045D-4B6E-8C93-FDAAA006F0A6}"/>
              </a:ext>
            </a:extLst>
          </p:cNvPr>
          <p:cNvSpPr>
            <a:spLocks xmlns:a="http://schemas.openxmlformats.org/drawingml/2006/main" noGrp="1"/>
          </p:cNvSpPr>
          <p:nvPr/>
        </p:nvSpPr>
        <p:spPr>
          <a:xfrm xmlns:a="http://schemas.openxmlformats.org/drawingml/2006/main">
            <a:off x="714375" y="352425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成本已含债务利息时，单列权益机会回报</a:t>
            </a:r>
          </a:p>
        </p:txBody>
      </p:sp>
      <p:sp>
        <p:nvSpPr>
          <p:cNvPr id="6" name="content-3">
            <a:extLst xmlns:a="http://schemas.openxmlformats.org/drawingml/2006/main">
              <a:ext uri="{FF2B5EF4-FFF2-40B4-BE49-F238E27FC236}">
                <a16:creationId xmlns:a16="http://schemas.microsoft.com/office/drawing/2014/main" id="{2BB94FC4-4A77-448B-89C9-666E69B61A01}"/>
              </a:ext>
            </a:extLst>
          </p:cNvPr>
          <p:cNvSpPr>
            <a:spLocks xmlns:a="http://schemas.openxmlformats.org/drawingml/2006/main" noGrp="1"/>
          </p:cNvSpPr>
          <p:nvPr/>
        </p:nvSpPr>
        <p:spPr>
          <a:xfrm xmlns:a="http://schemas.openxmlformats.org/drawingml/2006/main">
            <a:off x="714375" y="450532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必要产能成本与资本投入都需要独立证据</a:t>
            </a:r>
          </a:p>
        </p:txBody>
      </p:sp>
      <p:sp>
        <p:nvSpPr>
          <p:cNvPr id="7" name="takeaway">
            <a:extLst xmlns:a="http://schemas.openxmlformats.org/drawingml/2006/main">
              <a:ext uri="{FF2B5EF4-FFF2-40B4-BE49-F238E27FC236}">
                <a16:creationId xmlns:a16="http://schemas.microsoft.com/office/drawing/2014/main" id="{8668CB98-01A1-4B90-9AAD-7F6B1C73FBFC}"/>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长期再生产价格可以高于或低于短期现货</a:t>
            </a:r>
          </a:p>
        </p:txBody>
      </p:sp>
      <p:sp>
        <p:nvSpPr>
          <p:cNvPr id="8" name="source">
            <a:extLst xmlns:a="http://schemas.openxmlformats.org/drawingml/2006/main">
              <a:ext uri="{FF2B5EF4-FFF2-40B4-BE49-F238E27FC236}">
                <a16:creationId xmlns:a16="http://schemas.microsoft.com/office/drawing/2014/main" id="{CA111A51-BA56-43E5-A97F-58D2608814A7}"/>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报告§5.1—§5.5</a:t>
            </a:r>
          </a:p>
        </p:txBody>
      </p:sp>
      <p:sp>
        <p:nvSpPr>
          <p:cNvPr id="9" name="page">
            <a:extLst xmlns:a="http://schemas.openxmlformats.org/drawingml/2006/main">
              <a:ext uri="{FF2B5EF4-FFF2-40B4-BE49-F238E27FC236}">
                <a16:creationId xmlns:a16="http://schemas.microsoft.com/office/drawing/2014/main" id="{AC6CEDBC-9FA0-46E2-8010-FD69BEE728A4}"/>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08</a:t>
            </a:r>
          </a:p>
        </p:txBody>
      </p:sp>
    </p:spTree>
    <p:extLst>
      <p:ext uri="{BB962C8B-B14F-4D97-AF65-F5344CB8AC3E}">
        <p14:creationId xmlns:p14="http://schemas.microsoft.com/office/powerpoint/2010/main" val="1084644362"/>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AC07F4D7-C10C-4A5D-8DCD-A42B1D8E14D9}"/>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周期高位价格的额外假设</a:t>
            </a:r>
          </a:p>
        </p:txBody>
      </p:sp>
      <p:sp>
        <p:nvSpPr>
          <p:cNvPr id="3" name="content-0">
            <a:extLst xmlns:a="http://schemas.openxmlformats.org/drawingml/2006/main">
              <a:ext uri="{FF2B5EF4-FFF2-40B4-BE49-F238E27FC236}">
                <a16:creationId xmlns:a16="http://schemas.microsoft.com/office/drawing/2014/main" id="{55B3F85D-EA28-4FE7-88A3-6FDFCAA4B9BF}"/>
              </a:ext>
            </a:extLst>
          </p:cNvPr>
          <p:cNvSpPr>
            <a:spLocks xmlns:a="http://schemas.openxmlformats.org/drawingml/2006/main" noGrp="1"/>
          </p:cNvSpPr>
          <p:nvPr/>
        </p:nvSpPr>
        <p:spPr>
          <a:xfrm xmlns:a="http://schemas.openxmlformats.org/drawingml/2006/main">
            <a:off x="714375" y="156210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625" b="1">
                <a:solidFill>
                  <a:srgbClr val="087F80"/>
                </a:solidFill>
              </a:defRPr>
            </a:defPPr>
            <a:lvl1pPr>
              <a:defRPr sz="2625" b="1">
                <a:solidFill>
                  <a:srgbClr val="087F80"/>
                </a:solidFill>
              </a:defRPr>
            </a:lvl1pPr>
            <a:lvl2pPr>
              <a:defRPr sz="2625" b="1">
                <a:solidFill>
                  <a:srgbClr val="087F80"/>
                </a:solidFill>
              </a:defRPr>
            </a:lvl2pPr>
            <a:lvl3pPr>
              <a:defRPr sz="2625" b="1">
                <a:solidFill>
                  <a:srgbClr val="087F80"/>
                </a:solidFill>
              </a:defRPr>
            </a:lvl3pPr>
            <a:lvl4pPr>
              <a:defRPr sz="2625" b="1">
                <a:solidFill>
                  <a:srgbClr val="087F80"/>
                </a:solidFill>
              </a:defRPr>
            </a:lvl4pPr>
            <a:lvl5pPr>
              <a:defRPr sz="2625" b="1">
                <a:solidFill>
                  <a:srgbClr val="087F80"/>
                </a:solidFill>
              </a:defRPr>
            </a:lvl5pPr>
            <a:lvl6pPr>
              <a:defRPr sz="2625" b="1">
                <a:solidFill>
                  <a:srgbClr val="087F80"/>
                </a:solidFill>
              </a:defRPr>
            </a:lvl6pPr>
            <a:lvl7pPr>
              <a:defRPr sz="2625" b="1">
                <a:solidFill>
                  <a:srgbClr val="087F80"/>
                </a:solidFill>
              </a:defRPr>
            </a:lvl7pPr>
            <a:lvl8pPr>
              <a:defRPr sz="2625" b="1">
                <a:solidFill>
                  <a:srgbClr val="087F80"/>
                </a:solidFill>
              </a:defRPr>
            </a:lvl8pPr>
            <a:lvl9pPr>
              <a:defRPr sz="2625" b="1">
                <a:solidFill>
                  <a:srgbClr val="087F80"/>
                </a:solidFill>
              </a:defRPr>
            </a:lvl9pPr>
          </a:lstStyle>
          <a:p xmlns:a="http://schemas.openxmlformats.org/drawingml/2006/main">
            <a:pPr>
              <a:defRPr sz="2625" b="1">
                <a:solidFill>
                  <a:srgbClr val="087F80"/>
                </a:solidFill>
              </a:defRPr>
            </a:pPr>
            <a:r>
              <a:rPr sz="2625" b="1">
                <a:solidFill>
                  <a:srgbClr val="087F80"/>
                </a:solidFill>
              </a:rPr>
              <a:t>正常中枢：15.7333元/kg</a:t>
            </a:r>
          </a:p>
        </p:txBody>
      </p:sp>
      <p:sp>
        <p:nvSpPr>
          <p:cNvPr id="4" name="content-1">
            <a:extLst xmlns:a="http://schemas.openxmlformats.org/drawingml/2006/main">
              <a:ext uri="{FF2B5EF4-FFF2-40B4-BE49-F238E27FC236}">
                <a16:creationId xmlns:a16="http://schemas.microsoft.com/office/drawing/2014/main" id="{3F690977-852D-482A-B767-6FCE1C6D80F0}"/>
              </a:ext>
            </a:extLst>
          </p:cNvPr>
          <p:cNvSpPr>
            <a:spLocks xmlns:a="http://schemas.openxmlformats.org/drawingml/2006/main" noGrp="1"/>
          </p:cNvSpPr>
          <p:nvPr/>
        </p:nvSpPr>
        <p:spPr>
          <a:xfrm xmlns:a="http://schemas.openxmlformats.org/drawingml/2006/main">
            <a:off x="714375" y="254317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本例高位年度价：20.00元/kg</a:t>
            </a:r>
          </a:p>
        </p:txBody>
      </p:sp>
      <p:sp>
        <p:nvSpPr>
          <p:cNvPr id="5" name="content-2">
            <a:extLst xmlns:a="http://schemas.openxmlformats.org/drawingml/2006/main">
              <a:ext uri="{FF2B5EF4-FFF2-40B4-BE49-F238E27FC236}">
                <a16:creationId xmlns:a16="http://schemas.microsoft.com/office/drawing/2014/main" id="{B3E5FDCD-1C83-41FB-8E6F-7D5F4C279D28}"/>
              </a:ext>
            </a:extLst>
          </p:cNvPr>
          <p:cNvSpPr>
            <a:spLocks xmlns:a="http://schemas.openxmlformats.org/drawingml/2006/main" noGrp="1"/>
          </p:cNvSpPr>
          <p:nvPr/>
        </p:nvSpPr>
        <p:spPr>
          <a:xfrm xmlns:a="http://schemas.openxmlformats.org/drawingml/2006/main">
            <a:off x="714375" y="352425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20 / 15.7333 − 1 ≈ 27.12%</a:t>
            </a:r>
          </a:p>
        </p:txBody>
      </p:sp>
      <p:sp>
        <p:nvSpPr>
          <p:cNvPr id="6" name="content-3">
            <a:extLst xmlns:a="http://schemas.openxmlformats.org/drawingml/2006/main">
              <a:ext uri="{FF2B5EF4-FFF2-40B4-BE49-F238E27FC236}">
                <a16:creationId xmlns:a16="http://schemas.microsoft.com/office/drawing/2014/main" id="{F9355C38-6641-4213-B680-82C3B3BF4602}"/>
              </a:ext>
            </a:extLst>
          </p:cNvPr>
          <p:cNvSpPr>
            <a:spLocks xmlns:a="http://schemas.openxmlformats.org/drawingml/2006/main" noGrp="1"/>
          </p:cNvSpPr>
          <p:nvPr/>
        </p:nvSpPr>
        <p:spPr>
          <a:xfrm xmlns:a="http://schemas.openxmlformats.org/drawingml/2006/main">
            <a:off x="714375" y="450532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27.12%是本例的周期上浮设定，尚未由成本法识别</a:t>
            </a:r>
          </a:p>
        </p:txBody>
      </p:sp>
      <p:sp>
        <p:nvSpPr>
          <p:cNvPr id="7" name="takeaway">
            <a:extLst xmlns:a="http://schemas.openxmlformats.org/drawingml/2006/main">
              <a:ext uri="{FF2B5EF4-FFF2-40B4-BE49-F238E27FC236}">
                <a16:creationId xmlns:a16="http://schemas.microsoft.com/office/drawing/2014/main" id="{C01E77E6-5813-4469-9FD8-5D5B460B36C7}"/>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全年20元与某个月、某季度触及20元，会得到不同年度利润</a:t>
            </a:r>
          </a:p>
        </p:txBody>
      </p:sp>
      <p:sp>
        <p:nvSpPr>
          <p:cNvPr id="8" name="source">
            <a:extLst xmlns:a="http://schemas.openxmlformats.org/drawingml/2006/main">
              <a:ext uri="{FF2B5EF4-FFF2-40B4-BE49-F238E27FC236}">
                <a16:creationId xmlns:a16="http://schemas.microsoft.com/office/drawing/2014/main" id="{225F8DB9-D04C-45E7-8A7E-2AB2DE3E6149}"/>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报告修订版 主线演算</a:t>
            </a:r>
          </a:p>
        </p:txBody>
      </p:sp>
      <p:sp>
        <p:nvSpPr>
          <p:cNvPr id="9" name="page">
            <a:extLst xmlns:a="http://schemas.openxmlformats.org/drawingml/2006/main">
              <a:ext uri="{FF2B5EF4-FFF2-40B4-BE49-F238E27FC236}">
                <a16:creationId xmlns:a16="http://schemas.microsoft.com/office/drawing/2014/main" id="{C629DFBD-7CE1-4512-B9C4-2571CF3F2AB9}"/>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09</a:t>
            </a:r>
          </a:p>
        </p:txBody>
      </p:sp>
    </p:spTree>
    <p:extLst>
      <p:ext uri="{BB962C8B-B14F-4D97-AF65-F5344CB8AC3E}">
        <p14:creationId xmlns:p14="http://schemas.microsoft.com/office/powerpoint/2010/main" val="975684983"/>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F394E83-1BFA-4144-A471-5195F518241D}"/>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补充行业判断：供给退出怎样发生</a:t>
            </a:r>
          </a:p>
        </p:txBody>
      </p:sp>
      <p:sp>
        <p:nvSpPr>
          <p:cNvPr id="3" name="content-0">
            <a:extLst xmlns:a="http://schemas.openxmlformats.org/drawingml/2006/main">
              <a:ext uri="{FF2B5EF4-FFF2-40B4-BE49-F238E27FC236}">
                <a16:creationId xmlns:a16="http://schemas.microsoft.com/office/drawing/2014/main" id="{6BAE2C59-83D8-41BB-994D-FD77693795A5}"/>
              </a:ext>
            </a:extLst>
          </p:cNvPr>
          <p:cNvSpPr>
            <a:spLocks xmlns:a="http://schemas.openxmlformats.org/drawingml/2006/main" noGrp="1"/>
          </p:cNvSpPr>
          <p:nvPr/>
        </p:nvSpPr>
        <p:spPr>
          <a:xfrm xmlns:a="http://schemas.openxmlformats.org/drawingml/2006/main">
            <a:off x="714375" y="156210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短期：覆盖付现支出时，亏损生产仍可能持续</a:t>
            </a:r>
          </a:p>
        </p:txBody>
      </p:sp>
      <p:sp>
        <p:nvSpPr>
          <p:cNvPr id="4" name="content-1">
            <a:extLst xmlns:a="http://schemas.openxmlformats.org/drawingml/2006/main">
              <a:ext uri="{FF2B5EF4-FFF2-40B4-BE49-F238E27FC236}">
                <a16:creationId xmlns:a16="http://schemas.microsoft.com/office/drawing/2014/main" id="{BF510503-A006-4653-BEEA-A6AED167BD4E}"/>
              </a:ext>
            </a:extLst>
          </p:cNvPr>
          <p:cNvSpPr>
            <a:spLocks xmlns:a="http://schemas.openxmlformats.org/drawingml/2006/main" noGrp="1"/>
          </p:cNvSpPr>
          <p:nvPr/>
        </p:nvSpPr>
        <p:spPr>
          <a:xfrm xmlns:a="http://schemas.openxmlformats.org/drawingml/2006/main">
            <a:off x="714375" y="254317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长期：不能覆盖机会回报时，追加投资可能停止</a:t>
            </a:r>
          </a:p>
        </p:txBody>
      </p:sp>
      <p:sp>
        <p:nvSpPr>
          <p:cNvPr id="5" name="content-2">
            <a:extLst xmlns:a="http://schemas.openxmlformats.org/drawingml/2006/main">
              <a:ext uri="{FF2B5EF4-FFF2-40B4-BE49-F238E27FC236}">
                <a16:creationId xmlns:a16="http://schemas.microsoft.com/office/drawing/2014/main" id="{D435B08B-A8F6-4DD9-BBAE-D36428F2978E}"/>
              </a:ext>
            </a:extLst>
          </p:cNvPr>
          <p:cNvSpPr>
            <a:spLocks xmlns:a="http://schemas.openxmlformats.org/drawingml/2006/main" noGrp="1"/>
          </p:cNvSpPr>
          <p:nvPr/>
        </p:nvSpPr>
        <p:spPr>
          <a:xfrm xmlns:a="http://schemas.openxmlformats.org/drawingml/2006/main">
            <a:off x="714375" y="352425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资金：现金不足时，产能可能被迫转手</a:t>
            </a:r>
          </a:p>
        </p:txBody>
      </p:sp>
      <p:sp>
        <p:nvSpPr>
          <p:cNvPr id="6" name="content-3">
            <a:extLst xmlns:a="http://schemas.openxmlformats.org/drawingml/2006/main">
              <a:ext uri="{FF2B5EF4-FFF2-40B4-BE49-F238E27FC236}">
                <a16:creationId xmlns:a16="http://schemas.microsoft.com/office/drawing/2014/main" id="{DB673AF2-112A-4A32-A335-185EC2EDFA73}"/>
              </a:ext>
            </a:extLst>
          </p:cNvPr>
          <p:cNvSpPr>
            <a:spLocks xmlns:a="http://schemas.openxmlformats.org/drawingml/2006/main" noGrp="1"/>
          </p:cNvSpPr>
          <p:nvPr/>
        </p:nvSpPr>
        <p:spPr>
          <a:xfrm xmlns:a="http://schemas.openxmlformats.org/drawingml/2006/main">
            <a:off x="714375" y="450532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退出后要检查猪场是否保留、效率是否提高</a:t>
            </a:r>
          </a:p>
        </p:txBody>
      </p:sp>
      <p:sp>
        <p:nvSpPr>
          <p:cNvPr id="7" name="takeaway">
            <a:extLst xmlns:a="http://schemas.openxmlformats.org/drawingml/2006/main">
              <a:ext uri="{FF2B5EF4-FFF2-40B4-BE49-F238E27FC236}">
                <a16:creationId xmlns:a16="http://schemas.microsoft.com/office/drawing/2014/main" id="{CD957597-ADF8-4B25-9C05-C4734ADA5CB6}"/>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退出、转手与物理产能消失，需要分别判断</a:t>
            </a:r>
          </a:p>
        </p:txBody>
      </p:sp>
      <p:sp>
        <p:nvSpPr>
          <p:cNvPr id="8" name="source">
            <a:extLst xmlns:a="http://schemas.openxmlformats.org/drawingml/2006/main">
              <a:ext uri="{FF2B5EF4-FFF2-40B4-BE49-F238E27FC236}">
                <a16:creationId xmlns:a16="http://schemas.microsoft.com/office/drawing/2014/main" id="{F44BF943-BD13-4AEC-9465-B2DC5E8B11B7}"/>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报告§3.5、§13.1</a:t>
            </a:r>
          </a:p>
        </p:txBody>
      </p:sp>
      <p:sp>
        <p:nvSpPr>
          <p:cNvPr id="9" name="page">
            <a:extLst xmlns:a="http://schemas.openxmlformats.org/drawingml/2006/main">
              <a:ext uri="{FF2B5EF4-FFF2-40B4-BE49-F238E27FC236}">
                <a16:creationId xmlns:a16="http://schemas.microsoft.com/office/drawing/2014/main" id="{9D07FCCF-02CE-4015-AEBA-E06190CC9EE3}"/>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10</a:t>
            </a:r>
          </a:p>
        </p:txBody>
      </p:sp>
    </p:spTree>
    <p:extLst>
      <p:ext uri="{BB962C8B-B14F-4D97-AF65-F5344CB8AC3E}">
        <p14:creationId xmlns:p14="http://schemas.microsoft.com/office/powerpoint/2010/main" val="824050326"/>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3F32C84-62C6-4DEB-900F-6FDD2AE8416E}"/>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PSY、MSY与母猪分母</a:t>
            </a:r>
          </a:p>
        </p:txBody>
      </p:sp>
      <p:sp>
        <p:nvSpPr>
          <p:cNvPr id="3" name="content-0">
            <a:extLst xmlns:a="http://schemas.openxmlformats.org/drawingml/2006/main">
              <a:ext uri="{FF2B5EF4-FFF2-40B4-BE49-F238E27FC236}">
                <a16:creationId xmlns:a16="http://schemas.microsoft.com/office/drawing/2014/main" id="{D6F59DB1-3EA8-4EF6-A771-BC1781B50EC1}"/>
              </a:ext>
            </a:extLst>
          </p:cNvPr>
          <p:cNvSpPr>
            <a:spLocks xmlns:a="http://schemas.openxmlformats.org/drawingml/2006/main" noGrp="1"/>
          </p:cNvSpPr>
          <p:nvPr/>
        </p:nvSpPr>
        <p:spPr>
          <a:xfrm xmlns:a="http://schemas.openxmlformats.org/drawingml/2006/main">
            <a:off x="714375" y="156210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625" b="1">
                <a:solidFill>
                  <a:srgbClr val="087F80"/>
                </a:solidFill>
              </a:defRPr>
            </a:defPPr>
            <a:lvl1pPr>
              <a:defRPr sz="2625" b="1">
                <a:solidFill>
                  <a:srgbClr val="087F80"/>
                </a:solidFill>
              </a:defRPr>
            </a:lvl1pPr>
            <a:lvl2pPr>
              <a:defRPr sz="2625" b="1">
                <a:solidFill>
                  <a:srgbClr val="087F80"/>
                </a:solidFill>
              </a:defRPr>
            </a:lvl2pPr>
            <a:lvl3pPr>
              <a:defRPr sz="2625" b="1">
                <a:solidFill>
                  <a:srgbClr val="087F80"/>
                </a:solidFill>
              </a:defRPr>
            </a:lvl3pPr>
            <a:lvl4pPr>
              <a:defRPr sz="2625" b="1">
                <a:solidFill>
                  <a:srgbClr val="087F80"/>
                </a:solidFill>
              </a:defRPr>
            </a:lvl4pPr>
            <a:lvl5pPr>
              <a:defRPr sz="2625" b="1">
                <a:solidFill>
                  <a:srgbClr val="087F80"/>
                </a:solidFill>
              </a:defRPr>
            </a:lvl5pPr>
            <a:lvl6pPr>
              <a:defRPr sz="2625" b="1">
                <a:solidFill>
                  <a:srgbClr val="087F80"/>
                </a:solidFill>
              </a:defRPr>
            </a:lvl6pPr>
            <a:lvl7pPr>
              <a:defRPr sz="2625" b="1">
                <a:solidFill>
                  <a:srgbClr val="087F80"/>
                </a:solidFill>
              </a:defRPr>
            </a:lvl7pPr>
            <a:lvl8pPr>
              <a:defRPr sz="2625" b="1">
                <a:solidFill>
                  <a:srgbClr val="087F80"/>
                </a:solidFill>
              </a:defRPr>
            </a:lvl8pPr>
            <a:lvl9pPr>
              <a:defRPr sz="2625" b="1">
                <a:solidFill>
                  <a:srgbClr val="087F80"/>
                </a:solidFill>
              </a:defRPr>
            </a:lvl9pPr>
          </a:lstStyle>
          <a:p xmlns:a="http://schemas.openxmlformats.org/drawingml/2006/main">
            <a:pPr>
              <a:defRPr sz="2625" b="1">
                <a:solidFill>
                  <a:srgbClr val="087F80"/>
                </a:solidFill>
              </a:defRPr>
            </a:pPr>
            <a:r>
              <a:rPr sz="2625" b="1">
                <a:solidFill>
                  <a:srgbClr val="087F80"/>
                </a:solidFill>
              </a:rPr>
              <a:t>MSY = PSY × 断奶后成活率 × 商品化比例 × 分母桥接因子</a:t>
            </a:r>
          </a:p>
        </p:txBody>
      </p:sp>
      <p:sp>
        <p:nvSpPr>
          <p:cNvPr id="4" name="content-1">
            <a:extLst xmlns:a="http://schemas.openxmlformats.org/drawingml/2006/main">
              <a:ext uri="{FF2B5EF4-FFF2-40B4-BE49-F238E27FC236}">
                <a16:creationId xmlns:a16="http://schemas.microsoft.com/office/drawing/2014/main" id="{63DCFA57-9AD0-42AE-9749-72278315A800}"/>
              </a:ext>
            </a:extLst>
          </p:cNvPr>
          <p:cNvSpPr>
            <a:spLocks xmlns:a="http://schemas.openxmlformats.org/drawingml/2006/main" noGrp="1"/>
          </p:cNvSpPr>
          <p:nvPr/>
        </p:nvSpPr>
        <p:spPr>
          <a:xfrm xmlns:a="http://schemas.openxmlformats.org/drawingml/2006/main">
            <a:off x="714375" y="254317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PSY：每母猪年提供的断奶仔猪数</a:t>
            </a:r>
          </a:p>
        </p:txBody>
      </p:sp>
      <p:sp>
        <p:nvSpPr>
          <p:cNvPr id="5" name="content-2">
            <a:extLst xmlns:a="http://schemas.openxmlformats.org/drawingml/2006/main">
              <a:ext uri="{FF2B5EF4-FFF2-40B4-BE49-F238E27FC236}">
                <a16:creationId xmlns:a16="http://schemas.microsoft.com/office/drawing/2014/main" id="{86A2CD70-A131-4B01-B58B-3720BF9AC212}"/>
              </a:ext>
            </a:extLst>
          </p:cNvPr>
          <p:cNvSpPr>
            <a:spLocks xmlns:a="http://schemas.openxmlformats.org/drawingml/2006/main" noGrp="1"/>
          </p:cNvSpPr>
          <p:nvPr/>
        </p:nvSpPr>
        <p:spPr>
          <a:xfrm xmlns:a="http://schemas.openxmlformats.org/drawingml/2006/main">
            <a:off x="714375" y="352425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MSY：统一母猪分母下的年度商品猪数</a:t>
            </a:r>
          </a:p>
        </p:txBody>
      </p:sp>
      <p:sp>
        <p:nvSpPr>
          <p:cNvPr id="6" name="content-3">
            <a:extLst xmlns:a="http://schemas.openxmlformats.org/drawingml/2006/main">
              <a:ext uri="{FF2B5EF4-FFF2-40B4-BE49-F238E27FC236}">
                <a16:creationId xmlns:a16="http://schemas.microsoft.com/office/drawing/2014/main" id="{67A198BE-09AB-4562-B501-9D7D224FA888}"/>
              </a:ext>
            </a:extLst>
          </p:cNvPr>
          <p:cNvSpPr>
            <a:spLocks xmlns:a="http://schemas.openxmlformats.org/drawingml/2006/main" noGrp="1"/>
          </p:cNvSpPr>
          <p:nvPr/>
        </p:nvSpPr>
        <p:spPr>
          <a:xfrm xmlns:a="http://schemas.openxmlformats.org/drawingml/2006/main">
            <a:off x="714375" y="450532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直接输入MSY后，相关成活和结构因子合并计入一次</a:t>
            </a:r>
          </a:p>
        </p:txBody>
      </p:sp>
      <p:sp>
        <p:nvSpPr>
          <p:cNvPr id="7" name="takeaway">
            <a:extLst xmlns:a="http://schemas.openxmlformats.org/drawingml/2006/main">
              <a:ext uri="{FF2B5EF4-FFF2-40B4-BE49-F238E27FC236}">
                <a16:creationId xmlns:a16="http://schemas.microsoft.com/office/drawing/2014/main" id="{A7B2C832-5432-480B-BDFF-D2D772ED115A}"/>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年度出栏流量除以年末母猪存量，仅能作粗略量级参照</a:t>
            </a:r>
          </a:p>
        </p:txBody>
      </p:sp>
      <p:sp>
        <p:nvSpPr>
          <p:cNvPr id="8" name="source">
            <a:extLst xmlns:a="http://schemas.openxmlformats.org/drawingml/2006/main">
              <a:ext uri="{FF2B5EF4-FFF2-40B4-BE49-F238E27FC236}">
                <a16:creationId xmlns:a16="http://schemas.microsoft.com/office/drawing/2014/main" id="{DAC66F70-603C-488F-95EF-68908DB8A344}"/>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报告§4.1</a:t>
            </a:r>
          </a:p>
        </p:txBody>
      </p:sp>
      <p:sp>
        <p:nvSpPr>
          <p:cNvPr id="9" name="page">
            <a:extLst xmlns:a="http://schemas.openxmlformats.org/drawingml/2006/main">
              <a:ext uri="{FF2B5EF4-FFF2-40B4-BE49-F238E27FC236}">
                <a16:creationId xmlns:a16="http://schemas.microsoft.com/office/drawing/2014/main" id="{5A81F2E7-BABA-4CE6-A96F-416CEE5B00E7}"/>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11</a:t>
            </a:r>
          </a:p>
        </p:txBody>
      </p:sp>
    </p:spTree>
    <p:extLst>
      <p:ext uri="{BB962C8B-B14F-4D97-AF65-F5344CB8AC3E}">
        <p14:creationId xmlns:p14="http://schemas.microsoft.com/office/powerpoint/2010/main" val="188392703"/>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4396AF9-7DD5-4D08-AE33-17628019767E}"/>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国际效率参照与有界追赶</a:t>
            </a:r>
          </a:p>
        </p:txBody>
      </p:sp>
      <p:graphicFrame>
        <p:nvGraphicFramePr>
          <p:cNvPr id="3" name="">
            <a:extLst xmlns:a="http://schemas.openxmlformats.org/drawingml/2006/main">
              <a:ext uri="{FF2B5EF4-FFF2-40B4-BE49-F238E27FC236}">
                <a16:creationId xmlns:a16="http://schemas.microsoft.com/office/drawing/2014/main" id="{708C5E33-36F2-42EC-9C4F-B5EBF3F4CCE2}"/>
              </a:ext>
            </a:extLst>
          </p:cNvPr>
          <p:cNvGraphicFramePr/>
          <p:nvPr/>
        </p:nvGraphicFramePr>
        <p:xfrm>
          <a:off xmlns:a="http://schemas.openxmlformats.org/drawingml/2006/main" x="609600" y="1485900"/>
          <a:ext xmlns:a="http://schemas.openxmlformats.org/drawingml/2006/main" cx="10972800" cy="3233058"/>
        </p:xfrm>
        <a:graphic xmlns:a="http://schemas.openxmlformats.org/drawingml/2006/main">
          <a:graphicData uri="http://schemas.openxmlformats.org/drawingml/2006/table">
            <a:tbl>
              <a:tblPr/>
              <a:tblGrid>
                <a:gridCol w="4279392"/>
                <a:gridCol w="2523744"/>
                <a:gridCol w="4169664"/>
              </a:tblGrid>
              <a:tr h="538843">
                <a:tc>
                  <a:txBody>
                    <a:bodyPr/>
                    <a:lstStyle/>
                    <a:p>
                      <a:r>
                        <a:rPr sz="1875" b="1">
                          <a:solidFill>
                            <a:srgbClr val="FFFFFF"/>
                          </a:solidFill>
                        </a:rPr>
                        <a:t>参照</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PSY</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样本与分母</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538843">
                <a:tc>
                  <a:txBody>
                    <a:bodyPr/>
                    <a:lstStyle/>
                    <a:p>
                      <a:r>
                        <a:rPr sz="1875" b="0">
                          <a:solidFill>
                            <a:srgbClr val="102C3A"/>
                          </a:solidFill>
                        </a:rPr>
                        <a:t>中国2025</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23.40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经产母猪加权参照</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神农2025</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29.50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公司全年披露</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北美2025</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26.88 / 28.19</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全部 / 已配母猪</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38843">
                <a:tc>
                  <a:txBody>
                    <a:bodyPr/>
                    <a:lstStyle/>
                    <a:p>
                      <a:r>
                        <a:rPr sz="1875" b="0">
                          <a:solidFill>
                            <a:srgbClr val="102C3A"/>
                          </a:solidFill>
                        </a:rPr>
                        <a:t>法国2024</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33.50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1345场生产母猪</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丹麦2025</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36.90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703场母猪年均值</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bl>
          </a:graphicData>
        </a:graphic>
      </p:graphicFrame>
      <p:sp>
        <p:nvSpPr>
          <p:cNvPr id="4" name="takeaway">
            <a:extLst xmlns:a="http://schemas.openxmlformats.org/drawingml/2006/main">
              <a:ext uri="{FF2B5EF4-FFF2-40B4-BE49-F238E27FC236}">
                <a16:creationId xmlns:a16="http://schemas.microsoft.com/office/drawing/2014/main" id="{6628FAF2-E45A-40CB-BCEA-C67C2C0E9577}"/>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23.4向32收敛，每年弥合差距6%，一年后为23.916</a:t>
            </a:r>
          </a:p>
        </p:txBody>
      </p:sp>
      <p:sp>
        <p:nvSpPr>
          <p:cNvPr id="5" name="source">
            <a:extLst xmlns:a="http://schemas.openxmlformats.org/drawingml/2006/main">
              <a:ext uri="{FF2B5EF4-FFF2-40B4-BE49-F238E27FC236}">
                <a16:creationId xmlns:a16="http://schemas.microsoft.com/office/drawing/2014/main" id="{261B519F-1FF1-4D41-90E1-1E1872BB5438}"/>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报告§4.2；参考[14]—[21]</a:t>
            </a:r>
          </a:p>
        </p:txBody>
      </p:sp>
      <p:sp>
        <p:nvSpPr>
          <p:cNvPr id="6" name="page">
            <a:extLst xmlns:a="http://schemas.openxmlformats.org/drawingml/2006/main">
              <a:ext uri="{FF2B5EF4-FFF2-40B4-BE49-F238E27FC236}">
                <a16:creationId xmlns:a16="http://schemas.microsoft.com/office/drawing/2014/main" id="{98132D5C-F1A1-4A08-A90B-A33C7598513F}"/>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12</a:t>
            </a:r>
          </a:p>
        </p:txBody>
      </p:sp>
    </p:spTree>
    <p:extLst>
      <p:ext uri="{BB962C8B-B14F-4D97-AF65-F5344CB8AC3E}">
        <p14:creationId xmlns:p14="http://schemas.microsoft.com/office/powerpoint/2010/main" val="914083352"/>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A0219205-8238-4BA4-85C8-398CA82B60CE}"/>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母猪下降与有效公斤供给</a:t>
            </a:r>
          </a:p>
        </p:txBody>
      </p:sp>
      <p:sp>
        <p:nvSpPr>
          <p:cNvPr id="3" name="content-0">
            <a:extLst xmlns:a="http://schemas.openxmlformats.org/drawingml/2006/main">
              <a:ext uri="{FF2B5EF4-FFF2-40B4-BE49-F238E27FC236}">
                <a16:creationId xmlns:a16="http://schemas.microsoft.com/office/drawing/2014/main" id="{EED6A57F-ED7E-44FA-8116-827E6C9A8E63}"/>
              </a:ext>
            </a:extLst>
          </p:cNvPr>
          <p:cNvSpPr>
            <a:spLocks xmlns:a="http://schemas.openxmlformats.org/drawingml/2006/main" noGrp="1"/>
          </p:cNvSpPr>
          <p:nvPr/>
        </p:nvSpPr>
        <p:spPr>
          <a:xfrm xmlns:a="http://schemas.openxmlformats.org/drawingml/2006/main">
            <a:off x="714375" y="156210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625" b="1">
                <a:solidFill>
                  <a:srgbClr val="087F80"/>
                </a:solidFill>
              </a:defRPr>
            </a:defPPr>
            <a:lvl1pPr>
              <a:defRPr sz="2625" b="1">
                <a:solidFill>
                  <a:srgbClr val="087F80"/>
                </a:solidFill>
              </a:defRPr>
            </a:lvl1pPr>
            <a:lvl2pPr>
              <a:defRPr sz="2625" b="1">
                <a:solidFill>
                  <a:srgbClr val="087F80"/>
                </a:solidFill>
              </a:defRPr>
            </a:lvl2pPr>
            <a:lvl3pPr>
              <a:defRPr sz="2625" b="1">
                <a:solidFill>
                  <a:srgbClr val="087F80"/>
                </a:solidFill>
              </a:defRPr>
            </a:lvl3pPr>
            <a:lvl4pPr>
              <a:defRPr sz="2625" b="1">
                <a:solidFill>
                  <a:srgbClr val="087F80"/>
                </a:solidFill>
              </a:defRPr>
            </a:lvl4pPr>
            <a:lvl5pPr>
              <a:defRPr sz="2625" b="1">
                <a:solidFill>
                  <a:srgbClr val="087F80"/>
                </a:solidFill>
              </a:defRPr>
            </a:lvl5pPr>
            <a:lvl6pPr>
              <a:defRPr sz="2625" b="1">
                <a:solidFill>
                  <a:srgbClr val="087F80"/>
                </a:solidFill>
              </a:defRPr>
            </a:lvl6pPr>
            <a:lvl7pPr>
              <a:defRPr sz="2625" b="1">
                <a:solidFill>
                  <a:srgbClr val="087F80"/>
                </a:solidFill>
              </a:defRPr>
            </a:lvl7pPr>
            <a:lvl8pPr>
              <a:defRPr sz="2625" b="1">
                <a:solidFill>
                  <a:srgbClr val="087F80"/>
                </a:solidFill>
              </a:defRPr>
            </a:lvl8pPr>
            <a:lvl9pPr>
              <a:defRPr sz="2625" b="1">
                <a:solidFill>
                  <a:srgbClr val="087F80"/>
                </a:solidFill>
              </a:defRPr>
            </a:lvl9pPr>
          </a:lstStyle>
          <a:p xmlns:a="http://schemas.openxmlformats.org/drawingml/2006/main">
            <a:pPr>
              <a:defRPr sz="2625" b="1">
                <a:solidFill>
                  <a:srgbClr val="087F80"/>
                </a:solidFill>
              </a:defRPr>
            </a:pPr>
            <a:r>
              <a:rPr sz="2625" b="1">
                <a:solidFill>
                  <a:srgbClr val="087F80"/>
                </a:solidFill>
              </a:rPr>
              <a:t>E = 母猪比 × MSY比 × 全国出栏重量比</a:t>
            </a:r>
          </a:p>
        </p:txBody>
      </p:sp>
      <p:sp>
        <p:nvSpPr>
          <p:cNvPr id="4" name="content-1">
            <a:extLst xmlns:a="http://schemas.openxmlformats.org/drawingml/2006/main">
              <a:ext uri="{FF2B5EF4-FFF2-40B4-BE49-F238E27FC236}">
                <a16:creationId xmlns:a16="http://schemas.microsoft.com/office/drawing/2014/main" id="{FB983E3F-3DB4-4FC8-BE36-3324D08287CE}"/>
              </a:ext>
            </a:extLst>
          </p:cNvPr>
          <p:cNvSpPr>
            <a:spLocks xmlns:a="http://schemas.openxmlformats.org/drawingml/2006/main" noGrp="1"/>
          </p:cNvSpPr>
          <p:nvPr/>
        </p:nvSpPr>
        <p:spPr>
          <a:xfrm xmlns:a="http://schemas.openxmlformats.org/drawingml/2006/main">
            <a:off x="714375" y="254317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0.90 × 1.03 × 1.05 = 0.97335</a:t>
            </a:r>
          </a:p>
        </p:txBody>
      </p:sp>
      <p:sp>
        <p:nvSpPr>
          <p:cNvPr id="5" name="content-2">
            <a:extLst xmlns:a="http://schemas.openxmlformats.org/drawingml/2006/main">
              <a:ext uri="{FF2B5EF4-FFF2-40B4-BE49-F238E27FC236}">
                <a16:creationId xmlns:a16="http://schemas.microsoft.com/office/drawing/2014/main" id="{94E7F157-AD32-4D10-983D-3C164D88BC09}"/>
              </a:ext>
            </a:extLst>
          </p:cNvPr>
          <p:cNvSpPr>
            <a:spLocks xmlns:a="http://schemas.openxmlformats.org/drawingml/2006/main" noGrp="1"/>
          </p:cNvSpPr>
          <p:nvPr/>
        </p:nvSpPr>
        <p:spPr>
          <a:xfrm xmlns:a="http://schemas.openxmlformats.org/drawingml/2006/main">
            <a:off x="714375" y="352425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母猪减少10%，有效公斤供给仅减少2.665%</a:t>
            </a:r>
          </a:p>
        </p:txBody>
      </p:sp>
      <p:sp>
        <p:nvSpPr>
          <p:cNvPr id="6" name="content-3">
            <a:extLst xmlns:a="http://schemas.openxmlformats.org/drawingml/2006/main">
              <a:ext uri="{FF2B5EF4-FFF2-40B4-BE49-F238E27FC236}">
                <a16:creationId xmlns:a16="http://schemas.microsoft.com/office/drawing/2014/main" id="{BEE0A82F-E57A-4186-A9AC-3BFF6B1DE8F2}"/>
              </a:ext>
            </a:extLst>
          </p:cNvPr>
          <p:cNvSpPr>
            <a:spLocks xmlns:a="http://schemas.openxmlformats.org/drawingml/2006/main" noGrp="1"/>
          </p:cNvSpPr>
          <p:nvPr/>
        </p:nvSpPr>
        <p:spPr>
          <a:xfrm xmlns:a="http://schemas.openxmlformats.org/drawingml/2006/main">
            <a:off x="714375" y="450532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全国重量影响行业供给，公司重量另用于企业利润</a:t>
            </a:r>
          </a:p>
        </p:txBody>
      </p:sp>
      <p:sp>
        <p:nvSpPr>
          <p:cNvPr id="7" name="takeaway">
            <a:extLst xmlns:a="http://schemas.openxmlformats.org/drawingml/2006/main">
              <a:ext uri="{FF2B5EF4-FFF2-40B4-BE49-F238E27FC236}">
                <a16:creationId xmlns:a16="http://schemas.microsoft.com/office/drawing/2014/main" id="{56EA9913-9421-4FED-A036-9B6A27EE1EA6}"/>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效率、成活和体重会抵消部分母猪去化</a:t>
            </a:r>
          </a:p>
        </p:txBody>
      </p:sp>
      <p:sp>
        <p:nvSpPr>
          <p:cNvPr id="8" name="source">
            <a:extLst xmlns:a="http://schemas.openxmlformats.org/drawingml/2006/main">
              <a:ext uri="{FF2B5EF4-FFF2-40B4-BE49-F238E27FC236}">
                <a16:creationId xmlns:a16="http://schemas.microsoft.com/office/drawing/2014/main" id="{6E55A3C7-4752-4283-9FE5-2C18095AFDE5}"/>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报告§4.4</a:t>
            </a:r>
          </a:p>
        </p:txBody>
      </p:sp>
      <p:sp>
        <p:nvSpPr>
          <p:cNvPr id="9" name="page">
            <a:extLst xmlns:a="http://schemas.openxmlformats.org/drawingml/2006/main">
              <a:ext uri="{FF2B5EF4-FFF2-40B4-BE49-F238E27FC236}">
                <a16:creationId xmlns:a16="http://schemas.microsoft.com/office/drawing/2014/main" id="{27877DBA-964E-42C9-A532-5242D069C651}"/>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13</a:t>
            </a:r>
          </a:p>
        </p:txBody>
      </p:sp>
    </p:spTree>
    <p:extLst>
      <p:ext uri="{BB962C8B-B14F-4D97-AF65-F5344CB8AC3E}">
        <p14:creationId xmlns:p14="http://schemas.microsoft.com/office/powerpoint/2010/main" val="1108464382"/>
      </p:ext>
    </p:extLst>
  </p:cSld>
</p:sld>
</file>

<file path=ppt/slides/slide1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DEDC07C-8E03-4DC5-88B1-A9A08DDD5A3C}"/>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生产传导时滞</a:t>
            </a:r>
          </a:p>
        </p:txBody>
      </p:sp>
      <p:graphicFrame>
        <p:nvGraphicFramePr>
          <p:cNvPr id="3" name="">
            <a:extLst xmlns:a="http://schemas.openxmlformats.org/drawingml/2006/main">
              <a:ext uri="{FF2B5EF4-FFF2-40B4-BE49-F238E27FC236}">
                <a16:creationId xmlns:a16="http://schemas.microsoft.com/office/drawing/2014/main" id="{9723482D-415C-4FCE-A417-3FB989505F60}"/>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4937760"/>
                <a:gridCol w="6035040"/>
              </a:tblGrid>
              <a:tr h="754380">
                <a:tc>
                  <a:txBody>
                    <a:bodyPr/>
                    <a:lstStyle/>
                    <a:p>
                      <a:r>
                        <a:rPr sz="1875" b="1">
                          <a:solidFill>
                            <a:srgbClr val="FFFFFF"/>
                          </a:solidFill>
                        </a:rPr>
                        <a:t>2027价格季度</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固定10个月对应母猪月份</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754380">
                <a:tc>
                  <a:txBody>
                    <a:bodyPr/>
                    <a:lstStyle/>
                    <a:p>
                      <a:r>
                        <a:rPr sz="1875" b="0">
                          <a:solidFill>
                            <a:srgbClr val="102C3A"/>
                          </a:solidFill>
                        </a:rPr>
                        <a:t>Q1</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2026年3—5月</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754380">
                <a:tc>
                  <a:txBody>
                    <a:bodyPr/>
                    <a:lstStyle/>
                    <a:p>
                      <a:r>
                        <a:rPr sz="1875" b="0">
                          <a:solidFill>
                            <a:srgbClr val="102C3A"/>
                          </a:solidFill>
                        </a:rPr>
                        <a:t>Q2</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2026年6—8月</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754380">
                <a:tc>
                  <a:txBody>
                    <a:bodyPr/>
                    <a:lstStyle/>
                    <a:p>
                      <a:r>
                        <a:rPr sz="1875" b="0">
                          <a:solidFill>
                            <a:srgbClr val="102C3A"/>
                          </a:solidFill>
                        </a:rPr>
                        <a:t>Q3</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2026年9—11月</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754380">
                <a:tc>
                  <a:txBody>
                    <a:bodyPr/>
                    <a:lstStyle/>
                    <a:p>
                      <a:r>
                        <a:rPr sz="1875" b="0">
                          <a:solidFill>
                            <a:srgbClr val="102C3A"/>
                          </a:solidFill>
                        </a:rPr>
                        <a:t>Q4</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2026年12月—2027年2月</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bl>
          </a:graphicData>
        </a:graphic>
      </p:graphicFrame>
      <p:sp>
        <p:nvSpPr>
          <p:cNvPr id="4" name="takeaway">
            <a:extLst xmlns:a="http://schemas.openxmlformats.org/drawingml/2006/main">
              <a:ext uri="{FF2B5EF4-FFF2-40B4-BE49-F238E27FC236}">
                <a16:creationId xmlns:a16="http://schemas.microsoft.com/office/drawing/2014/main" id="{19F2BF37-E608-484E-92D2-E33F86652C97}"/>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分布滞后采用8—12个月权重10%、20%、40%、20%、10%</a:t>
            </a:r>
          </a:p>
        </p:txBody>
      </p:sp>
      <p:sp>
        <p:nvSpPr>
          <p:cNvPr id="5" name="source">
            <a:extLst xmlns:a="http://schemas.openxmlformats.org/drawingml/2006/main">
              <a:ext uri="{FF2B5EF4-FFF2-40B4-BE49-F238E27FC236}">
                <a16:creationId xmlns:a16="http://schemas.microsoft.com/office/drawing/2014/main" id="{1422A208-3D32-4AE4-95DB-AE744AF0E43F}"/>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报告§4.5、§7.6</a:t>
            </a:r>
          </a:p>
        </p:txBody>
      </p:sp>
      <p:sp>
        <p:nvSpPr>
          <p:cNvPr id="6" name="page">
            <a:extLst xmlns:a="http://schemas.openxmlformats.org/drawingml/2006/main">
              <a:ext uri="{FF2B5EF4-FFF2-40B4-BE49-F238E27FC236}">
                <a16:creationId xmlns:a16="http://schemas.microsoft.com/office/drawing/2014/main" id="{0391812B-B819-4FE3-A47A-35154FFF839B}"/>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14</a:t>
            </a:r>
          </a:p>
        </p:txBody>
      </p:sp>
    </p:spTree>
    <p:extLst>
      <p:ext uri="{BB962C8B-B14F-4D97-AF65-F5344CB8AC3E}">
        <p14:creationId xmlns:p14="http://schemas.microsoft.com/office/powerpoint/2010/main" val="558292906"/>
      </p:ext>
    </p:extLst>
  </p:cSld>
</p:sld>
</file>

<file path=ppt/slides/slide1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768D2E5-F709-44B1-8621-55AB30316BEA}"/>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数据覆盖与证据边界</a:t>
            </a:r>
          </a:p>
        </p:txBody>
      </p:sp>
      <p:graphicFrame>
        <p:nvGraphicFramePr>
          <p:cNvPr id="3" name="">
            <a:extLst xmlns:a="http://schemas.openxmlformats.org/drawingml/2006/main">
              <a:ext uri="{FF2B5EF4-FFF2-40B4-BE49-F238E27FC236}">
                <a16:creationId xmlns:a16="http://schemas.microsoft.com/office/drawing/2014/main" id="{8FB08867-08F2-4FC5-860A-CD8AAF094621}"/>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4279392"/>
                <a:gridCol w="2523744"/>
                <a:gridCol w="4169664"/>
              </a:tblGrid>
              <a:tr h="538843">
                <a:tc>
                  <a:txBody>
                    <a:bodyPr/>
                    <a:lstStyle/>
                    <a:p>
                      <a:r>
                        <a:rPr sz="1875" b="1">
                          <a:solidFill>
                            <a:srgbClr val="FFFFFF"/>
                          </a:solidFill>
                        </a:rPr>
                        <a:t>2015.01—2026.09</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可得月份</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用途</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538843">
                <a:tc>
                  <a:txBody>
                    <a:bodyPr/>
                    <a:lstStyle/>
                    <a:p>
                      <a:r>
                        <a:rPr sz="1875" b="0">
                          <a:solidFill>
                            <a:srgbClr val="102C3A"/>
                          </a:solidFill>
                        </a:rPr>
                        <a:t>完整日历</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141</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保留缺失</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MARA活猪价格</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138</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同调查价格比较</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38843">
                <a:tc>
                  <a:txBody>
                    <a:bodyPr/>
                    <a:lstStyle/>
                    <a:p>
                      <a:r>
                        <a:rPr sz="1875" b="0">
                          <a:solidFill>
                            <a:srgbClr val="102C3A"/>
                          </a:solidFill>
                        </a:rPr>
                        <a:t>NDRC生猪出场价</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66</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另列价格序列</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全国绝对母猪数</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55</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同口径产能分析</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38843">
                <a:tc>
                  <a:txBody>
                    <a:bodyPr/>
                    <a:lstStyle/>
                    <a:p>
                      <a:r>
                        <a:rPr sz="1875" b="0">
                          <a:solidFill>
                            <a:srgbClr val="102C3A"/>
                          </a:solidFill>
                        </a:rPr>
                        <a:t>旧监测分段指数</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57</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背景比较，单独存储</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真实全国月度MSY</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效率仅设情景</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bl>
          </a:graphicData>
        </a:graphic>
      </p:graphicFrame>
      <p:sp>
        <p:nvSpPr>
          <p:cNvPr id="4" name="takeaway">
            <a:extLst xmlns:a="http://schemas.openxmlformats.org/drawingml/2006/main">
              <a:ext uri="{FF2B5EF4-FFF2-40B4-BE49-F238E27FC236}">
                <a16:creationId xmlns:a16="http://schemas.microsoft.com/office/drawing/2014/main" id="{CF8B748D-6EA7-4E5A-89F2-0543AA579864}"/>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缺失数据保留为空，旧指数和全国万头数分开处理</a:t>
            </a:r>
          </a:p>
        </p:txBody>
      </p:sp>
      <p:sp>
        <p:nvSpPr>
          <p:cNvPr id="5" name="source">
            <a:extLst xmlns:a="http://schemas.openxmlformats.org/drawingml/2006/main">
              <a:ext uri="{FF2B5EF4-FFF2-40B4-BE49-F238E27FC236}">
                <a16:creationId xmlns:a16="http://schemas.microsoft.com/office/drawing/2014/main" id="{C509B78E-1B79-40FF-B325-A28DA744555D}"/>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报告§2.1；数据china_history.csv</a:t>
            </a:r>
          </a:p>
        </p:txBody>
      </p:sp>
      <p:sp>
        <p:nvSpPr>
          <p:cNvPr id="6" name="page">
            <a:extLst xmlns:a="http://schemas.openxmlformats.org/drawingml/2006/main">
              <a:ext uri="{FF2B5EF4-FFF2-40B4-BE49-F238E27FC236}">
                <a16:creationId xmlns:a16="http://schemas.microsoft.com/office/drawing/2014/main" id="{5B6C2095-A978-4DB2-A28F-DBA9A41F57E3}"/>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15</a:t>
            </a:r>
          </a:p>
        </p:txBody>
      </p:sp>
    </p:spTree>
    <p:extLst>
      <p:ext uri="{BB962C8B-B14F-4D97-AF65-F5344CB8AC3E}">
        <p14:creationId xmlns:p14="http://schemas.microsoft.com/office/powerpoint/2010/main" val="368116973"/>
      </p:ext>
    </p:extLst>
  </p:cSld>
</p:sld>
</file>

<file path=ppt/slides/slide1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139ECD2-9712-4E65-BB45-3F33F67350C3}"/>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历史去化阶段与价格窗口</a:t>
            </a:r>
          </a:p>
        </p:txBody>
      </p:sp>
      <p:graphicFrame>
        <p:nvGraphicFramePr>
          <p:cNvPr id="3" name="">
            <a:extLst xmlns:a="http://schemas.openxmlformats.org/drawingml/2006/main">
              <a:ext uri="{FF2B5EF4-FFF2-40B4-BE49-F238E27FC236}">
                <a16:creationId xmlns:a16="http://schemas.microsoft.com/office/drawing/2014/main" id="{91022618-8341-428E-B8CB-9D8941EED15D}"/>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2743200"/>
                <a:gridCol w="2743200"/>
                <a:gridCol w="2743200"/>
                <a:gridCol w="2743200"/>
              </a:tblGrid>
              <a:tr h="754380">
                <a:tc>
                  <a:txBody>
                    <a:bodyPr/>
                    <a:lstStyle/>
                    <a:p>
                      <a:r>
                        <a:rPr sz="1650" b="1">
                          <a:solidFill>
                            <a:srgbClr val="FFFFFF"/>
                          </a:solidFill>
                        </a:rPr>
                        <a:t>母猪去化阶段</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650" b="1">
                          <a:solidFill>
                            <a:srgbClr val="FFFFFF"/>
                          </a:solidFill>
                        </a:rPr>
                        <a:t>母猪变化</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650" b="1">
                          <a:solidFill>
                            <a:srgbClr val="FFFFFF"/>
                          </a:solidFill>
                        </a:rPr>
                        <a:t>NDRC窗口价格涨幅</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650" b="1">
                          <a:solidFill>
                            <a:srgbClr val="FFFFFF"/>
                          </a:solidFill>
                        </a:rPr>
                        <a:t>默认校准</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754380">
                <a:tc>
                  <a:txBody>
                    <a:bodyPr/>
                    <a:lstStyle/>
                    <a:p>
                      <a:r>
                        <a:rPr sz="1650" b="0">
                          <a:solidFill>
                            <a:srgbClr val="102C3A"/>
                          </a:solidFill>
                        </a:rPr>
                        <a:t>2015—2016</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−10.21%</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MARA背景对照</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否</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754380">
                <a:tc>
                  <a:txBody>
                    <a:bodyPr/>
                    <a:lstStyle/>
                    <a:p>
                      <a:r>
                        <a:rPr sz="1650" b="0">
                          <a:solidFill>
                            <a:srgbClr val="102C3A"/>
                          </a:solidFill>
                        </a:rPr>
                        <a:t>2018—2019</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−44.06%</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非瘟特殊冲击</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否</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754380">
                <a:tc>
                  <a:txBody>
                    <a:bodyPr/>
                    <a:lstStyle/>
                    <a:p>
                      <a:r>
                        <a:rPr sz="1650" b="0">
                          <a:solidFill>
                            <a:srgbClr val="102C3A"/>
                          </a:solidFill>
                        </a:rPr>
                        <a:t>2021.06—2022.04</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−8.48%</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+105.32%</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是</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754380">
                <a:tc>
                  <a:txBody>
                    <a:bodyPr/>
                    <a:lstStyle/>
                    <a:p>
                      <a:r>
                        <a:rPr sz="1650" b="0">
                          <a:solidFill>
                            <a:srgbClr val="102C3A"/>
                          </a:solidFill>
                        </a:rPr>
                        <a:t>2022.12—2024.04</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−9.20%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+44.67%</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是</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bl>
          </a:graphicData>
        </a:graphic>
      </p:graphicFrame>
      <p:sp>
        <p:nvSpPr>
          <p:cNvPr id="4" name="takeaway">
            <a:extLst xmlns:a="http://schemas.openxmlformats.org/drawingml/2006/main">
              <a:ext uri="{FF2B5EF4-FFF2-40B4-BE49-F238E27FC236}">
                <a16:creationId xmlns:a16="http://schemas.microsoft.com/office/drawing/2014/main" id="{4E1A84E8-8D09-4E91-BC02-51331F5D0B19}"/>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两个现代去化阶段提供有限的条件校准样本</a:t>
            </a:r>
          </a:p>
        </p:txBody>
      </p:sp>
      <p:sp>
        <p:nvSpPr>
          <p:cNvPr id="5" name="source">
            <a:extLst xmlns:a="http://schemas.openxmlformats.org/drawingml/2006/main">
              <a:ext uri="{FF2B5EF4-FFF2-40B4-BE49-F238E27FC236}">
                <a16:creationId xmlns:a16="http://schemas.microsoft.com/office/drawing/2014/main" id="{5BCD8AD7-D1AF-41B0-AAD3-0A52ED77F394}"/>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报告§6.1；参考[23]—[39]</a:t>
            </a:r>
          </a:p>
        </p:txBody>
      </p:sp>
      <p:sp>
        <p:nvSpPr>
          <p:cNvPr id="6" name="page">
            <a:extLst xmlns:a="http://schemas.openxmlformats.org/drawingml/2006/main">
              <a:ext uri="{FF2B5EF4-FFF2-40B4-BE49-F238E27FC236}">
                <a16:creationId xmlns:a16="http://schemas.microsoft.com/office/drawing/2014/main" id="{C206844A-6D8C-4ED4-824B-2346B1FE0527}"/>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16</a:t>
            </a:r>
          </a:p>
        </p:txBody>
      </p:sp>
    </p:spTree>
    <p:extLst>
      <p:ext uri="{BB962C8B-B14F-4D97-AF65-F5344CB8AC3E}">
        <p14:creationId xmlns:p14="http://schemas.microsoft.com/office/powerpoint/2010/main" val="2119919252"/>
      </p:ext>
    </p:extLst>
  </p:cSld>
</p:sld>
</file>

<file path=ppt/slides/slide1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6D6E230-8768-4E53-A395-D611B8ADD064}"/>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历史振幅系数的敏感性</a:t>
            </a:r>
          </a:p>
        </p:txBody>
      </p:sp>
      <p:graphicFrame>
        <p:nvGraphicFramePr>
          <p:cNvPr id="3" name="">
            <a:extLst xmlns:a="http://schemas.openxmlformats.org/drawingml/2006/main">
              <a:ext uri="{FF2B5EF4-FFF2-40B4-BE49-F238E27FC236}">
                <a16:creationId xmlns:a16="http://schemas.microsoft.com/office/drawing/2014/main" id="{A9C1ACFD-D792-422A-85CD-068411A8B711}"/>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2743200"/>
                <a:gridCol w="2743200"/>
                <a:gridCol w="2743200"/>
                <a:gridCol w="2743200"/>
              </a:tblGrid>
              <a:tr h="628650">
                <a:tc>
                  <a:txBody>
                    <a:bodyPr/>
                    <a:lstStyle/>
                    <a:p>
                      <a:r>
                        <a:rPr sz="1650" b="1">
                          <a:solidFill>
                            <a:srgbClr val="FFFFFF"/>
                          </a:solidFill>
                        </a:rPr>
                        <a:t>历史MSY年增假设</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650" b="1">
                          <a:solidFill>
                            <a:srgbClr val="FFFFFF"/>
                          </a:solidFill>
                        </a:rPr>
                        <a:t>校准β</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650" b="1">
                          <a:solidFill>
                            <a:srgbClr val="FFFFFF"/>
                          </a:solidFill>
                        </a:rPr>
                        <a:t>2027年均</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650" b="1">
                          <a:solidFill>
                            <a:srgbClr val="FFFFFF"/>
                          </a:solidFill>
                        </a:rPr>
                        <a:t>Q4均价</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628650">
                <a:tc>
                  <a:txBody>
                    <a:bodyPr/>
                    <a:lstStyle/>
                    <a:p>
                      <a:r>
                        <a:rPr sz="1650" b="0">
                          <a:solidFill>
                            <a:srgbClr val="102C3A"/>
                          </a:solidFill>
                        </a:rPr>
                        <a:t>0%</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5.9618</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18.13</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23.73</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628650">
                <a:tc>
                  <a:txBody>
                    <a:bodyPr/>
                    <a:lstStyle/>
                    <a:p>
                      <a:r>
                        <a:rPr sz="1650" b="0">
                          <a:solidFill>
                            <a:srgbClr val="102C3A"/>
                          </a:solidFill>
                        </a:rPr>
                        <a:t>2%</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7.5932</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20.81</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29.03</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628650">
                <a:tc>
                  <a:txBody>
                    <a:bodyPr/>
                    <a:lstStyle/>
                    <a:p>
                      <a:r>
                        <a:rPr sz="1650" b="0">
                          <a:solidFill>
                            <a:srgbClr val="102C3A"/>
                          </a:solidFill>
                        </a:rPr>
                        <a:t>5%</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13.2209</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34.43</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58.19</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628650">
                <a:tc>
                  <a:txBody>
                    <a:bodyPr/>
                    <a:lstStyle/>
                    <a:p>
                      <a:r>
                        <a:rPr sz="1650" b="0">
                          <a:solidFill>
                            <a:srgbClr val="102C3A"/>
                          </a:solidFill>
                        </a:rPr>
                        <a:t>只用2021—2022</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10.2058</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26.15</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40.09</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628650">
                <a:tc>
                  <a:txBody>
                    <a:bodyPr/>
                    <a:lstStyle/>
                    <a:p>
                      <a:r>
                        <a:rPr sz="1650" b="0">
                          <a:solidFill>
                            <a:srgbClr val="102C3A"/>
                          </a:solidFill>
                        </a:rPr>
                        <a:t>只用2022—2024</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4.9807</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16.73</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21.02</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bl>
          </a:graphicData>
        </a:graphic>
      </p:graphicFrame>
      <p:sp>
        <p:nvSpPr>
          <p:cNvPr id="4" name="takeaway">
            <a:extLst xmlns:a="http://schemas.openxmlformats.org/drawingml/2006/main">
              <a:ext uri="{FF2B5EF4-FFF2-40B4-BE49-F238E27FC236}">
                <a16:creationId xmlns:a16="http://schemas.microsoft.com/office/drawing/2014/main" id="{6EE458A3-7705-4926-9D25-46AE137A5529}"/>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β = ln(窗口高价/低价) ÷ [−ln(历史有效供给比)]</a:t>
            </a:r>
          </a:p>
        </p:txBody>
      </p:sp>
      <p:sp>
        <p:nvSpPr>
          <p:cNvPr id="5" name="source">
            <a:extLst xmlns:a="http://schemas.openxmlformats.org/drawingml/2006/main">
              <a:ext uri="{FF2B5EF4-FFF2-40B4-BE49-F238E27FC236}">
                <a16:creationId xmlns:a16="http://schemas.microsoft.com/office/drawing/2014/main" id="{F8D24AFA-1EE5-41A5-9057-37402589D7AA}"/>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报告§6.2—§6.3</a:t>
            </a:r>
          </a:p>
        </p:txBody>
      </p:sp>
      <p:sp>
        <p:nvSpPr>
          <p:cNvPr id="6" name="page">
            <a:extLst xmlns:a="http://schemas.openxmlformats.org/drawingml/2006/main">
              <a:ext uri="{FF2B5EF4-FFF2-40B4-BE49-F238E27FC236}">
                <a16:creationId xmlns:a16="http://schemas.microsoft.com/office/drawing/2014/main" id="{1EA48FAE-C2E7-4421-9628-5BC742F2502C}"/>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17</a:t>
            </a:r>
          </a:p>
        </p:txBody>
      </p:sp>
    </p:spTree>
    <p:extLst>
      <p:ext uri="{BB962C8B-B14F-4D97-AF65-F5344CB8AC3E}">
        <p14:creationId xmlns:p14="http://schemas.microsoft.com/office/powerpoint/2010/main" val="1441900668"/>
      </p:ext>
    </p:extLst>
  </p:cSld>
</p:sld>
</file>

<file path=ppt/slides/slide1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04E3823-6D1B-4519-A927-3FDDBE0E8440}"/>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严格十个月端点与事后峰谷</a:t>
            </a:r>
          </a:p>
        </p:txBody>
      </p:sp>
      <p:graphicFrame>
        <p:nvGraphicFramePr>
          <p:cNvPr id="3" name="">
            <a:extLst xmlns:a="http://schemas.openxmlformats.org/drawingml/2006/main">
              <a:ext uri="{FF2B5EF4-FFF2-40B4-BE49-F238E27FC236}">
                <a16:creationId xmlns:a16="http://schemas.microsoft.com/office/drawing/2014/main" id="{A5DB8151-3B09-4922-9935-5FD5FFAA2F7A}"/>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2743200"/>
                <a:gridCol w="2743200"/>
                <a:gridCol w="2743200"/>
                <a:gridCol w="2743200"/>
              </a:tblGrid>
              <a:tr h="1257300">
                <a:tc>
                  <a:txBody>
                    <a:bodyPr/>
                    <a:lstStyle/>
                    <a:p>
                      <a:r>
                        <a:rPr sz="1650" b="1">
                          <a:solidFill>
                            <a:srgbClr val="FFFFFF"/>
                          </a:solidFill>
                        </a:rPr>
                        <a:t>母猪阶段</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650" b="1">
                          <a:solidFill>
                            <a:srgbClr val="FFFFFF"/>
                          </a:solidFill>
                        </a:rPr>
                        <a:t>预先指定+10月价格端点</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650" b="1">
                          <a:solidFill>
                            <a:srgbClr val="FFFFFF"/>
                          </a:solidFill>
                        </a:rPr>
                        <a:t>端点价格变化</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650" b="1">
                          <a:solidFill>
                            <a:srgbClr val="FFFFFF"/>
                          </a:solidFill>
                        </a:rPr>
                        <a:t>窗口谷到峰</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1257300">
                <a:tc>
                  <a:txBody>
                    <a:bodyPr/>
                    <a:lstStyle/>
                    <a:p>
                      <a:r>
                        <a:rPr sz="1650" b="0">
                          <a:solidFill>
                            <a:srgbClr val="102C3A"/>
                          </a:solidFill>
                        </a:rPr>
                        <a:t>2021.06—2022.04</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2022.04—2023.02</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+5.97%</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+105.32%</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1257300">
                <a:tc>
                  <a:txBody>
                    <a:bodyPr/>
                    <a:lstStyle/>
                    <a:p>
                      <a:r>
                        <a:rPr sz="1650" b="0">
                          <a:solidFill>
                            <a:srgbClr val="102C3A"/>
                          </a:solidFill>
                        </a:rPr>
                        <a:t>2022.12—2024.04</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2023.10—2025.02</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−0.06%</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+44.67%</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bl>
          </a:graphicData>
        </a:graphic>
      </p:graphicFrame>
      <p:sp>
        <p:nvSpPr>
          <p:cNvPr id="4" name="takeaway">
            <a:extLst xmlns:a="http://schemas.openxmlformats.org/drawingml/2006/main">
              <a:ext uri="{FF2B5EF4-FFF2-40B4-BE49-F238E27FC236}">
                <a16:creationId xmlns:a16="http://schemas.microsoft.com/office/drawing/2014/main" id="{C9FB994E-A71B-430A-878D-670DC1EA6AD5}"/>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峰谷描述实现过的振幅，端点检验指定日期之间的变化</a:t>
            </a:r>
          </a:p>
        </p:txBody>
      </p:sp>
      <p:sp>
        <p:nvSpPr>
          <p:cNvPr id="5" name="source">
            <a:extLst xmlns:a="http://schemas.openxmlformats.org/drawingml/2006/main">
              <a:ext uri="{FF2B5EF4-FFF2-40B4-BE49-F238E27FC236}">
                <a16:creationId xmlns:a16="http://schemas.microsoft.com/office/drawing/2014/main" id="{47A7650E-CC7E-457F-9689-D3D00F22AD4A}"/>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报告§6.4—§6.6</a:t>
            </a:r>
          </a:p>
        </p:txBody>
      </p:sp>
      <p:sp>
        <p:nvSpPr>
          <p:cNvPr id="6" name="page">
            <a:extLst xmlns:a="http://schemas.openxmlformats.org/drawingml/2006/main">
              <a:ext uri="{FF2B5EF4-FFF2-40B4-BE49-F238E27FC236}">
                <a16:creationId xmlns:a16="http://schemas.microsoft.com/office/drawing/2014/main" id="{5FA9A7AE-15D9-40EC-BEC2-5A5F7F06FC0E}"/>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18</a:t>
            </a:r>
          </a:p>
        </p:txBody>
      </p:sp>
    </p:spTree>
    <p:extLst>
      <p:ext uri="{BB962C8B-B14F-4D97-AF65-F5344CB8AC3E}">
        <p14:creationId xmlns:p14="http://schemas.microsoft.com/office/powerpoint/2010/main" val="911227963"/>
      </p:ext>
    </p:extLst>
  </p:cSld>
</p:sld>
</file>

<file path=ppt/slides/slide1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A7610D87-3429-47FF-A4EC-684C7851C656}"/>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有效供给、需求与零售传导</a:t>
            </a:r>
          </a:p>
        </p:txBody>
      </p:sp>
      <p:sp>
        <p:nvSpPr>
          <p:cNvPr id="3" name="content-0">
            <a:extLst xmlns:a="http://schemas.openxmlformats.org/drawingml/2006/main">
              <a:ext uri="{FF2B5EF4-FFF2-40B4-BE49-F238E27FC236}">
                <a16:creationId xmlns:a16="http://schemas.microsoft.com/office/drawing/2014/main" id="{A564B644-27E1-45FC-AE73-23B3B8FA919C}"/>
              </a:ext>
            </a:extLst>
          </p:cNvPr>
          <p:cNvSpPr>
            <a:spLocks xmlns:a="http://schemas.openxmlformats.org/drawingml/2006/main" noGrp="1"/>
          </p:cNvSpPr>
          <p:nvPr/>
        </p:nvSpPr>
        <p:spPr>
          <a:xfrm xmlns:a="http://schemas.openxmlformats.org/drawingml/2006/main">
            <a:off x="714375" y="156210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625" b="1">
                <a:solidFill>
                  <a:srgbClr val="087F80"/>
                </a:solidFill>
              </a:defRPr>
            </a:defPPr>
            <a:lvl1pPr>
              <a:defRPr sz="2625" b="1">
                <a:solidFill>
                  <a:srgbClr val="087F80"/>
                </a:solidFill>
              </a:defRPr>
            </a:lvl1pPr>
            <a:lvl2pPr>
              <a:defRPr sz="2625" b="1">
                <a:solidFill>
                  <a:srgbClr val="087F80"/>
                </a:solidFill>
              </a:defRPr>
            </a:lvl2pPr>
            <a:lvl3pPr>
              <a:defRPr sz="2625" b="1">
                <a:solidFill>
                  <a:srgbClr val="087F80"/>
                </a:solidFill>
              </a:defRPr>
            </a:lvl3pPr>
            <a:lvl4pPr>
              <a:defRPr sz="2625" b="1">
                <a:solidFill>
                  <a:srgbClr val="087F80"/>
                </a:solidFill>
              </a:defRPr>
            </a:lvl4pPr>
            <a:lvl5pPr>
              <a:defRPr sz="2625" b="1">
                <a:solidFill>
                  <a:srgbClr val="087F80"/>
                </a:solidFill>
              </a:defRPr>
            </a:lvl5pPr>
            <a:lvl6pPr>
              <a:defRPr sz="2625" b="1">
                <a:solidFill>
                  <a:srgbClr val="087F80"/>
                </a:solidFill>
              </a:defRPr>
            </a:lvl6pPr>
            <a:lvl7pPr>
              <a:defRPr sz="2625" b="1">
                <a:solidFill>
                  <a:srgbClr val="087F80"/>
                </a:solidFill>
              </a:defRPr>
            </a:lvl7pPr>
            <a:lvl8pPr>
              <a:defRPr sz="2625" b="1">
                <a:solidFill>
                  <a:srgbClr val="087F80"/>
                </a:solidFill>
              </a:defRPr>
            </a:lvl8pPr>
            <a:lvl9pPr>
              <a:defRPr sz="2625" b="1">
                <a:solidFill>
                  <a:srgbClr val="087F80"/>
                </a:solidFill>
              </a:defRPr>
            </a:lvl9pPr>
          </a:lstStyle>
          <a:p xmlns:a="http://schemas.openxmlformats.org/drawingml/2006/main">
            <a:pPr>
              <a:defRPr sz="2625" b="1">
                <a:solidFill>
                  <a:srgbClr val="087F80"/>
                </a:solidFill>
              </a:defRPr>
            </a:pPr>
            <a:r>
              <a:rPr sz="2625" b="1">
                <a:solidFill>
                  <a:srgbClr val="087F80"/>
                </a:solidFill>
              </a:rPr>
              <a:t>总供给比Q = (1−进口份额) × E + 进口份额 × 进口增长因子</a:t>
            </a:r>
          </a:p>
        </p:txBody>
      </p:sp>
      <p:sp>
        <p:nvSpPr>
          <p:cNvPr id="4" name="content-1">
            <a:extLst xmlns:a="http://schemas.openxmlformats.org/drawingml/2006/main">
              <a:ext uri="{FF2B5EF4-FFF2-40B4-BE49-F238E27FC236}">
                <a16:creationId xmlns:a16="http://schemas.microsoft.com/office/drawing/2014/main" id="{AB8799A0-B2D6-4B2C-8469-B30978F5DE92}"/>
              </a:ext>
            </a:extLst>
          </p:cNvPr>
          <p:cNvSpPr>
            <a:spLocks xmlns:a="http://schemas.openxmlformats.org/drawingml/2006/main" noGrp="1"/>
          </p:cNvSpPr>
          <p:nvPr/>
        </p:nvSpPr>
        <p:spPr>
          <a:xfrm xmlns:a="http://schemas.openxmlformats.org/drawingml/2006/main">
            <a:off x="714375" y="254317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供需比z = Q / 需求趋势因子D</a:t>
            </a:r>
          </a:p>
        </p:txBody>
      </p:sp>
      <p:sp>
        <p:nvSpPr>
          <p:cNvPr id="5" name="content-2">
            <a:extLst xmlns:a="http://schemas.openxmlformats.org/drawingml/2006/main">
              <a:ext uri="{FF2B5EF4-FFF2-40B4-BE49-F238E27FC236}">
                <a16:creationId xmlns:a16="http://schemas.microsoft.com/office/drawing/2014/main" id="{3F21F294-A1AE-4DEA-B13E-A7AB76CFDE96}"/>
              </a:ext>
            </a:extLst>
          </p:cNvPr>
          <p:cNvSpPr>
            <a:spLocks xmlns:a="http://schemas.openxmlformats.org/drawingml/2006/main" noGrp="1"/>
          </p:cNvSpPr>
          <p:nvPr/>
        </p:nvSpPr>
        <p:spPr>
          <a:xfrm xmlns:a="http://schemas.openxmlformats.org/drawingml/2006/main">
            <a:off x="714375" y="352425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零售猪肉价R = R₀ × z^(−1/ε)</a:t>
            </a:r>
          </a:p>
        </p:txBody>
      </p:sp>
      <p:sp>
        <p:nvSpPr>
          <p:cNvPr id="6" name="content-3">
            <a:extLst xmlns:a="http://schemas.openxmlformats.org/drawingml/2006/main">
              <a:ext uri="{FF2B5EF4-FFF2-40B4-BE49-F238E27FC236}">
                <a16:creationId xmlns:a16="http://schemas.microsoft.com/office/drawing/2014/main" id="{147645E0-8D12-49AD-8F78-3226E43313F5}"/>
              </a:ext>
            </a:extLst>
          </p:cNvPr>
          <p:cNvSpPr>
            <a:spLocks xmlns:a="http://schemas.openxmlformats.org/drawingml/2006/main" noGrp="1"/>
          </p:cNvSpPr>
          <p:nvPr/>
        </p:nvSpPr>
        <p:spPr>
          <a:xfrm xmlns:a="http://schemas.openxmlformats.org/drawingml/2006/main">
            <a:off x="714375" y="450532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活猪价P = P₀ + λ × (R−R₀)</a:t>
            </a:r>
          </a:p>
        </p:txBody>
      </p:sp>
      <p:sp>
        <p:nvSpPr>
          <p:cNvPr id="7" name="takeaway">
            <a:extLst xmlns:a="http://schemas.openxmlformats.org/drawingml/2006/main">
              <a:ext uri="{FF2B5EF4-FFF2-40B4-BE49-F238E27FC236}">
                <a16:creationId xmlns:a16="http://schemas.microsoft.com/office/drawing/2014/main" id="{A58A7A8E-74A1-4DFD-8F64-174EBC886C7E}"/>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ε=0.374为年度家庭需求先验，λ=0.75为绝对价差传导假设</a:t>
            </a:r>
          </a:p>
        </p:txBody>
      </p:sp>
      <p:sp>
        <p:nvSpPr>
          <p:cNvPr id="8" name="source">
            <a:extLst xmlns:a="http://schemas.openxmlformats.org/drawingml/2006/main">
              <a:ext uri="{FF2B5EF4-FFF2-40B4-BE49-F238E27FC236}">
                <a16:creationId xmlns:a16="http://schemas.microsoft.com/office/drawing/2014/main" id="{E16AB28F-8ADB-4F7B-81D0-035E82614AD1}"/>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报告§7.1；参考[40]</a:t>
            </a:r>
          </a:p>
        </p:txBody>
      </p:sp>
      <p:sp>
        <p:nvSpPr>
          <p:cNvPr id="9" name="page">
            <a:extLst xmlns:a="http://schemas.openxmlformats.org/drawingml/2006/main">
              <a:ext uri="{FF2B5EF4-FFF2-40B4-BE49-F238E27FC236}">
                <a16:creationId xmlns:a16="http://schemas.microsoft.com/office/drawing/2014/main" id="{D6F074C5-261A-454E-9F0B-6907F5F03C40}"/>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19</a:t>
            </a:r>
          </a:p>
        </p:txBody>
      </p:sp>
    </p:spTree>
    <p:extLst>
      <p:ext uri="{BB962C8B-B14F-4D97-AF65-F5344CB8AC3E}">
        <p14:creationId xmlns:p14="http://schemas.microsoft.com/office/powerpoint/2010/main" val="581315489"/>
      </p:ext>
    </p:extLst>
  </p:cSld>
</p:sld>
</file>

<file path=ppt/slides/slide2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9D891C91-D7B6-4FEB-A6D1-3718D4667B8E}"/>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2027需求路线月度价格</a:t>
            </a:r>
          </a:p>
        </p:txBody>
      </p:sp>
      <p:graphicFrame>
        <p:nvGraphicFramePr>
          <p:cNvPr id="3" name="Chart">
            <a:extLst xmlns:a="http://schemas.openxmlformats.org/drawingml/2006/main">
              <a:ext uri="{FF2B5EF4-FFF2-40B4-BE49-F238E27FC236}">
                <a16:creationId xmlns:a16="http://schemas.microsoft.com/office/drawing/2014/main" id="{B4238269-C746-4891-97AF-0CEA57A7734C}"/>
              </a:ext>
            </a:extLst>
          </p:cNvPr>
          <p:cNvGraphicFramePr/>
          <p:nvPr/>
        </p:nvGraphicFramePr>
        <p:xfrm>
          <a:off xmlns:a="http://schemas.openxmlformats.org/drawingml/2006/main" x="609600" y="1543050"/>
          <a:ext xmlns:a="http://schemas.openxmlformats.org/drawingml/2006/main" cx="10934700" cy="3619500"/>
        </p:xfrm>
        <a:graphic xmlns:a="http://schemas.openxmlformats.org/drawingml/2006/main">
          <a:graphicData uri="http://schemas.openxmlformats.org/drawingml/2006/chart">
            <c:chart xmlns:r="http://schemas.openxmlformats.org/officeDocument/2006/relationships" xmlns:c="http://schemas.openxmlformats.org/drawingml/2006/chart" r:id="R026e77ea80174046"/>
          </a:graphicData>
        </a:graphic>
      </p:graphicFrame>
      <p:sp>
        <p:nvSpPr>
          <p:cNvPr id="4" name="takeaway">
            <a:extLst xmlns:a="http://schemas.openxmlformats.org/drawingml/2006/main">
              <a:ext uri="{FF2B5EF4-FFF2-40B4-BE49-F238E27FC236}">
                <a16:creationId xmlns:a16="http://schemas.microsoft.com/office/drawing/2014/main" id="{EC878F22-2EDC-4119-9F49-F5E7C8B70139}"/>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Q1 12.05，Q2 13.37，Q3 15.35，Q4 16.65，全年14.36元/kg</a:t>
            </a:r>
          </a:p>
        </p:txBody>
      </p:sp>
      <p:sp>
        <p:nvSpPr>
          <p:cNvPr id="5" name="source">
            <a:extLst xmlns:a="http://schemas.openxmlformats.org/drawingml/2006/main">
              <a:ext uri="{FF2B5EF4-FFF2-40B4-BE49-F238E27FC236}">
                <a16:creationId xmlns:a16="http://schemas.microsoft.com/office/drawing/2014/main" id="{F8139019-74D7-4849-8BDB-C952C49B5091}"/>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报告§7.2</a:t>
            </a:r>
          </a:p>
        </p:txBody>
      </p:sp>
      <p:sp>
        <p:nvSpPr>
          <p:cNvPr id="6" name="page">
            <a:extLst xmlns:a="http://schemas.openxmlformats.org/drawingml/2006/main">
              <a:ext uri="{FF2B5EF4-FFF2-40B4-BE49-F238E27FC236}">
                <a16:creationId xmlns:a16="http://schemas.microsoft.com/office/drawing/2014/main" id="{ED80D011-A8A6-42A2-9CD0-45E8ED457189}"/>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20</a:t>
            </a:r>
          </a:p>
        </p:txBody>
      </p:sp>
    </p:spTree>
    <p:extLst>
      <p:ext uri="{BB962C8B-B14F-4D97-AF65-F5344CB8AC3E}">
        <p14:creationId xmlns:p14="http://schemas.microsoft.com/office/powerpoint/2010/main" val="237987320"/>
      </p:ext>
    </p:extLst>
  </p:cSld>
</p:sld>
</file>

<file path=ppt/slides/slide2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65B69FD-FEBC-4735-A7F3-F069470D1525}"/>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去化速度主要影响下半年</a:t>
            </a:r>
          </a:p>
        </p:txBody>
      </p:sp>
      <p:graphicFrame>
        <p:nvGraphicFramePr>
          <p:cNvPr id="3" name="Chart">
            <a:extLst xmlns:a="http://schemas.openxmlformats.org/drawingml/2006/main">
              <a:ext uri="{FF2B5EF4-FFF2-40B4-BE49-F238E27FC236}">
                <a16:creationId xmlns:a16="http://schemas.microsoft.com/office/drawing/2014/main" id="{BAA5FECA-1A53-47F4-87F3-EEE888E98517}"/>
              </a:ext>
            </a:extLst>
          </p:cNvPr>
          <p:cNvGraphicFramePr/>
          <p:nvPr/>
        </p:nvGraphicFramePr>
        <p:xfrm>
          <a:off xmlns:a="http://schemas.openxmlformats.org/drawingml/2006/main" x="609600" y="1543050"/>
          <a:ext xmlns:a="http://schemas.openxmlformats.org/drawingml/2006/main" cx="10934700" cy="3619500"/>
        </p:xfrm>
        <a:graphic xmlns:a="http://schemas.openxmlformats.org/drawingml/2006/main">
          <a:graphicData uri="http://schemas.openxmlformats.org/drawingml/2006/chart">
            <c:chart xmlns:r="http://schemas.openxmlformats.org/officeDocument/2006/relationships" xmlns:c="http://schemas.openxmlformats.org/drawingml/2006/chart" r:id="R569f960475784598"/>
          </a:graphicData>
        </a:graphic>
      </p:graphicFrame>
      <p:sp>
        <p:nvSpPr>
          <p:cNvPr id="4" name="takeaway">
            <a:extLst xmlns:a="http://schemas.openxmlformats.org/drawingml/2006/main">
              <a:ext uri="{FF2B5EF4-FFF2-40B4-BE49-F238E27FC236}">
                <a16:creationId xmlns:a16="http://schemas.microsoft.com/office/drawing/2014/main" id="{41B0670A-C375-4355-B040-C6BE0EB177BD}"/>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三组全年均价分别为13.53、14.36、15.32元/kg</a:t>
            </a:r>
          </a:p>
        </p:txBody>
      </p:sp>
      <p:sp>
        <p:nvSpPr>
          <p:cNvPr id="5" name="source">
            <a:extLst xmlns:a="http://schemas.openxmlformats.org/drawingml/2006/main">
              <a:ext uri="{FF2B5EF4-FFF2-40B4-BE49-F238E27FC236}">
                <a16:creationId xmlns:a16="http://schemas.microsoft.com/office/drawing/2014/main" id="{2FA24A34-A127-45DD-9BCC-D586D25CD825}"/>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报告§7.3、附录A</a:t>
            </a:r>
          </a:p>
        </p:txBody>
      </p:sp>
      <p:sp>
        <p:nvSpPr>
          <p:cNvPr id="6" name="page">
            <a:extLst xmlns:a="http://schemas.openxmlformats.org/drawingml/2006/main">
              <a:ext uri="{FF2B5EF4-FFF2-40B4-BE49-F238E27FC236}">
                <a16:creationId xmlns:a16="http://schemas.microsoft.com/office/drawing/2014/main" id="{A4339B5F-73AD-44FA-A8C1-344EA2A3D694}"/>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21</a:t>
            </a:r>
          </a:p>
        </p:txBody>
      </p:sp>
    </p:spTree>
    <p:extLst>
      <p:ext uri="{BB962C8B-B14F-4D97-AF65-F5344CB8AC3E}">
        <p14:creationId xmlns:p14="http://schemas.microsoft.com/office/powerpoint/2010/main" val="1169812689"/>
      </p:ext>
    </p:extLst>
  </p:cSld>
</p:sld>
</file>

<file path=ppt/slides/slide2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3AC1955-2CF0-4B34-8D56-23C551826526}"/>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效率和体重的抵消作用</a:t>
            </a:r>
          </a:p>
        </p:txBody>
      </p:sp>
      <p:graphicFrame>
        <p:nvGraphicFramePr>
          <p:cNvPr id="3" name="">
            <a:extLst xmlns:a="http://schemas.openxmlformats.org/drawingml/2006/main">
              <a:ext uri="{FF2B5EF4-FFF2-40B4-BE49-F238E27FC236}">
                <a16:creationId xmlns:a16="http://schemas.microsoft.com/office/drawing/2014/main" id="{A6D54D38-53EF-49F0-AF61-F33A372EA102}"/>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4937760"/>
                <a:gridCol w="6035040"/>
              </a:tblGrid>
              <a:tr h="538843">
                <a:tc>
                  <a:txBody>
                    <a:bodyPr/>
                    <a:lstStyle/>
                    <a:p>
                      <a:r>
                        <a:rPr sz="1875" b="1">
                          <a:solidFill>
                            <a:srgbClr val="FFFFFF"/>
                          </a:solidFill>
                        </a:rPr>
                        <a:t>单独变化项</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2027年均价元/kg</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538843">
                <a:tc>
                  <a:txBody>
                    <a:bodyPr/>
                    <a:lstStyle/>
                    <a:p>
                      <a:r>
                        <a:rPr sz="1875" b="0">
                          <a:solidFill>
                            <a:srgbClr val="102C3A"/>
                          </a:solidFill>
                        </a:rPr>
                        <a:t>PSY差距每年缩小0%</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15.35</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PSY差距每年缩小6%</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14.36</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38843">
                <a:tc>
                  <a:txBody>
                    <a:bodyPr/>
                    <a:lstStyle/>
                    <a:p>
                      <a:r>
                        <a:rPr sz="1875" b="0">
                          <a:solidFill>
                            <a:srgbClr val="102C3A"/>
                          </a:solidFill>
                        </a:rPr>
                        <a:t>PSY差距每年缩小12%</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13.43</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全国目标重量120kg</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14.36</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38843">
                <a:tc>
                  <a:txBody>
                    <a:bodyPr/>
                    <a:lstStyle/>
                    <a:p>
                      <a:r>
                        <a:rPr sz="1875" b="0">
                          <a:solidFill>
                            <a:srgbClr val="102C3A"/>
                          </a:solidFill>
                        </a:rPr>
                        <a:t>全国目标重量125kg</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12.78</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全国目标重量130kg</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11.40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bl>
          </a:graphicData>
        </a:graphic>
      </p:graphicFrame>
      <p:sp>
        <p:nvSpPr>
          <p:cNvPr id="4" name="takeaway">
            <a:extLst xmlns:a="http://schemas.openxmlformats.org/drawingml/2006/main">
              <a:ext uri="{FF2B5EF4-FFF2-40B4-BE49-F238E27FC236}">
                <a16:creationId xmlns:a16="http://schemas.microsoft.com/office/drawing/2014/main" id="{B4F86A61-B994-43E0-81CC-37E04340446E}"/>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行业提效可能压低价格，公司提效可能降低自身成本</a:t>
            </a:r>
          </a:p>
        </p:txBody>
      </p:sp>
      <p:sp>
        <p:nvSpPr>
          <p:cNvPr id="5" name="source">
            <a:extLst xmlns:a="http://schemas.openxmlformats.org/drawingml/2006/main">
              <a:ext uri="{FF2B5EF4-FFF2-40B4-BE49-F238E27FC236}">
                <a16:creationId xmlns:a16="http://schemas.microsoft.com/office/drawing/2014/main" id="{4DE4A571-5789-43DA-B4F2-7C1E0F2A99CC}"/>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报告§7.4</a:t>
            </a:r>
          </a:p>
        </p:txBody>
      </p:sp>
      <p:sp>
        <p:nvSpPr>
          <p:cNvPr id="6" name="page">
            <a:extLst xmlns:a="http://schemas.openxmlformats.org/drawingml/2006/main">
              <a:ext uri="{FF2B5EF4-FFF2-40B4-BE49-F238E27FC236}">
                <a16:creationId xmlns:a16="http://schemas.microsoft.com/office/drawing/2014/main" id="{042659D0-5570-422C-9AC9-B5C488D08D7B}"/>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22</a:t>
            </a:r>
          </a:p>
        </p:txBody>
      </p:sp>
    </p:spTree>
    <p:extLst>
      <p:ext uri="{BB962C8B-B14F-4D97-AF65-F5344CB8AC3E}">
        <p14:creationId xmlns:p14="http://schemas.microsoft.com/office/powerpoint/2010/main" val="1675245135"/>
      </p:ext>
    </p:extLst>
  </p:cSld>
</p:sld>
</file>

<file path=ppt/slides/slide2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B26DDEFE-0AF8-43E8-B876-A5DA969C02BA}"/>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需求弹性与价格函数</a:t>
            </a:r>
          </a:p>
        </p:txBody>
      </p:sp>
      <p:graphicFrame>
        <p:nvGraphicFramePr>
          <p:cNvPr id="3" name="">
            <a:extLst xmlns:a="http://schemas.openxmlformats.org/drawingml/2006/main">
              <a:ext uri="{FF2B5EF4-FFF2-40B4-BE49-F238E27FC236}">
                <a16:creationId xmlns:a16="http://schemas.microsoft.com/office/drawing/2014/main" id="{729C9D0E-0331-4ADF-AB73-B84CFB25FE53}"/>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4279392"/>
                <a:gridCol w="2523744"/>
                <a:gridCol w="4169664"/>
              </a:tblGrid>
              <a:tr h="754380">
                <a:tc>
                  <a:txBody>
                    <a:bodyPr/>
                    <a:lstStyle/>
                    <a:p>
                      <a:r>
                        <a:rPr sz="1875" b="1">
                          <a:solidFill>
                            <a:srgbClr val="FFFFFF"/>
                          </a:solidFill>
                        </a:rPr>
                        <a:t>单独变化项</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2027年均价元/kg</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解释</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754380">
                <a:tc>
                  <a:txBody>
                    <a:bodyPr/>
                    <a:lstStyle/>
                    <a:p>
                      <a:r>
                        <a:rPr sz="1875" b="0">
                          <a:solidFill>
                            <a:srgbClr val="102C3A"/>
                          </a:solidFill>
                        </a:rPr>
                        <a:t>需求年变0% / −1% / −2%</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14.82 / 14.36 / 13.90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固定价格下需求趋势</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754380">
                <a:tc>
                  <a:txBody>
                    <a:bodyPr/>
                    <a:lstStyle/>
                    <a:p>
                      <a:r>
                        <a:rPr sz="1875" b="0">
                          <a:solidFill>
                            <a:srgbClr val="102C3A"/>
                          </a:solidFill>
                        </a:rPr>
                        <a:t>ε=0.20 / 0.374 / 0.60</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17.59 / 14.36 / 13.15</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较小弹性放大价格波动</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754380">
                <a:tc>
                  <a:txBody>
                    <a:bodyPr/>
                    <a:lstStyle/>
                    <a:p>
                      <a:r>
                        <a:rPr sz="1875" b="0">
                          <a:solidFill>
                            <a:srgbClr val="102C3A"/>
                          </a:solidFill>
                        </a:rPr>
                        <a:t>λ=0.50 / 0.75 / 1.00</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13.36 / 14.36 / 15.35</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绝对价差传导</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754380">
                <a:tc>
                  <a:txBody>
                    <a:bodyPr/>
                    <a:lstStyle/>
                    <a:p>
                      <a:r>
                        <a:rPr sz="1875" b="0">
                          <a:solidFill>
                            <a:srgbClr val="102C3A"/>
                          </a:solidFill>
                        </a:rPr>
                        <a:t>常弹性 / 局部线性</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14.36 / 13.92</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函数形状对照</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bl>
          </a:graphicData>
        </a:graphic>
      </p:graphicFrame>
      <p:sp>
        <p:nvSpPr>
          <p:cNvPr id="4" name="takeaway">
            <a:extLst xmlns:a="http://schemas.openxmlformats.org/drawingml/2006/main">
              <a:ext uri="{FF2B5EF4-FFF2-40B4-BE49-F238E27FC236}">
                <a16:creationId xmlns:a16="http://schemas.microsoft.com/office/drawing/2014/main" id="{865CED19-B373-45DC-B74F-AC0E0E5F9845}"/>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单因素网格展示模型敏感性，各数值均为指定条件</a:t>
            </a:r>
          </a:p>
        </p:txBody>
      </p:sp>
      <p:sp>
        <p:nvSpPr>
          <p:cNvPr id="5" name="source">
            <a:extLst xmlns:a="http://schemas.openxmlformats.org/drawingml/2006/main">
              <a:ext uri="{FF2B5EF4-FFF2-40B4-BE49-F238E27FC236}">
                <a16:creationId xmlns:a16="http://schemas.microsoft.com/office/drawing/2014/main" id="{112AE02F-9AA2-4811-84DA-D28140408CBD}"/>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报告§7.5、§7.7</a:t>
            </a:r>
          </a:p>
        </p:txBody>
      </p:sp>
      <p:sp>
        <p:nvSpPr>
          <p:cNvPr id="6" name="page">
            <a:extLst xmlns:a="http://schemas.openxmlformats.org/drawingml/2006/main">
              <a:ext uri="{FF2B5EF4-FFF2-40B4-BE49-F238E27FC236}">
                <a16:creationId xmlns:a16="http://schemas.microsoft.com/office/drawing/2014/main" id="{E215CAAA-0980-410A-91AB-2425FBDAFA31}"/>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23</a:t>
            </a:r>
          </a:p>
        </p:txBody>
      </p:sp>
    </p:spTree>
    <p:extLst>
      <p:ext uri="{BB962C8B-B14F-4D97-AF65-F5344CB8AC3E}">
        <p14:creationId xmlns:p14="http://schemas.microsoft.com/office/powerpoint/2010/main" val="1577028598"/>
      </p:ext>
    </p:extLst>
  </p:cSld>
</p:sld>
</file>

<file path=ppt/slides/slide2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AE4DE261-5337-4064-B965-1D962F9A0F42}"/>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时滞与价格锚的选择</a:t>
            </a:r>
          </a:p>
        </p:txBody>
      </p:sp>
      <p:graphicFrame>
        <p:nvGraphicFramePr>
          <p:cNvPr id="3" name="">
            <a:extLst xmlns:a="http://schemas.openxmlformats.org/drawingml/2006/main">
              <a:ext uri="{FF2B5EF4-FFF2-40B4-BE49-F238E27FC236}">
                <a16:creationId xmlns:a16="http://schemas.microsoft.com/office/drawing/2014/main" id="{5B3C0793-32A6-48BF-A264-2D703E84A2A3}"/>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4937760"/>
                <a:gridCol w="6035040"/>
              </a:tblGrid>
              <a:tr h="538843">
                <a:tc>
                  <a:txBody>
                    <a:bodyPr/>
                    <a:lstStyle/>
                    <a:p>
                      <a:r>
                        <a:rPr sz="1875" b="1">
                          <a:solidFill>
                            <a:srgbClr val="FFFFFF"/>
                          </a:solidFill>
                        </a:rPr>
                        <a:t>条件</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2027年均价元/kg</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538843">
                <a:tc>
                  <a:txBody>
                    <a:bodyPr/>
                    <a:lstStyle/>
                    <a:p>
                      <a:r>
                        <a:rPr sz="1875" b="0">
                          <a:solidFill>
                            <a:srgbClr val="102C3A"/>
                          </a:solidFill>
                        </a:rPr>
                        <a:t>固定8个月</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14.99</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固定10个月</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14.36</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38843">
                <a:tc>
                  <a:txBody>
                    <a:bodyPr/>
                    <a:lstStyle/>
                    <a:p>
                      <a:r>
                        <a:rPr sz="1875" b="0">
                          <a:solidFill>
                            <a:srgbClr val="102C3A"/>
                          </a:solidFill>
                        </a:rPr>
                        <a:t>固定12个月</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13.84</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8—12个月分布滞后</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14.43</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38843">
                <a:tc>
                  <a:txBody>
                    <a:bodyPr/>
                    <a:lstStyle/>
                    <a:p>
                      <a:r>
                        <a:rPr sz="1875" b="0">
                          <a:solidFill>
                            <a:srgbClr val="102C3A"/>
                          </a:solidFill>
                        </a:rPr>
                        <a:t>观测价格锚</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14.36</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政策数量及成本价格假设锚</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15.97</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bl>
          </a:graphicData>
        </a:graphic>
      </p:graphicFrame>
      <p:sp>
        <p:nvSpPr>
          <p:cNvPr id="4" name="takeaway">
            <a:extLst xmlns:a="http://schemas.openxmlformats.org/drawingml/2006/main">
              <a:ext uri="{FF2B5EF4-FFF2-40B4-BE49-F238E27FC236}">
                <a16:creationId xmlns:a16="http://schemas.microsoft.com/office/drawing/2014/main" id="{2DD441B1-60E0-4746-977E-9072E9C44213}"/>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政策锚还需同步平移零售锚，保持绝对传导关系一致</a:t>
            </a:r>
          </a:p>
        </p:txBody>
      </p:sp>
      <p:sp>
        <p:nvSpPr>
          <p:cNvPr id="5" name="source">
            <a:extLst xmlns:a="http://schemas.openxmlformats.org/drawingml/2006/main">
              <a:ext uri="{FF2B5EF4-FFF2-40B4-BE49-F238E27FC236}">
                <a16:creationId xmlns:a16="http://schemas.microsoft.com/office/drawing/2014/main" id="{FA4CF441-3731-41E9-BA11-7FC599335DF3}"/>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报告§7.6、§7.8</a:t>
            </a:r>
          </a:p>
        </p:txBody>
      </p:sp>
      <p:sp>
        <p:nvSpPr>
          <p:cNvPr id="6" name="page">
            <a:extLst xmlns:a="http://schemas.openxmlformats.org/drawingml/2006/main">
              <a:ext uri="{FF2B5EF4-FFF2-40B4-BE49-F238E27FC236}">
                <a16:creationId xmlns:a16="http://schemas.microsoft.com/office/drawing/2014/main" id="{A500B002-35BC-41E5-8B82-0FCBDAA023F8}"/>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24</a:t>
            </a:r>
          </a:p>
        </p:txBody>
      </p:sp>
    </p:spTree>
    <p:extLst>
      <p:ext uri="{BB962C8B-B14F-4D97-AF65-F5344CB8AC3E}">
        <p14:creationId xmlns:p14="http://schemas.microsoft.com/office/powerpoint/2010/main" val="1875813282"/>
      </p:ext>
    </p:extLst>
  </p:cSld>
</p:sld>
</file>

<file path=ppt/slides/slide2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27461182-BA49-4D8B-913B-6E83435151D6}"/>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美国经验的适用范围</a:t>
            </a:r>
          </a:p>
        </p:txBody>
      </p:sp>
      <p:graphicFrame>
        <p:nvGraphicFramePr>
          <p:cNvPr id="3" name="">
            <a:extLst xmlns:a="http://schemas.openxmlformats.org/drawingml/2006/main">
              <a:ext uri="{FF2B5EF4-FFF2-40B4-BE49-F238E27FC236}">
                <a16:creationId xmlns:a16="http://schemas.microsoft.com/office/drawing/2014/main" id="{09E88C18-5021-43EB-B7A7-E76480A4A53C}"/>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4279392"/>
                <a:gridCol w="2523744"/>
                <a:gridCol w="4169664"/>
              </a:tblGrid>
              <a:tr h="754380">
                <a:tc>
                  <a:txBody>
                    <a:bodyPr/>
                    <a:lstStyle/>
                    <a:p>
                      <a:r>
                        <a:rPr sz="1875" b="1">
                          <a:solidFill>
                            <a:srgbClr val="FFFFFF"/>
                          </a:solidFill>
                        </a:rPr>
                        <a:t>观察</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源报告结果</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对行业的启示</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754380">
                <a:tc>
                  <a:txBody>
                    <a:bodyPr/>
                    <a:lstStyle/>
                    <a:p>
                      <a:r>
                        <a:rPr sz="1875" b="0">
                          <a:solidFill>
                            <a:srgbClr val="102C3A"/>
                          </a:solidFill>
                        </a:rPr>
                        <a:t>≥5000头经营单位存栏份额</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2002年53%</a:t>
                      </a:r>
                    </a:p>
                    <a:p>
                      <a:r>
                        <a:rPr sz="1875" b="0">
                          <a:solidFill>
                            <a:srgbClr val="102C3A"/>
                          </a:solidFill>
                        </a:rPr>
                        <a:t>2022年75%</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成熟市场仍可发生集中</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754380">
                <a:tc>
                  <a:txBody>
                    <a:bodyPr/>
                    <a:lstStyle/>
                    <a:p>
                      <a:r>
                        <a:rPr sz="1875" b="0">
                          <a:solidFill>
                            <a:srgbClr val="102C3A"/>
                          </a:solidFill>
                        </a:rPr>
                        <a:t>2015—2025商业屠宰头数CAGR</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约1.06%</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行业总量成长可能有限</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754380">
                <a:tc>
                  <a:txBody>
                    <a:bodyPr/>
                    <a:lstStyle/>
                    <a:p>
                      <a:r>
                        <a:rPr sz="1875" b="0">
                          <a:solidFill>
                            <a:srgbClr val="102C3A"/>
                          </a:solidFill>
                        </a:rPr>
                        <a:t>2020育肥经济成本，美元/100磅增重</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&lt;2000头 85.85</a:t>
                      </a:r>
                    </a:p>
                    <a:p>
                      <a:r>
                        <a:rPr sz="1875" b="0">
                          <a:solidFill>
                            <a:srgbClr val="102C3A"/>
                          </a:solidFill>
                        </a:rPr>
                        <a:t>≥10000头 61.21</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规模与资本劳动效率有关</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754380">
                <a:tc>
                  <a:txBody>
                    <a:bodyPr/>
                    <a:lstStyle/>
                    <a:p>
                      <a:r>
                        <a:rPr sz="1875" b="0">
                          <a:solidFill>
                            <a:srgbClr val="102C3A"/>
                          </a:solidFill>
                        </a:rPr>
                        <a:t>Smithfield内部实际养猪量</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2019年1760万</a:t>
                      </a:r>
                    </a:p>
                    <a:p>
                      <a:r>
                        <a:rPr sz="1875" b="0">
                          <a:solidFill>
                            <a:srgbClr val="102C3A"/>
                          </a:solidFill>
                        </a:rPr>
                        <a:t>2025年1110万</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优化资本组织也可创造价值</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bl>
          </a:graphicData>
        </a:graphic>
      </p:graphicFrame>
      <p:sp>
        <p:nvSpPr>
          <p:cNvPr id="4" name="takeaway">
            <a:extLst xmlns:a="http://schemas.openxmlformats.org/drawingml/2006/main">
              <a:ext uri="{FF2B5EF4-FFF2-40B4-BE49-F238E27FC236}">
                <a16:creationId xmlns:a16="http://schemas.microsoft.com/office/drawing/2014/main" id="{152617AC-0687-47A4-AA2E-A225C2A84CD1}"/>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经营单位规模组、企业所有权、活重增量与出栏活重分别解释</a:t>
            </a:r>
          </a:p>
        </p:txBody>
      </p:sp>
      <p:sp>
        <p:nvSpPr>
          <p:cNvPr id="5" name="source">
            <a:extLst xmlns:a="http://schemas.openxmlformats.org/drawingml/2006/main">
              <a:ext uri="{FF2B5EF4-FFF2-40B4-BE49-F238E27FC236}">
                <a16:creationId xmlns:a16="http://schemas.microsoft.com/office/drawing/2014/main" id="{DEADFC15-E4BB-4CF7-A406-AE6379833A62}"/>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报告§10.6—§10.8；参考[52]—[58]</a:t>
            </a:r>
          </a:p>
        </p:txBody>
      </p:sp>
      <p:sp>
        <p:nvSpPr>
          <p:cNvPr id="6" name="page">
            <a:extLst xmlns:a="http://schemas.openxmlformats.org/drawingml/2006/main">
              <a:ext uri="{FF2B5EF4-FFF2-40B4-BE49-F238E27FC236}">
                <a16:creationId xmlns:a16="http://schemas.microsoft.com/office/drawing/2014/main" id="{DF89637D-882C-494D-8042-0639CFA39F84}"/>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25</a:t>
            </a:r>
          </a:p>
        </p:txBody>
      </p:sp>
    </p:spTree>
    <p:extLst>
      <p:ext uri="{BB962C8B-B14F-4D97-AF65-F5344CB8AC3E}">
        <p14:creationId xmlns:p14="http://schemas.microsoft.com/office/powerpoint/2010/main" val="2113663902"/>
      </p:ext>
    </p:extLst>
  </p:cSld>
</p:sld>
</file>

<file path=ppt/slides/slide2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277686D-FA2D-4E5A-BF9B-ED1F6AA8A70B}"/>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行业篇小结：观察什么，怎样修正判断</a:t>
            </a:r>
          </a:p>
        </p:txBody>
      </p:sp>
      <p:sp>
        <p:nvSpPr>
          <p:cNvPr id="3" name="content-0">
            <a:extLst xmlns:a="http://schemas.openxmlformats.org/drawingml/2006/main">
              <a:ext uri="{FF2B5EF4-FFF2-40B4-BE49-F238E27FC236}">
                <a16:creationId xmlns:a16="http://schemas.microsoft.com/office/drawing/2014/main" id="{A22F08A1-12AC-41B1-91A8-2299AEE2BD44}"/>
              </a:ext>
            </a:extLst>
          </p:cNvPr>
          <p:cNvSpPr>
            <a:spLocks xmlns:a="http://schemas.openxmlformats.org/drawingml/2006/main" noGrp="1"/>
          </p:cNvSpPr>
          <p:nvPr/>
        </p:nvSpPr>
        <p:spPr>
          <a:xfrm xmlns:a="http://schemas.openxmlformats.org/drawingml/2006/main">
            <a:off x="714375" y="156210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成本与资本回报，决定正常中枢的解释框架</a:t>
            </a:r>
          </a:p>
        </p:txBody>
      </p:sp>
      <p:sp>
        <p:nvSpPr>
          <p:cNvPr id="4" name="content-1">
            <a:extLst xmlns:a="http://schemas.openxmlformats.org/drawingml/2006/main">
              <a:ext uri="{FF2B5EF4-FFF2-40B4-BE49-F238E27FC236}">
                <a16:creationId xmlns:a16="http://schemas.microsoft.com/office/drawing/2014/main" id="{436EA48F-71C0-4E61-A715-EDF245A67AF1}"/>
              </a:ext>
            </a:extLst>
          </p:cNvPr>
          <p:cNvSpPr>
            <a:spLocks xmlns:a="http://schemas.openxmlformats.org/drawingml/2006/main" noGrp="1"/>
          </p:cNvSpPr>
          <p:nvPr/>
        </p:nvSpPr>
        <p:spPr>
          <a:xfrm xmlns:a="http://schemas.openxmlformats.org/drawingml/2006/main">
            <a:off x="714375" y="254317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母猪 × 效率 × 重量，决定有效供给</a:t>
            </a:r>
          </a:p>
        </p:txBody>
      </p:sp>
      <p:sp>
        <p:nvSpPr>
          <p:cNvPr id="5" name="content-2">
            <a:extLst xmlns:a="http://schemas.openxmlformats.org/drawingml/2006/main">
              <a:ext uri="{FF2B5EF4-FFF2-40B4-BE49-F238E27FC236}">
                <a16:creationId xmlns:a16="http://schemas.microsoft.com/office/drawing/2014/main" id="{BC36FEFA-4557-4C09-85FD-751B6CF71F38}"/>
              </a:ext>
            </a:extLst>
          </p:cNvPr>
          <p:cNvSpPr>
            <a:spLocks xmlns:a="http://schemas.openxmlformats.org/drawingml/2006/main" noGrp="1"/>
          </p:cNvSpPr>
          <p:nvPr/>
        </p:nvSpPr>
        <p:spPr>
          <a:xfrm xmlns:a="http://schemas.openxmlformats.org/drawingml/2006/main">
            <a:off x="714375" y="352425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时滞、需求与价格锚，决定阶段价格路径</a:t>
            </a:r>
          </a:p>
        </p:txBody>
      </p:sp>
      <p:sp>
        <p:nvSpPr>
          <p:cNvPr id="6" name="content-3">
            <a:extLst xmlns:a="http://schemas.openxmlformats.org/drawingml/2006/main">
              <a:ext uri="{FF2B5EF4-FFF2-40B4-BE49-F238E27FC236}">
                <a16:creationId xmlns:a16="http://schemas.microsoft.com/office/drawing/2014/main" id="{48933182-7CB4-4239-A9F5-7A599AD32D2D}"/>
              </a:ext>
            </a:extLst>
          </p:cNvPr>
          <p:cNvSpPr>
            <a:spLocks xmlns:a="http://schemas.openxmlformats.org/drawingml/2006/main" noGrp="1"/>
          </p:cNvSpPr>
          <p:nvPr/>
        </p:nvSpPr>
        <p:spPr>
          <a:xfrm xmlns:a="http://schemas.openxmlformats.org/drawingml/2006/main">
            <a:off x="714375" y="450532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持续观察仔猪出生、饲料、重量、需求与进口</a:t>
            </a:r>
          </a:p>
        </p:txBody>
      </p:sp>
      <p:sp>
        <p:nvSpPr>
          <p:cNvPr id="7" name="takeaway">
            <a:extLst xmlns:a="http://schemas.openxmlformats.org/drawingml/2006/main">
              <a:ext uri="{FF2B5EF4-FFF2-40B4-BE49-F238E27FC236}">
                <a16:creationId xmlns:a16="http://schemas.microsoft.com/office/drawing/2014/main" id="{ABC39589-B2BF-4BB4-B2AA-3D2A1956ACE4}"/>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行业篇到此完整结束｜剪辑可在本页结束后切断</a:t>
            </a:r>
          </a:p>
        </p:txBody>
      </p:sp>
      <p:sp>
        <p:nvSpPr>
          <p:cNvPr id="8" name="source">
            <a:extLst xmlns:a="http://schemas.openxmlformats.org/drawingml/2006/main">
              <a:ext uri="{FF2B5EF4-FFF2-40B4-BE49-F238E27FC236}">
                <a16:creationId xmlns:a16="http://schemas.microsoft.com/office/drawing/2014/main" id="{3A8B91FF-DDFB-45C7-AF4E-ECA7956324ED}"/>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本报告行业分析与公开资料汇总</a:t>
            </a:r>
          </a:p>
        </p:txBody>
      </p:sp>
      <p:sp>
        <p:nvSpPr>
          <p:cNvPr id="9" name="page">
            <a:extLst xmlns:a="http://schemas.openxmlformats.org/drawingml/2006/main">
              <a:ext uri="{FF2B5EF4-FFF2-40B4-BE49-F238E27FC236}">
                <a16:creationId xmlns:a16="http://schemas.microsoft.com/office/drawing/2014/main" id="{24DA99DD-13F5-4F05-AD4B-54A11697209D}"/>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26</a:t>
            </a:r>
          </a:p>
        </p:txBody>
      </p:sp>
    </p:spTree>
    <p:extLst>
      <p:ext uri="{BB962C8B-B14F-4D97-AF65-F5344CB8AC3E}">
        <p14:creationId xmlns:p14="http://schemas.microsoft.com/office/powerpoint/2010/main" val="1641843431"/>
      </p:ext>
    </p:extLst>
  </p:cSld>
</p:sld>
</file>

<file path=ppt/slides/slide2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2CA13DA0-637F-4CDC-A588-DCB6D99A2C7C}"/>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第二部分：</a:t>
            </a:r>
          </a:p>
          <a:p xmlns:a="http://schemas.openxmlformats.org/drawingml/2006/main">
            <a:pPr>
              <a:defRPr sz="3225" b="1">
                <a:solidFill>
                  <a:srgbClr val="102C3A"/>
                </a:solidFill>
              </a:defRPr>
            </a:pPr>
            <a:r>
              <a:rPr sz="3225" b="1">
                <a:solidFill>
                  <a:srgbClr val="102C3A"/>
                </a:solidFill>
              </a:rPr>
              <a:t>牧原经营与估值案例</a:t>
            </a:r>
          </a:p>
        </p:txBody>
      </p:sp>
      <p:sp>
        <p:nvSpPr>
          <p:cNvPr id="3" name="content-0">
            <a:extLst xmlns:a="http://schemas.openxmlformats.org/drawingml/2006/main">
              <a:ext uri="{FF2B5EF4-FFF2-40B4-BE49-F238E27FC236}">
                <a16:creationId xmlns:a16="http://schemas.microsoft.com/office/drawing/2014/main" id="{855FA213-6DAD-4522-9B51-C1A3EC32A61D}"/>
              </a:ext>
            </a:extLst>
          </p:cNvPr>
          <p:cNvSpPr>
            <a:spLocks xmlns:a="http://schemas.openxmlformats.org/drawingml/2006/main" noGrp="1"/>
          </p:cNvSpPr>
          <p:nvPr/>
        </p:nvSpPr>
        <p:spPr>
          <a:xfrm xmlns:a="http://schemas.openxmlformats.org/drawingml/2006/main">
            <a:off x="714375" y="156210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从同一组价格、销量、成本假设出发</a:t>
            </a:r>
          </a:p>
        </p:txBody>
      </p:sp>
      <p:sp>
        <p:nvSpPr>
          <p:cNvPr id="4" name="content-1">
            <a:extLst xmlns:a="http://schemas.openxmlformats.org/drawingml/2006/main">
              <a:ext uri="{FF2B5EF4-FFF2-40B4-BE49-F238E27FC236}">
                <a16:creationId xmlns:a16="http://schemas.microsoft.com/office/drawing/2014/main" id="{420AF4DB-A153-47E1-BAF5-F4F24AB37562}"/>
              </a:ext>
            </a:extLst>
          </p:cNvPr>
          <p:cNvSpPr>
            <a:spLocks xmlns:a="http://schemas.openxmlformats.org/drawingml/2006/main" noGrp="1"/>
          </p:cNvSpPr>
          <p:nvPr/>
        </p:nvSpPr>
        <p:spPr>
          <a:xfrm xmlns:a="http://schemas.openxmlformats.org/drawingml/2006/main">
            <a:off x="714375" y="254317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先完整计算年度利润与高位PE定价</a:t>
            </a:r>
          </a:p>
        </p:txBody>
      </p:sp>
      <p:sp>
        <p:nvSpPr>
          <p:cNvPr id="5" name="content-2">
            <a:extLst xmlns:a="http://schemas.openxmlformats.org/drawingml/2006/main">
              <a:ext uri="{FF2B5EF4-FFF2-40B4-BE49-F238E27FC236}">
                <a16:creationId xmlns:a16="http://schemas.microsoft.com/office/drawing/2014/main" id="{A0754C52-2962-4077-92AA-36A28668DDFC}"/>
              </a:ext>
            </a:extLst>
          </p:cNvPr>
          <p:cNvSpPr>
            <a:spLocks xmlns:a="http://schemas.openxmlformats.org/drawingml/2006/main" noGrp="1"/>
          </p:cNvSpPr>
          <p:nvPr/>
        </p:nvSpPr>
        <p:spPr>
          <a:xfrm xmlns:a="http://schemas.openxmlformats.org/drawingml/2006/main">
            <a:off x="714375" y="352425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再比较跨周期现金流、资本支出与资金约束</a:t>
            </a:r>
          </a:p>
        </p:txBody>
      </p:sp>
      <p:sp>
        <p:nvSpPr>
          <p:cNvPr id="6" name="takeaway">
            <a:extLst xmlns:a="http://schemas.openxmlformats.org/drawingml/2006/main">
              <a:ext uri="{FF2B5EF4-FFF2-40B4-BE49-F238E27FC236}">
                <a16:creationId xmlns:a16="http://schemas.microsoft.com/office/drawing/2014/main" id="{A7AA01E7-E2CD-4402-813D-BB2A80C10E85}"/>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个股案例从本页开始｜与行业篇独立录制、独立导出</a:t>
            </a:r>
          </a:p>
        </p:txBody>
      </p:sp>
      <p:sp>
        <p:nvSpPr>
          <p:cNvPr id="7" name="source">
            <a:extLst xmlns:a="http://schemas.openxmlformats.org/drawingml/2006/main">
              <a:ext uri="{FF2B5EF4-FFF2-40B4-BE49-F238E27FC236}">
                <a16:creationId xmlns:a16="http://schemas.microsoft.com/office/drawing/2014/main" id="{2344A93F-239D-48E8-A802-57C8C276C563}"/>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本报告行业分析与公开资料汇总</a:t>
            </a:r>
          </a:p>
        </p:txBody>
      </p:sp>
      <p:sp>
        <p:nvSpPr>
          <p:cNvPr id="8" name="page">
            <a:extLst xmlns:a="http://schemas.openxmlformats.org/drawingml/2006/main">
              <a:ext uri="{FF2B5EF4-FFF2-40B4-BE49-F238E27FC236}">
                <a16:creationId xmlns:a16="http://schemas.microsoft.com/office/drawing/2014/main" id="{9C2ADA73-C6D1-4FF9-9AF8-57F34362141E}"/>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27</a:t>
            </a:r>
          </a:p>
        </p:txBody>
      </p:sp>
    </p:spTree>
    <p:extLst>
      <p:ext uri="{BB962C8B-B14F-4D97-AF65-F5344CB8AC3E}">
        <p14:creationId xmlns:p14="http://schemas.microsoft.com/office/powerpoint/2010/main" val="1910574042"/>
      </p:ext>
    </p:extLst>
  </p:cSld>
</p:sld>
</file>

<file path=ppt/slides/slide2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E0F62A0-70F7-4606-B09F-F5121EC8C58A}"/>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主线假设账本</a:t>
            </a:r>
          </a:p>
        </p:txBody>
      </p:sp>
      <p:graphicFrame>
        <p:nvGraphicFramePr>
          <p:cNvPr id="3" name="">
            <a:extLst xmlns:a="http://schemas.openxmlformats.org/drawingml/2006/main">
              <a:ext uri="{FF2B5EF4-FFF2-40B4-BE49-F238E27FC236}">
                <a16:creationId xmlns:a16="http://schemas.microsoft.com/office/drawing/2014/main" id="{7C042D94-FC63-4E6E-A0E1-B706BEDE58FD}"/>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4937760"/>
                <a:gridCol w="6035040"/>
              </a:tblGrid>
              <a:tr h="628650">
                <a:tc>
                  <a:txBody>
                    <a:bodyPr/>
                    <a:lstStyle/>
                    <a:p>
                      <a:r>
                        <a:rPr sz="1875" b="1">
                          <a:solidFill>
                            <a:srgbClr val="FFFFFF"/>
                          </a:solidFill>
                        </a:rPr>
                        <a:t>环节</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本条主线设定</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628650">
                <a:tc>
                  <a:txBody>
                    <a:bodyPr/>
                    <a:lstStyle/>
                    <a:p>
                      <a:r>
                        <a:rPr sz="1875" b="0">
                          <a:solidFill>
                            <a:srgbClr val="102C3A"/>
                          </a:solidFill>
                        </a:rPr>
                        <a:t>必要产能完全成本 / 权益回报</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14.9元/kg / 1000元每头 × 10%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628650">
                <a:tc>
                  <a:txBody>
                    <a:bodyPr/>
                    <a:lstStyle/>
                    <a:p>
                      <a:r>
                        <a:rPr sz="1875" b="0">
                          <a:solidFill>
                            <a:srgbClr val="102C3A"/>
                          </a:solidFill>
                        </a:rPr>
                        <a:t>正常猪价中枢</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15.7333元/kg</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628650">
                <a:tc>
                  <a:txBody>
                    <a:bodyPr/>
                    <a:lstStyle/>
                    <a:p>
                      <a:r>
                        <a:rPr sz="1875" b="0">
                          <a:solidFill>
                            <a:srgbClr val="102C3A"/>
                          </a:solidFill>
                        </a:rPr>
                        <a:t>另设高位年度全国价 / 公司售价差</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20元/kg / 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628650">
                <a:tc>
                  <a:txBody>
                    <a:bodyPr/>
                    <a:lstStyle/>
                    <a:p>
                      <a:r>
                        <a:rPr sz="1875" b="0">
                          <a:solidFill>
                            <a:srgbClr val="102C3A"/>
                          </a:solidFill>
                        </a:rPr>
                        <a:t>商品猪销量 / 重量 / 完全成本</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8000万头 / 120kg / 11.8元/kg</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628650">
                <a:tc>
                  <a:txBody>
                    <a:bodyPr/>
                    <a:lstStyle/>
                    <a:p>
                      <a:r>
                        <a:rPr sz="1875" b="0">
                          <a:solidFill>
                            <a:srgbClr val="102C3A"/>
                          </a:solidFill>
                        </a:rPr>
                        <a:t>归属折算 / 峰值PE / 股数</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95% / 10倍 / 57.72996144亿股</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bl>
          </a:graphicData>
        </a:graphic>
      </p:graphicFrame>
      <p:sp>
        <p:nvSpPr>
          <p:cNvPr id="4" name="takeaway">
            <a:extLst xmlns:a="http://schemas.openxmlformats.org/drawingml/2006/main">
              <a:ext uri="{FF2B5EF4-FFF2-40B4-BE49-F238E27FC236}">
                <a16:creationId xmlns:a16="http://schemas.microsoft.com/office/drawing/2014/main" id="{14B2B74D-4835-4D58-AB2A-90652FE73F0D}"/>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高位20元为源报告的外生全年价示例，10倍PE为外推定价条件</a:t>
            </a:r>
          </a:p>
        </p:txBody>
      </p:sp>
      <p:sp>
        <p:nvSpPr>
          <p:cNvPr id="5" name="source">
            <a:extLst xmlns:a="http://schemas.openxmlformats.org/drawingml/2006/main">
              <a:ext uri="{FF2B5EF4-FFF2-40B4-BE49-F238E27FC236}">
                <a16:creationId xmlns:a16="http://schemas.microsoft.com/office/drawing/2014/main" id="{964337AF-F172-4425-B89F-10BE7B7CC206}"/>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报告修订版 主线演算</a:t>
            </a:r>
          </a:p>
        </p:txBody>
      </p:sp>
      <p:sp>
        <p:nvSpPr>
          <p:cNvPr id="6" name="page">
            <a:extLst xmlns:a="http://schemas.openxmlformats.org/drawingml/2006/main">
              <a:ext uri="{FF2B5EF4-FFF2-40B4-BE49-F238E27FC236}">
                <a16:creationId xmlns:a16="http://schemas.microsoft.com/office/drawing/2014/main" id="{C3FBB69B-6CFC-46C0-99CE-D779E32C3584}"/>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28</a:t>
            </a:r>
          </a:p>
        </p:txBody>
      </p:sp>
    </p:spTree>
    <p:extLst>
      <p:ext uri="{BB962C8B-B14F-4D97-AF65-F5344CB8AC3E}">
        <p14:creationId xmlns:p14="http://schemas.microsoft.com/office/powerpoint/2010/main" val="1437001866"/>
      </p:ext>
    </p:extLst>
  </p:cSld>
</p:sld>
</file>

<file path=ppt/slides/slide2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56BE6CF-E2A5-42B7-9120-88CCDEAC01BF}"/>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主线计算顺序</a:t>
            </a:r>
          </a:p>
        </p:txBody>
      </p:sp>
      <p:sp>
        <p:nvSpPr>
          <p:cNvPr id="3" name="content-0">
            <a:extLst xmlns:a="http://schemas.openxmlformats.org/drawingml/2006/main">
              <a:ext uri="{FF2B5EF4-FFF2-40B4-BE49-F238E27FC236}">
                <a16:creationId xmlns:a16="http://schemas.microsoft.com/office/drawing/2014/main" id="{99735CF0-3211-41C7-B99A-D9AD4218C23E}"/>
              </a:ext>
            </a:extLst>
          </p:cNvPr>
          <p:cNvSpPr>
            <a:spLocks xmlns:a="http://schemas.openxmlformats.org/drawingml/2006/main" noGrp="1"/>
          </p:cNvSpPr>
          <p:nvPr/>
        </p:nvSpPr>
        <p:spPr>
          <a:xfrm xmlns:a="http://schemas.openxmlformats.org/drawingml/2006/main">
            <a:off x="714375" y="156210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必要产能成本与正常权益回报，得到长期猪价中枢</a:t>
            </a:r>
          </a:p>
        </p:txBody>
      </p:sp>
      <p:sp>
        <p:nvSpPr>
          <p:cNvPr id="4" name="content-1">
            <a:extLst xmlns:a="http://schemas.openxmlformats.org/drawingml/2006/main">
              <a:ext uri="{FF2B5EF4-FFF2-40B4-BE49-F238E27FC236}">
                <a16:creationId xmlns:a16="http://schemas.microsoft.com/office/drawing/2014/main" id="{E3E49725-E063-48CE-AFFE-A2277555EBA6}"/>
              </a:ext>
            </a:extLst>
          </p:cNvPr>
          <p:cNvSpPr>
            <a:spLocks xmlns:a="http://schemas.openxmlformats.org/drawingml/2006/main" noGrp="1"/>
          </p:cNvSpPr>
          <p:nvPr/>
        </p:nvSpPr>
        <p:spPr>
          <a:xfrm xmlns:a="http://schemas.openxmlformats.org/drawingml/2006/main">
            <a:off x="714375" y="254317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另设周期高位年度价格，并确认全国价与公司价对应</a:t>
            </a:r>
          </a:p>
        </p:txBody>
      </p:sp>
      <p:sp>
        <p:nvSpPr>
          <p:cNvPr id="5" name="content-2">
            <a:extLst xmlns:a="http://schemas.openxmlformats.org/drawingml/2006/main">
              <a:ext uri="{FF2B5EF4-FFF2-40B4-BE49-F238E27FC236}">
                <a16:creationId xmlns:a16="http://schemas.microsoft.com/office/drawing/2014/main" id="{AE9C8E12-4B26-4F90-BAC3-658BDDAF61CB}"/>
              </a:ext>
            </a:extLst>
          </p:cNvPr>
          <p:cNvSpPr>
            <a:spLocks xmlns:a="http://schemas.openxmlformats.org/drawingml/2006/main" noGrp="1"/>
          </p:cNvSpPr>
          <p:nvPr/>
        </p:nvSpPr>
        <p:spPr>
          <a:xfrm xmlns:a="http://schemas.openxmlformats.org/drawingml/2006/main">
            <a:off x="714375" y="352425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公司销量、重量、售价与成本，得到高位年度利润</a:t>
            </a:r>
          </a:p>
        </p:txBody>
      </p:sp>
      <p:sp>
        <p:nvSpPr>
          <p:cNvPr id="6" name="content-3">
            <a:extLst xmlns:a="http://schemas.openxmlformats.org/drawingml/2006/main">
              <a:ext uri="{FF2B5EF4-FFF2-40B4-BE49-F238E27FC236}">
                <a16:creationId xmlns:a16="http://schemas.microsoft.com/office/drawing/2014/main" id="{7AD9E9B4-7B17-43D2-B467-ACE6B86DA0B9}"/>
              </a:ext>
            </a:extLst>
          </p:cNvPr>
          <p:cNvSpPr>
            <a:spLocks xmlns:a="http://schemas.openxmlformats.org/drawingml/2006/main" noGrp="1"/>
          </p:cNvSpPr>
          <p:nvPr/>
        </p:nvSpPr>
        <p:spPr>
          <a:xfrm xmlns:a="http://schemas.openxmlformats.org/drawingml/2006/main">
            <a:off x="714375" y="450532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用同一个高位年度利润乘10倍PE，完成主线估值</a:t>
            </a:r>
          </a:p>
        </p:txBody>
      </p:sp>
      <p:sp>
        <p:nvSpPr>
          <p:cNvPr id="7" name="takeaway">
            <a:extLst xmlns:a="http://schemas.openxmlformats.org/drawingml/2006/main">
              <a:ext uri="{FF2B5EF4-FFF2-40B4-BE49-F238E27FC236}">
                <a16:creationId xmlns:a16="http://schemas.microsoft.com/office/drawing/2014/main" id="{58E4A897-0895-4C5F-8984-5774BED15596}"/>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主线先完整计算，其他价格及估值方法在后面比较</a:t>
            </a:r>
          </a:p>
        </p:txBody>
      </p:sp>
      <p:sp>
        <p:nvSpPr>
          <p:cNvPr id="8" name="source">
            <a:extLst xmlns:a="http://schemas.openxmlformats.org/drawingml/2006/main">
              <a:ext uri="{FF2B5EF4-FFF2-40B4-BE49-F238E27FC236}">
                <a16:creationId xmlns:a16="http://schemas.microsoft.com/office/drawing/2014/main" id="{28504821-18B0-4292-A9A3-1D20B69AAD87}"/>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报告§1、§2.2</a:t>
            </a:r>
          </a:p>
        </p:txBody>
      </p:sp>
      <p:sp>
        <p:nvSpPr>
          <p:cNvPr id="9" name="page">
            <a:extLst xmlns:a="http://schemas.openxmlformats.org/drawingml/2006/main">
              <a:ext uri="{FF2B5EF4-FFF2-40B4-BE49-F238E27FC236}">
                <a16:creationId xmlns:a16="http://schemas.microsoft.com/office/drawing/2014/main" id="{42852C2B-59FC-40E3-A597-B84D833C989D}"/>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29</a:t>
            </a:r>
          </a:p>
        </p:txBody>
      </p:sp>
    </p:spTree>
    <p:extLst>
      <p:ext uri="{BB962C8B-B14F-4D97-AF65-F5344CB8AC3E}">
        <p14:creationId xmlns:p14="http://schemas.microsoft.com/office/powerpoint/2010/main" val="1416554719"/>
      </p:ext>
    </p:extLst>
  </p:cSld>
</p:sld>
</file>

<file path=ppt/slides/slide3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54653038-857C-4BE4-A655-3C22007523F3}"/>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单位换算与一元价差</a:t>
            </a:r>
          </a:p>
        </p:txBody>
      </p:sp>
      <p:sp>
        <p:nvSpPr>
          <p:cNvPr id="3" name="content-0">
            <a:extLst xmlns:a="http://schemas.openxmlformats.org/drawingml/2006/main">
              <a:ext uri="{FF2B5EF4-FFF2-40B4-BE49-F238E27FC236}">
                <a16:creationId xmlns:a16="http://schemas.microsoft.com/office/drawing/2014/main" id="{5E239AC1-B97A-4369-A044-6D1D653F251E}"/>
              </a:ext>
            </a:extLst>
          </p:cNvPr>
          <p:cNvSpPr>
            <a:spLocks xmlns:a="http://schemas.openxmlformats.org/drawingml/2006/main" noGrp="1"/>
          </p:cNvSpPr>
          <p:nvPr/>
        </p:nvSpPr>
        <p:spPr>
          <a:xfrm xmlns:a="http://schemas.openxmlformats.org/drawingml/2006/main">
            <a:off x="714375" y="156210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625" b="1">
                <a:solidFill>
                  <a:srgbClr val="087F80"/>
                </a:solidFill>
              </a:defRPr>
            </a:defPPr>
            <a:lvl1pPr>
              <a:defRPr sz="2625" b="1">
                <a:solidFill>
                  <a:srgbClr val="087F80"/>
                </a:solidFill>
              </a:defRPr>
            </a:lvl1pPr>
            <a:lvl2pPr>
              <a:defRPr sz="2625" b="1">
                <a:solidFill>
                  <a:srgbClr val="087F80"/>
                </a:solidFill>
              </a:defRPr>
            </a:lvl2pPr>
            <a:lvl3pPr>
              <a:defRPr sz="2625" b="1">
                <a:solidFill>
                  <a:srgbClr val="087F80"/>
                </a:solidFill>
              </a:defRPr>
            </a:lvl3pPr>
            <a:lvl4pPr>
              <a:defRPr sz="2625" b="1">
                <a:solidFill>
                  <a:srgbClr val="087F80"/>
                </a:solidFill>
              </a:defRPr>
            </a:lvl4pPr>
            <a:lvl5pPr>
              <a:defRPr sz="2625" b="1">
                <a:solidFill>
                  <a:srgbClr val="087F80"/>
                </a:solidFill>
              </a:defRPr>
            </a:lvl5pPr>
            <a:lvl6pPr>
              <a:defRPr sz="2625" b="1">
                <a:solidFill>
                  <a:srgbClr val="087F80"/>
                </a:solidFill>
              </a:defRPr>
            </a:lvl6pPr>
            <a:lvl7pPr>
              <a:defRPr sz="2625" b="1">
                <a:solidFill>
                  <a:srgbClr val="087F80"/>
                </a:solidFill>
              </a:defRPr>
            </a:lvl7pPr>
            <a:lvl8pPr>
              <a:defRPr sz="2625" b="1">
                <a:solidFill>
                  <a:srgbClr val="087F80"/>
                </a:solidFill>
              </a:defRPr>
            </a:lvl8pPr>
            <a:lvl9pPr>
              <a:defRPr sz="2625" b="1">
                <a:solidFill>
                  <a:srgbClr val="087F80"/>
                </a:solidFill>
              </a:defRPr>
            </a:lvl9pPr>
          </a:lstStyle>
          <a:p xmlns:a="http://schemas.openxmlformats.org/drawingml/2006/main">
            <a:pPr>
              <a:defRPr sz="2625" b="1">
                <a:solidFill>
                  <a:srgbClr val="087F80"/>
                </a:solidFill>
              </a:defRPr>
            </a:pPr>
            <a:r>
              <a:rPr sz="2625" b="1">
                <a:solidFill>
                  <a:srgbClr val="087F80"/>
                </a:solidFill>
              </a:rPr>
              <a:t>K = V × W / 10000</a:t>
            </a:r>
          </a:p>
        </p:txBody>
      </p:sp>
      <p:sp>
        <p:nvSpPr>
          <p:cNvPr id="4" name="content-1">
            <a:extLst xmlns:a="http://schemas.openxmlformats.org/drawingml/2006/main">
              <a:ext uri="{FF2B5EF4-FFF2-40B4-BE49-F238E27FC236}">
                <a16:creationId xmlns:a16="http://schemas.microsoft.com/office/drawing/2014/main" id="{DCC580C2-CCEB-473B-BA78-F823E1F560D6}"/>
              </a:ext>
            </a:extLst>
          </p:cNvPr>
          <p:cNvSpPr>
            <a:spLocks xmlns:a="http://schemas.openxmlformats.org/drawingml/2006/main" noGrp="1"/>
          </p:cNvSpPr>
          <p:nvPr/>
        </p:nvSpPr>
        <p:spPr>
          <a:xfrm xmlns:a="http://schemas.openxmlformats.org/drawingml/2006/main">
            <a:off x="714375" y="254317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8000万头 × 120公斤 = 96亿公斤</a:t>
            </a:r>
          </a:p>
        </p:txBody>
      </p:sp>
      <p:sp>
        <p:nvSpPr>
          <p:cNvPr id="5" name="content-2">
            <a:extLst xmlns:a="http://schemas.openxmlformats.org/drawingml/2006/main">
              <a:ext uri="{FF2B5EF4-FFF2-40B4-BE49-F238E27FC236}">
                <a16:creationId xmlns:a16="http://schemas.microsoft.com/office/drawing/2014/main" id="{E99829F7-F327-4013-A1EF-05A49AC5D86E}"/>
              </a:ext>
            </a:extLst>
          </p:cNvPr>
          <p:cNvSpPr>
            <a:spLocks xmlns:a="http://schemas.openxmlformats.org/drawingml/2006/main" noGrp="1"/>
          </p:cNvSpPr>
          <p:nvPr/>
        </p:nvSpPr>
        <p:spPr>
          <a:xfrm xmlns:a="http://schemas.openxmlformats.org/drawingml/2006/main">
            <a:off x="714375" y="352425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每公斤价差1元，折算前利润变化96亿元</a:t>
            </a:r>
          </a:p>
        </p:txBody>
      </p:sp>
      <p:sp>
        <p:nvSpPr>
          <p:cNvPr id="6" name="content-3">
            <a:extLst xmlns:a="http://schemas.openxmlformats.org/drawingml/2006/main">
              <a:ext uri="{FF2B5EF4-FFF2-40B4-BE49-F238E27FC236}">
                <a16:creationId xmlns:a16="http://schemas.microsoft.com/office/drawing/2014/main" id="{1EC77952-FE48-4E40-8EA5-37089C02F84D}"/>
              </a:ext>
            </a:extLst>
          </p:cNvPr>
          <p:cNvSpPr>
            <a:spLocks xmlns:a="http://schemas.openxmlformats.org/drawingml/2006/main" noGrp="1"/>
          </p:cNvSpPr>
          <p:nvPr/>
        </p:nvSpPr>
        <p:spPr>
          <a:xfrm xmlns:a="http://schemas.openxmlformats.org/drawingml/2006/main">
            <a:off x="714375" y="450532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按95%复合折算，演示归属利润变化91.2亿元</a:t>
            </a:r>
          </a:p>
        </p:txBody>
      </p:sp>
      <p:sp>
        <p:nvSpPr>
          <p:cNvPr id="7" name="takeaway">
            <a:extLst xmlns:a="http://schemas.openxmlformats.org/drawingml/2006/main">
              <a:ext uri="{FF2B5EF4-FFF2-40B4-BE49-F238E27FC236}">
                <a16:creationId xmlns:a16="http://schemas.microsoft.com/office/drawing/2014/main" id="{9EBED3E0-6C92-4224-B474-29DA94735BD3}"/>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销量用万头，金额用亿元，股数用亿股</a:t>
            </a:r>
          </a:p>
        </p:txBody>
      </p:sp>
      <p:sp>
        <p:nvSpPr>
          <p:cNvPr id="8" name="source">
            <a:extLst xmlns:a="http://schemas.openxmlformats.org/drawingml/2006/main">
              <a:ext uri="{FF2B5EF4-FFF2-40B4-BE49-F238E27FC236}">
                <a16:creationId xmlns:a16="http://schemas.microsoft.com/office/drawing/2014/main" id="{1A9B41B6-F8A6-4CF6-A5C6-BE07DECAFE68}"/>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报告§2.3、§9.4</a:t>
            </a:r>
          </a:p>
        </p:txBody>
      </p:sp>
      <p:sp>
        <p:nvSpPr>
          <p:cNvPr id="9" name="page">
            <a:extLst xmlns:a="http://schemas.openxmlformats.org/drawingml/2006/main">
              <a:ext uri="{FF2B5EF4-FFF2-40B4-BE49-F238E27FC236}">
                <a16:creationId xmlns:a16="http://schemas.microsoft.com/office/drawing/2014/main" id="{4803D6C8-EA94-4340-9AF6-AB216F5646A6}"/>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30</a:t>
            </a:r>
          </a:p>
        </p:txBody>
      </p:sp>
    </p:spTree>
    <p:extLst>
      <p:ext uri="{BB962C8B-B14F-4D97-AF65-F5344CB8AC3E}">
        <p14:creationId xmlns:p14="http://schemas.microsoft.com/office/powerpoint/2010/main" val="348414761"/>
      </p:ext>
    </p:extLst>
  </p:cSld>
</p:sld>
</file>

<file path=ppt/slides/slide3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5F2D4916-A56F-40F1-B695-2017A8783D0B}"/>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主线利润：全年20元的公司账户</a:t>
            </a:r>
          </a:p>
        </p:txBody>
      </p:sp>
      <p:graphicFrame>
        <p:nvGraphicFramePr>
          <p:cNvPr id="3" name="">
            <a:extLst xmlns:a="http://schemas.openxmlformats.org/drawingml/2006/main">
              <a:ext uri="{FF2B5EF4-FFF2-40B4-BE49-F238E27FC236}">
                <a16:creationId xmlns:a16="http://schemas.microsoft.com/office/drawing/2014/main" id="{604DB08E-D9FE-4986-B0B6-CB923AB6E699}"/>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4279392"/>
                <a:gridCol w="2523744"/>
                <a:gridCol w="4169664"/>
              </a:tblGrid>
              <a:tr h="628650">
                <a:tc>
                  <a:txBody>
                    <a:bodyPr/>
                    <a:lstStyle/>
                    <a:p>
                      <a:r>
                        <a:rPr sz="1875" b="1">
                          <a:solidFill>
                            <a:srgbClr val="FFFFFF"/>
                          </a:solidFill>
                        </a:rPr>
                        <a:t>项目</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计算</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亿元</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628650">
                <a:tc>
                  <a:txBody>
                    <a:bodyPr/>
                    <a:lstStyle/>
                    <a:p>
                      <a:r>
                        <a:rPr sz="1875" b="0">
                          <a:solidFill>
                            <a:srgbClr val="102C3A"/>
                          </a:solidFill>
                        </a:rPr>
                        <a:t>销售公斤量</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8000万头 × 120公斤</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96亿公斤</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628650">
                <a:tc>
                  <a:txBody>
                    <a:bodyPr/>
                    <a:lstStyle/>
                    <a:p>
                      <a:r>
                        <a:rPr sz="1875" b="0">
                          <a:solidFill>
                            <a:srgbClr val="102C3A"/>
                          </a:solidFill>
                        </a:rPr>
                        <a:t>商品猪收入</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96 × 20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1920.00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628650">
                <a:tc>
                  <a:txBody>
                    <a:bodyPr/>
                    <a:lstStyle/>
                    <a:p>
                      <a:r>
                        <a:rPr sz="1875" b="0">
                          <a:solidFill>
                            <a:srgbClr val="102C3A"/>
                          </a:solidFill>
                        </a:rPr>
                        <a:t>同范围完全成本</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96 × 11.8</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1132.80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628650">
                <a:tc>
                  <a:txBody>
                    <a:bodyPr/>
                    <a:lstStyle/>
                    <a:p>
                      <a:r>
                        <a:rPr sz="1875" b="0">
                          <a:solidFill>
                            <a:srgbClr val="102C3A"/>
                          </a:solidFill>
                        </a:rPr>
                        <a:t>折算前利润</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1920 − 1132.8</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787.20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628650">
                <a:tc>
                  <a:txBody>
                    <a:bodyPr/>
                    <a:lstStyle/>
                    <a:p>
                      <a:r>
                        <a:rPr sz="1875" b="0">
                          <a:solidFill>
                            <a:srgbClr val="102C3A"/>
                          </a:solidFill>
                        </a:rPr>
                        <a:t>演示归属利润</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787.2 × 95%</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747.84</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bl>
          </a:graphicData>
        </a:graphic>
      </p:graphicFrame>
      <p:sp>
        <p:nvSpPr>
          <p:cNvPr id="4" name="takeaway">
            <a:extLst xmlns:a="http://schemas.openxmlformats.org/drawingml/2006/main">
              <a:ext uri="{FF2B5EF4-FFF2-40B4-BE49-F238E27FC236}">
                <a16:creationId xmlns:a16="http://schemas.microsoft.com/office/drawing/2014/main" id="{A7B46147-57C4-403C-925F-0599D5055783}"/>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同一套销量、重量与成本，得到高位年度利润747.84亿元</a:t>
            </a:r>
          </a:p>
        </p:txBody>
      </p:sp>
      <p:sp>
        <p:nvSpPr>
          <p:cNvPr id="5" name="source">
            <a:extLst xmlns:a="http://schemas.openxmlformats.org/drawingml/2006/main">
              <a:ext uri="{FF2B5EF4-FFF2-40B4-BE49-F238E27FC236}">
                <a16:creationId xmlns:a16="http://schemas.microsoft.com/office/drawing/2014/main" id="{5319E653-8395-49E3-8C29-1624D10C0CB4}"/>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报告修订版 主线利润演算；原报告§9.4、§12.8</a:t>
            </a:r>
          </a:p>
        </p:txBody>
      </p:sp>
      <p:sp>
        <p:nvSpPr>
          <p:cNvPr id="6" name="page">
            <a:extLst xmlns:a="http://schemas.openxmlformats.org/drawingml/2006/main">
              <a:ext uri="{FF2B5EF4-FFF2-40B4-BE49-F238E27FC236}">
                <a16:creationId xmlns:a16="http://schemas.microsoft.com/office/drawing/2014/main" id="{812DFDFF-CEC5-435A-8430-A2854BD07B8A}"/>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31</a:t>
            </a:r>
          </a:p>
        </p:txBody>
      </p:sp>
    </p:spTree>
    <p:extLst>
      <p:ext uri="{BB962C8B-B14F-4D97-AF65-F5344CB8AC3E}">
        <p14:creationId xmlns:p14="http://schemas.microsoft.com/office/powerpoint/2010/main" val="1641511746"/>
      </p:ext>
    </p:extLst>
  </p:cSld>
</p:sld>
</file>

<file path=ppt/slides/slide3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BBA43CC-E0D6-49DC-B56C-60A4B3726325}"/>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主线估值：高位年度利润乘10倍PE</a:t>
            </a:r>
          </a:p>
        </p:txBody>
      </p:sp>
      <p:sp>
        <p:nvSpPr>
          <p:cNvPr id="3" name="content-0">
            <a:extLst xmlns:a="http://schemas.openxmlformats.org/drawingml/2006/main">
              <a:ext uri="{FF2B5EF4-FFF2-40B4-BE49-F238E27FC236}">
                <a16:creationId xmlns:a16="http://schemas.microsoft.com/office/drawing/2014/main" id="{27BC500D-491E-4DB1-AA5C-03CCE030B712}"/>
              </a:ext>
            </a:extLst>
          </p:cNvPr>
          <p:cNvSpPr>
            <a:spLocks xmlns:a="http://schemas.openxmlformats.org/drawingml/2006/main" noGrp="1"/>
          </p:cNvSpPr>
          <p:nvPr/>
        </p:nvSpPr>
        <p:spPr>
          <a:xfrm xmlns:a="http://schemas.openxmlformats.org/drawingml/2006/main">
            <a:off x="714375" y="156210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625" b="1">
                <a:solidFill>
                  <a:srgbClr val="087F80"/>
                </a:solidFill>
              </a:defRPr>
            </a:defPPr>
            <a:lvl1pPr>
              <a:defRPr sz="2625" b="1">
                <a:solidFill>
                  <a:srgbClr val="087F80"/>
                </a:solidFill>
              </a:defRPr>
            </a:lvl1pPr>
            <a:lvl2pPr>
              <a:defRPr sz="2625" b="1">
                <a:solidFill>
                  <a:srgbClr val="087F80"/>
                </a:solidFill>
              </a:defRPr>
            </a:lvl2pPr>
            <a:lvl3pPr>
              <a:defRPr sz="2625" b="1">
                <a:solidFill>
                  <a:srgbClr val="087F80"/>
                </a:solidFill>
              </a:defRPr>
            </a:lvl3pPr>
            <a:lvl4pPr>
              <a:defRPr sz="2625" b="1">
                <a:solidFill>
                  <a:srgbClr val="087F80"/>
                </a:solidFill>
              </a:defRPr>
            </a:lvl4pPr>
            <a:lvl5pPr>
              <a:defRPr sz="2625" b="1">
                <a:solidFill>
                  <a:srgbClr val="087F80"/>
                </a:solidFill>
              </a:defRPr>
            </a:lvl5pPr>
            <a:lvl6pPr>
              <a:defRPr sz="2625" b="1">
                <a:solidFill>
                  <a:srgbClr val="087F80"/>
                </a:solidFill>
              </a:defRPr>
            </a:lvl6pPr>
            <a:lvl7pPr>
              <a:defRPr sz="2625" b="1">
                <a:solidFill>
                  <a:srgbClr val="087F80"/>
                </a:solidFill>
              </a:defRPr>
            </a:lvl7pPr>
            <a:lvl8pPr>
              <a:defRPr sz="2625" b="1">
                <a:solidFill>
                  <a:srgbClr val="087F80"/>
                </a:solidFill>
              </a:defRPr>
            </a:lvl8pPr>
            <a:lvl9pPr>
              <a:defRPr sz="2625" b="1">
                <a:solidFill>
                  <a:srgbClr val="087F80"/>
                </a:solidFill>
              </a:defRPr>
            </a:lvl9pPr>
          </a:lstStyle>
          <a:p xmlns:a="http://schemas.openxmlformats.org/drawingml/2006/main">
            <a:pPr>
              <a:defRPr sz="2625" b="1">
                <a:solidFill>
                  <a:srgbClr val="087F80"/>
                </a:solidFill>
              </a:defRPr>
            </a:pPr>
            <a:r>
              <a:rPr sz="2625" b="1">
                <a:solidFill>
                  <a:srgbClr val="087F80"/>
                </a:solidFill>
              </a:rPr>
              <a:t>高位年度演示归属利润 = 747.84亿元</a:t>
            </a:r>
          </a:p>
        </p:txBody>
      </p:sp>
      <p:sp>
        <p:nvSpPr>
          <p:cNvPr id="4" name="content-1">
            <a:extLst xmlns:a="http://schemas.openxmlformats.org/drawingml/2006/main">
              <a:ext uri="{FF2B5EF4-FFF2-40B4-BE49-F238E27FC236}">
                <a16:creationId xmlns:a16="http://schemas.microsoft.com/office/drawing/2014/main" id="{3C0901D6-E2E7-4D9E-BAB6-9F669B2E4EB7}"/>
              </a:ext>
            </a:extLst>
          </p:cNvPr>
          <p:cNvSpPr>
            <a:spLocks xmlns:a="http://schemas.openxmlformats.org/drawingml/2006/main" noGrp="1"/>
          </p:cNvSpPr>
          <p:nvPr/>
        </p:nvSpPr>
        <p:spPr>
          <a:xfrm xmlns:a="http://schemas.openxmlformats.org/drawingml/2006/main">
            <a:off x="714375" y="254317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股权外推定价 = 747.84 × 10 = 7478.40亿元</a:t>
            </a:r>
          </a:p>
        </p:txBody>
      </p:sp>
      <p:sp>
        <p:nvSpPr>
          <p:cNvPr id="5" name="content-2">
            <a:extLst xmlns:a="http://schemas.openxmlformats.org/drawingml/2006/main">
              <a:ext uri="{FF2B5EF4-FFF2-40B4-BE49-F238E27FC236}">
                <a16:creationId xmlns:a16="http://schemas.microsoft.com/office/drawing/2014/main" id="{40FAFE40-541F-4B64-8CF6-1B769C9BEBB7}"/>
              </a:ext>
            </a:extLst>
          </p:cNvPr>
          <p:cNvSpPr>
            <a:spLocks xmlns:a="http://schemas.openxmlformats.org/drawingml/2006/main" noGrp="1"/>
          </p:cNvSpPr>
          <p:nvPr/>
        </p:nvSpPr>
        <p:spPr>
          <a:xfrm xmlns:a="http://schemas.openxmlformats.org/drawingml/2006/main">
            <a:off x="714375" y="352425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每股外推定价 = 7478.40 / 57.72996144</a:t>
            </a:r>
          </a:p>
        </p:txBody>
      </p:sp>
      <p:sp>
        <p:nvSpPr>
          <p:cNvPr id="6" name="content-3">
            <a:extLst xmlns:a="http://schemas.openxmlformats.org/drawingml/2006/main">
              <a:ext uri="{FF2B5EF4-FFF2-40B4-BE49-F238E27FC236}">
                <a16:creationId xmlns:a16="http://schemas.microsoft.com/office/drawing/2014/main" id="{1D9EC1E4-4691-4D5B-BDF1-A2B747F4A3B4}"/>
              </a:ext>
            </a:extLst>
          </p:cNvPr>
          <p:cNvSpPr>
            <a:spLocks xmlns:a="http://schemas.openxmlformats.org/drawingml/2006/main" noGrp="1"/>
          </p:cNvSpPr>
          <p:nvPr/>
        </p:nvSpPr>
        <p:spPr>
          <a:xfrm xmlns:a="http://schemas.openxmlformats.org/drawingml/2006/main">
            <a:off x="714375" y="450532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主线结果：129.54元/股</a:t>
            </a:r>
          </a:p>
        </p:txBody>
      </p:sp>
      <p:sp>
        <p:nvSpPr>
          <p:cNvPr id="7" name="takeaway">
            <a:extLst xmlns:a="http://schemas.openxmlformats.org/drawingml/2006/main">
              <a:ext uri="{FF2B5EF4-FFF2-40B4-BE49-F238E27FC236}">
                <a16:creationId xmlns:a16="http://schemas.microsoft.com/office/drawing/2014/main" id="{BB20585F-610F-48FC-9421-AECAFE4780C8}"/>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主线至此完成，129.54依赖全年20元、高位利润与10倍PE这组条件</a:t>
            </a:r>
          </a:p>
        </p:txBody>
      </p:sp>
      <p:sp>
        <p:nvSpPr>
          <p:cNvPr id="8" name="source">
            <a:extLst xmlns:a="http://schemas.openxmlformats.org/drawingml/2006/main">
              <a:ext uri="{FF2B5EF4-FFF2-40B4-BE49-F238E27FC236}">
                <a16:creationId xmlns:a16="http://schemas.microsoft.com/office/drawing/2014/main" id="{A4134CDD-C4B8-4200-B92B-8543D8A17EC0}"/>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报告修订版 主线演算</a:t>
            </a:r>
          </a:p>
        </p:txBody>
      </p:sp>
      <p:sp>
        <p:nvSpPr>
          <p:cNvPr id="9" name="page">
            <a:extLst xmlns:a="http://schemas.openxmlformats.org/drawingml/2006/main">
              <a:ext uri="{FF2B5EF4-FFF2-40B4-BE49-F238E27FC236}">
                <a16:creationId xmlns:a16="http://schemas.microsoft.com/office/drawing/2014/main" id="{F2C08FE9-B3B4-485B-8668-983382149425}"/>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32</a:t>
            </a:r>
          </a:p>
        </p:txBody>
      </p:sp>
    </p:spTree>
    <p:extLst>
      <p:ext uri="{BB962C8B-B14F-4D97-AF65-F5344CB8AC3E}">
        <p14:creationId xmlns:p14="http://schemas.microsoft.com/office/powerpoint/2010/main" val="689881271"/>
      </p:ext>
    </p:extLst>
  </p:cSld>
</p:sld>
</file>

<file path=ppt/slides/slide3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F9C3FB3-F8A5-49B6-919E-136BE69C2047}"/>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全国均价与公司实现售价</a:t>
            </a:r>
          </a:p>
        </p:txBody>
      </p:sp>
      <p:graphicFrame>
        <p:nvGraphicFramePr>
          <p:cNvPr id="3" name="">
            <a:extLst xmlns:a="http://schemas.openxmlformats.org/drawingml/2006/main">
              <a:ext uri="{FF2B5EF4-FFF2-40B4-BE49-F238E27FC236}">
                <a16:creationId xmlns:a16="http://schemas.microsoft.com/office/drawing/2014/main" id="{6AFF540D-416F-48CB-B3D9-C092F5B2F983}"/>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4279392"/>
                <a:gridCol w="2523744"/>
                <a:gridCol w="4169664"/>
              </a:tblGrid>
              <a:tr h="942975">
                <a:tc>
                  <a:txBody>
                    <a:bodyPr/>
                    <a:lstStyle/>
                    <a:p>
                      <a:r>
                        <a:rPr sz="1875" b="1">
                          <a:solidFill>
                            <a:srgbClr val="FFFFFF"/>
                          </a:solidFill>
                        </a:rPr>
                        <a:t>Q1/Q2/Q3/Q4销售公斤权重</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加权售价元/kg</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演示利润亿元</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942975">
                <a:tc>
                  <a:txBody>
                    <a:bodyPr/>
                    <a:lstStyle/>
                    <a:p>
                      <a:r>
                        <a:rPr sz="1875" b="0">
                          <a:solidFill>
                            <a:srgbClr val="102C3A"/>
                          </a:solidFill>
                        </a:rPr>
                        <a:t>25% / 25% / 25% / 25%</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14.3557</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233.08</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942975">
                <a:tc>
                  <a:txBody>
                    <a:bodyPr/>
                    <a:lstStyle/>
                    <a:p>
                      <a:r>
                        <a:rPr sz="1875" b="0">
                          <a:solidFill>
                            <a:srgbClr val="102C3A"/>
                          </a:solidFill>
                        </a:rPr>
                        <a:t>30% / 25% / 25% / 20%</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14.1253</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212.07</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942975">
                <a:tc>
                  <a:txBody>
                    <a:bodyPr/>
                    <a:lstStyle/>
                    <a:p>
                      <a:r>
                        <a:rPr sz="1875" b="0">
                          <a:solidFill>
                            <a:srgbClr val="102C3A"/>
                          </a:solidFill>
                        </a:rPr>
                        <a:t>20% / 25% / 25% / 30%</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14.5861</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254.09</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bl>
          </a:graphicData>
        </a:graphic>
      </p:graphicFrame>
      <p:sp>
        <p:nvSpPr>
          <p:cNvPr id="4" name="takeaway">
            <a:extLst xmlns:a="http://schemas.openxmlformats.org/drawingml/2006/main">
              <a:ext uri="{FF2B5EF4-FFF2-40B4-BE49-F238E27FC236}">
                <a16:creationId xmlns:a16="http://schemas.microsoft.com/office/drawing/2014/main" id="{BF8F4543-ECF8-402A-A45A-2ED5DC002FCD}"/>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公司均价按销售公斤量加权，固定售价差δ还需地区和产品证据</a:t>
            </a:r>
          </a:p>
        </p:txBody>
      </p:sp>
      <p:sp>
        <p:nvSpPr>
          <p:cNvPr id="5" name="source">
            <a:extLst xmlns:a="http://schemas.openxmlformats.org/drawingml/2006/main">
              <a:ext uri="{FF2B5EF4-FFF2-40B4-BE49-F238E27FC236}">
                <a16:creationId xmlns:a16="http://schemas.microsoft.com/office/drawing/2014/main" id="{53F597A8-B7AF-4F51-883E-FD391BD6B5AA}"/>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报告§9.1；补充计算销售权重</a:t>
            </a:r>
          </a:p>
        </p:txBody>
      </p:sp>
      <p:sp>
        <p:nvSpPr>
          <p:cNvPr id="6" name="page">
            <a:extLst xmlns:a="http://schemas.openxmlformats.org/drawingml/2006/main">
              <a:ext uri="{FF2B5EF4-FFF2-40B4-BE49-F238E27FC236}">
                <a16:creationId xmlns:a16="http://schemas.microsoft.com/office/drawing/2014/main" id="{35CA0805-9E5C-4120-A168-3110049E312E}"/>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33</a:t>
            </a:r>
          </a:p>
        </p:txBody>
      </p:sp>
    </p:spTree>
    <p:extLst>
      <p:ext uri="{BB962C8B-B14F-4D97-AF65-F5344CB8AC3E}">
        <p14:creationId xmlns:p14="http://schemas.microsoft.com/office/powerpoint/2010/main" val="1218121728"/>
      </p:ext>
    </p:extLst>
  </p:cSld>
</p:sld>
</file>

<file path=ppt/slides/slide3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1462293-2714-4FA1-9F70-8D7318129EF7}"/>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四组联合情景</a:t>
            </a:r>
          </a:p>
        </p:txBody>
      </p:sp>
      <p:graphicFrame>
        <p:nvGraphicFramePr>
          <p:cNvPr id="3" name="">
            <a:extLst xmlns:a="http://schemas.openxmlformats.org/drawingml/2006/main">
              <a:ext uri="{FF2B5EF4-FFF2-40B4-BE49-F238E27FC236}">
                <a16:creationId xmlns:a16="http://schemas.microsoft.com/office/drawing/2014/main" id="{39F6F3C6-813C-4F5E-A32B-E5DADC74BAD9}"/>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4279392"/>
                <a:gridCol w="2523744"/>
                <a:gridCol w="4169664"/>
              </a:tblGrid>
              <a:tr h="754380">
                <a:tc>
                  <a:txBody>
                    <a:bodyPr/>
                    <a:lstStyle/>
                    <a:p>
                      <a:r>
                        <a:rPr sz="1875" b="1">
                          <a:solidFill>
                            <a:srgbClr val="FFFFFF"/>
                          </a:solidFill>
                        </a:rPr>
                        <a:t>情景</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全国年均元/kg</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首年利润亿元</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754380">
                <a:tc>
                  <a:txBody>
                    <a:bodyPr/>
                    <a:lstStyle/>
                    <a:p>
                      <a:r>
                        <a:rPr sz="1875" b="0">
                          <a:solidFill>
                            <a:srgbClr val="102C3A"/>
                          </a:solidFill>
                        </a:rPr>
                        <a:t>正常修复</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14.36</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233.08</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754380">
                <a:tc>
                  <a:txBody>
                    <a:bodyPr/>
                    <a:lstStyle/>
                    <a:p>
                      <a:r>
                        <a:rPr sz="1875" b="0">
                          <a:solidFill>
                            <a:srgbClr val="102C3A"/>
                          </a:solidFill>
                        </a:rPr>
                        <a:t>缓慢修复</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12.49</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35.47</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754380">
                <a:tc>
                  <a:txBody>
                    <a:bodyPr/>
                    <a:lstStyle/>
                    <a:p>
                      <a:r>
                        <a:rPr sz="1875" b="0">
                          <a:solidFill>
                            <a:srgbClr val="102C3A"/>
                          </a:solidFill>
                        </a:rPr>
                        <a:t>低谷延长</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11.14</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−124.30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754380">
                <a:tc>
                  <a:txBody>
                    <a:bodyPr/>
                    <a:lstStyle/>
                    <a:p>
                      <a:r>
                        <a:rPr sz="1875" b="0">
                          <a:solidFill>
                            <a:srgbClr val="102C3A"/>
                          </a:solidFill>
                        </a:rPr>
                        <a:t>偏强修复</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15.95</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405.82</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bl>
          </a:graphicData>
        </a:graphic>
      </p:graphicFrame>
      <p:sp>
        <p:nvSpPr>
          <p:cNvPr id="4" name="takeaway">
            <a:extLst xmlns:a="http://schemas.openxmlformats.org/drawingml/2006/main">
              <a:ext uri="{FF2B5EF4-FFF2-40B4-BE49-F238E27FC236}">
                <a16:creationId xmlns:a16="http://schemas.microsoft.com/office/drawing/2014/main" id="{70CBF4C2-A53B-48DA-A83D-4E40D7ED0478}"/>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先比较供需和首年利润，现金流方法介绍后再讨论估值</a:t>
            </a:r>
          </a:p>
        </p:txBody>
      </p:sp>
      <p:sp>
        <p:nvSpPr>
          <p:cNvPr id="5" name="source">
            <a:extLst xmlns:a="http://schemas.openxmlformats.org/drawingml/2006/main">
              <a:ext uri="{FF2B5EF4-FFF2-40B4-BE49-F238E27FC236}">
                <a16:creationId xmlns:a16="http://schemas.microsoft.com/office/drawing/2014/main" id="{D6A10567-59AE-46AD-A3A4-2F7FB95B87BE}"/>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报告§8；附录E</a:t>
            </a:r>
          </a:p>
        </p:txBody>
      </p:sp>
      <p:sp>
        <p:nvSpPr>
          <p:cNvPr id="6" name="page">
            <a:extLst xmlns:a="http://schemas.openxmlformats.org/drawingml/2006/main">
              <a:ext uri="{FF2B5EF4-FFF2-40B4-BE49-F238E27FC236}">
                <a16:creationId xmlns:a16="http://schemas.microsoft.com/office/drawing/2014/main" id="{86ED1DF7-93DA-460D-95FE-F5C3B180F9EA}"/>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34</a:t>
            </a:r>
          </a:p>
        </p:txBody>
      </p:sp>
    </p:spTree>
    <p:extLst>
      <p:ext uri="{BB962C8B-B14F-4D97-AF65-F5344CB8AC3E}">
        <p14:creationId xmlns:p14="http://schemas.microsoft.com/office/powerpoint/2010/main" val="844518823"/>
      </p:ext>
    </p:extLst>
  </p:cSld>
</p:sld>
</file>

<file path=ppt/slides/slide3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EC2107E8-197B-4A19-A62F-C4050664CFAA}"/>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研究参照的季度利润</a:t>
            </a:r>
          </a:p>
        </p:txBody>
      </p:sp>
      <p:graphicFrame>
        <p:nvGraphicFramePr>
          <p:cNvPr id="3" name="Chart">
            <a:extLst xmlns:a="http://schemas.openxmlformats.org/drawingml/2006/main">
              <a:ext uri="{FF2B5EF4-FFF2-40B4-BE49-F238E27FC236}">
                <a16:creationId xmlns:a16="http://schemas.microsoft.com/office/drawing/2014/main" id="{E9490C11-E236-4A8F-858D-5C14CB3D6595}"/>
              </a:ext>
            </a:extLst>
          </p:cNvPr>
          <p:cNvGraphicFramePr/>
          <p:nvPr/>
        </p:nvGraphicFramePr>
        <p:xfrm>
          <a:off xmlns:a="http://schemas.openxmlformats.org/drawingml/2006/main" x="609600" y="1543050"/>
          <a:ext xmlns:a="http://schemas.openxmlformats.org/drawingml/2006/main" cx="10934700" cy="3619500"/>
        </p:xfrm>
        <a:graphic xmlns:a="http://schemas.openxmlformats.org/drawingml/2006/main">
          <a:graphicData uri="http://schemas.openxmlformats.org/drawingml/2006/chart">
            <c:chart xmlns:r="http://schemas.openxmlformats.org/officeDocument/2006/relationships" xmlns:c="http://schemas.openxmlformats.org/drawingml/2006/chart" r:id="R79c9a49522df4418"/>
          </a:graphicData>
        </a:graphic>
      </p:graphicFrame>
      <p:sp>
        <p:nvSpPr>
          <p:cNvPr id="4" name="takeaway">
            <a:extLst xmlns:a="http://schemas.openxmlformats.org/drawingml/2006/main">
              <a:ext uri="{FF2B5EF4-FFF2-40B4-BE49-F238E27FC236}">
                <a16:creationId xmlns:a16="http://schemas.microsoft.com/office/drawing/2014/main" id="{04D321D6-5910-4CC7-A81D-362C9B291EA5}"/>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每季2000万头、120公斤、成本11.8元/kg，全年利润233.08亿元</a:t>
            </a:r>
          </a:p>
        </p:txBody>
      </p:sp>
      <p:sp>
        <p:nvSpPr>
          <p:cNvPr id="5" name="source">
            <a:extLst xmlns:a="http://schemas.openxmlformats.org/drawingml/2006/main">
              <a:ext uri="{FF2B5EF4-FFF2-40B4-BE49-F238E27FC236}">
                <a16:creationId xmlns:a16="http://schemas.microsoft.com/office/drawing/2014/main" id="{8A4A7C0D-6FE9-4694-8318-C9D1069621F4}"/>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报告§9.7</a:t>
            </a:r>
          </a:p>
        </p:txBody>
      </p:sp>
      <p:sp>
        <p:nvSpPr>
          <p:cNvPr id="6" name="page">
            <a:extLst xmlns:a="http://schemas.openxmlformats.org/drawingml/2006/main">
              <a:ext uri="{FF2B5EF4-FFF2-40B4-BE49-F238E27FC236}">
                <a16:creationId xmlns:a16="http://schemas.microsoft.com/office/drawing/2014/main" id="{8C32B4C4-7E68-46F2-AFB6-ABFAF82D2553}"/>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35</a:t>
            </a:r>
          </a:p>
        </p:txBody>
      </p:sp>
    </p:spTree>
    <p:extLst>
      <p:ext uri="{BB962C8B-B14F-4D97-AF65-F5344CB8AC3E}">
        <p14:creationId xmlns:p14="http://schemas.microsoft.com/office/powerpoint/2010/main" val="1322457959"/>
      </p:ext>
    </p:extLst>
  </p:cSld>
</p:sld>
</file>

<file path=ppt/slides/slide3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5D929F1-C1B2-4727-8FC6-B2BEA205B506}"/>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牧原的历史成长与周期波动</a:t>
            </a:r>
          </a:p>
        </p:txBody>
      </p:sp>
      <p:graphicFrame>
        <p:nvGraphicFramePr>
          <p:cNvPr id="3" name="Chart">
            <a:extLst xmlns:a="http://schemas.openxmlformats.org/drawingml/2006/main">
              <a:ext uri="{FF2B5EF4-FFF2-40B4-BE49-F238E27FC236}">
                <a16:creationId xmlns:a16="http://schemas.microsoft.com/office/drawing/2014/main" id="{1E628D19-18A3-42E3-8DA4-18B2CE1A35DB}"/>
              </a:ext>
            </a:extLst>
          </p:cNvPr>
          <p:cNvGraphicFramePr/>
          <p:nvPr/>
        </p:nvGraphicFramePr>
        <p:xfrm>
          <a:off xmlns:a="http://schemas.openxmlformats.org/drawingml/2006/main" x="609600" y="1543050"/>
          <a:ext xmlns:a="http://schemas.openxmlformats.org/drawingml/2006/main" cx="10934700" cy="3619500"/>
        </p:xfrm>
        <a:graphic xmlns:a="http://schemas.openxmlformats.org/drawingml/2006/main">
          <a:graphicData uri="http://schemas.openxmlformats.org/drawingml/2006/chart">
            <c:chart xmlns:r="http://schemas.openxmlformats.org/officeDocument/2006/relationships" xmlns:c="http://schemas.openxmlformats.org/drawingml/2006/chart" r:id="R474fd12368d64965"/>
          </a:graphicData>
        </a:graphic>
      </p:graphicFrame>
      <p:sp>
        <p:nvSpPr>
          <p:cNvPr id="4" name="takeaway">
            <a:extLst xmlns:a="http://schemas.openxmlformats.org/drawingml/2006/main">
              <a:ext uri="{FF2B5EF4-FFF2-40B4-BE49-F238E27FC236}">
                <a16:creationId xmlns:a16="http://schemas.microsoft.com/office/drawing/2014/main" id="{DDCF980E-6134-43BF-B6BD-1079FD0A0507}"/>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2015—2025商品猪销量CAGR约46.52%，未来成长需重新评估资本回报</a:t>
            </a:r>
          </a:p>
        </p:txBody>
      </p:sp>
      <p:sp>
        <p:nvSpPr>
          <p:cNvPr id="5" name="source">
            <a:extLst xmlns:a="http://schemas.openxmlformats.org/drawingml/2006/main">
              <a:ext uri="{FF2B5EF4-FFF2-40B4-BE49-F238E27FC236}">
                <a16:creationId xmlns:a16="http://schemas.microsoft.com/office/drawing/2014/main" id="{36A4F998-FFDE-4771-A2E7-C2DEE157C72E}"/>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报告§10.1；参考[44]—[49]</a:t>
            </a:r>
          </a:p>
        </p:txBody>
      </p:sp>
      <p:sp>
        <p:nvSpPr>
          <p:cNvPr id="6" name="page">
            <a:extLst xmlns:a="http://schemas.openxmlformats.org/drawingml/2006/main">
              <a:ext uri="{FF2B5EF4-FFF2-40B4-BE49-F238E27FC236}">
                <a16:creationId xmlns:a16="http://schemas.microsoft.com/office/drawing/2014/main" id="{13110BB4-EDB4-429D-889D-82C0A24BBD75}"/>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36</a:t>
            </a:r>
          </a:p>
        </p:txBody>
      </p:sp>
    </p:spTree>
    <p:extLst>
      <p:ext uri="{BB962C8B-B14F-4D97-AF65-F5344CB8AC3E}">
        <p14:creationId xmlns:p14="http://schemas.microsoft.com/office/powerpoint/2010/main" val="1657111099"/>
      </p:ext>
    </p:extLst>
  </p:cSld>
</p:sld>
</file>

<file path=ppt/slides/slide3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2255724-B333-4C2B-BA31-76C9784C5120}"/>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目标销量的生物产能与资本预算</a:t>
            </a:r>
          </a:p>
        </p:txBody>
      </p:sp>
      <p:graphicFrame>
        <p:nvGraphicFramePr>
          <p:cNvPr id="3" name="">
            <a:extLst xmlns:a="http://schemas.openxmlformats.org/drawingml/2006/main">
              <a:ext uri="{FF2B5EF4-FFF2-40B4-BE49-F238E27FC236}">
                <a16:creationId xmlns:a16="http://schemas.microsoft.com/office/drawing/2014/main" id="{F46BB140-03C1-487A-AFFF-C683ECF12CE6}"/>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2743200"/>
                <a:gridCol w="2743200"/>
                <a:gridCol w="2743200"/>
                <a:gridCol w="2743200"/>
              </a:tblGrid>
              <a:tr h="754380">
                <a:tc>
                  <a:txBody>
                    <a:bodyPr/>
                    <a:lstStyle/>
                    <a:p>
                      <a:r>
                        <a:rPr sz="1650" b="1">
                          <a:solidFill>
                            <a:srgbClr val="FFFFFF"/>
                          </a:solidFill>
                        </a:rPr>
                        <a:t>条件校验</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650" b="1">
                          <a:solidFill>
                            <a:srgbClr val="FFFFFF"/>
                          </a:solidFill>
                        </a:rPr>
                        <a:t>8000万头</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650" b="1">
                          <a:solidFill>
                            <a:srgbClr val="FFFFFF"/>
                          </a:solidFill>
                        </a:rPr>
                        <a:t>9000万头</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650" b="1">
                          <a:solidFill>
                            <a:srgbClr val="FFFFFF"/>
                          </a:solidFill>
                        </a:rPr>
                        <a:t>1亿头</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754380">
                <a:tc>
                  <a:txBody>
                    <a:bodyPr/>
                    <a:lstStyle/>
                    <a:p>
                      <a:r>
                        <a:rPr sz="1650" b="0">
                          <a:solidFill>
                            <a:srgbClr val="102C3A"/>
                          </a:solidFill>
                        </a:rPr>
                        <a:t>PSY30、成活93%、商品化98%所需平均母猪</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292.6万</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329.2万</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365.7万</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754380">
                <a:tc>
                  <a:txBody>
                    <a:bodyPr/>
                    <a:lstStyle/>
                    <a:p>
                      <a:r>
                        <a:rPr sz="1650" b="0">
                          <a:solidFill>
                            <a:srgbClr val="102C3A"/>
                          </a:solidFill>
                        </a:rPr>
                        <a:t>全国出栏固定71973万时近似份额</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11.12%</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12.50%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13.89%</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754380">
                <a:tc>
                  <a:txBody>
                    <a:bodyPr/>
                    <a:lstStyle/>
                    <a:p>
                      <a:r>
                        <a:rPr sz="1650" b="0">
                          <a:solidFill>
                            <a:srgbClr val="102C3A"/>
                          </a:solidFill>
                        </a:rPr>
                        <a:t>较8000万新增固定投资</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0亿元</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200亿元</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400亿元</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754380">
                <a:tc>
                  <a:txBody>
                    <a:bodyPr/>
                    <a:lstStyle/>
                    <a:p>
                      <a:r>
                        <a:rPr sz="1650" b="0">
                          <a:solidFill>
                            <a:srgbClr val="102C3A"/>
                          </a:solidFill>
                        </a:rPr>
                        <a:t>长期价15.5及NWC5%下新增营运资金</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0亿元</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9.3亿元</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18.6亿元</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bl>
          </a:graphicData>
        </a:graphic>
      </p:graphicFrame>
      <p:sp>
        <p:nvSpPr>
          <p:cNvPr id="4" name="takeaway">
            <a:extLst xmlns:a="http://schemas.openxmlformats.org/drawingml/2006/main">
              <a:ext uri="{FF2B5EF4-FFF2-40B4-BE49-F238E27FC236}">
                <a16:creationId xmlns:a16="http://schemas.microsoft.com/office/drawing/2014/main" id="{1FD30D76-63B9-4F0E-A441-8E3702DBB6E6}"/>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固定投资按2000元/新增年销量头，提前一年支付</a:t>
            </a:r>
          </a:p>
        </p:txBody>
      </p:sp>
      <p:sp>
        <p:nvSpPr>
          <p:cNvPr id="5" name="source">
            <a:extLst xmlns:a="http://schemas.openxmlformats.org/drawingml/2006/main">
              <a:ext uri="{FF2B5EF4-FFF2-40B4-BE49-F238E27FC236}">
                <a16:creationId xmlns:a16="http://schemas.microsoft.com/office/drawing/2014/main" id="{EBC16B85-EBEF-4815-BAAA-31D2FDDAFEFB}"/>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报告§10.2—§10.4；参考[49]—[51]</a:t>
            </a:r>
          </a:p>
        </p:txBody>
      </p:sp>
      <p:sp>
        <p:nvSpPr>
          <p:cNvPr id="6" name="page">
            <a:extLst xmlns:a="http://schemas.openxmlformats.org/drawingml/2006/main">
              <a:ext uri="{FF2B5EF4-FFF2-40B4-BE49-F238E27FC236}">
                <a16:creationId xmlns:a16="http://schemas.microsoft.com/office/drawing/2014/main" id="{008B665E-EF32-4D6E-8F76-4C73C0D2FE83}"/>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37</a:t>
            </a:r>
          </a:p>
        </p:txBody>
      </p:sp>
    </p:spTree>
    <p:extLst>
      <p:ext uri="{BB962C8B-B14F-4D97-AF65-F5344CB8AC3E}">
        <p14:creationId xmlns:p14="http://schemas.microsoft.com/office/powerpoint/2010/main" val="1183293396"/>
      </p:ext>
    </p:extLst>
  </p:cSld>
</p:sld>
</file>

<file path=ppt/slides/slide3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E8DABC6-2C16-4741-869A-9CF056810C1A}"/>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跨周期FCFF与FCFE的逻辑起点</a:t>
            </a:r>
          </a:p>
        </p:txBody>
      </p:sp>
      <p:graphicFrame>
        <p:nvGraphicFramePr>
          <p:cNvPr id="3" name="">
            <a:extLst xmlns:a="http://schemas.openxmlformats.org/drawingml/2006/main">
              <a:ext uri="{FF2B5EF4-FFF2-40B4-BE49-F238E27FC236}">
                <a16:creationId xmlns:a16="http://schemas.microsoft.com/office/drawing/2014/main" id="{1911D848-0BB2-47A3-8D12-9A40B19E283B}"/>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2852928"/>
                <a:gridCol w="4059936"/>
                <a:gridCol w="4059936"/>
              </a:tblGrid>
              <a:tr h="590550">
                <a:tc>
                  <a:txBody>
                    <a:bodyPr/>
                    <a:lstStyle/>
                    <a:p>
                      <a:r>
                        <a:rPr sz="1725" b="1">
                          <a:solidFill>
                            <a:srgbClr val="FFFFFF"/>
                          </a:solidFill>
                        </a:rPr>
                        <a:t>比较</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725" b="1">
                          <a:solidFill>
                            <a:srgbClr val="FFFFFF"/>
                          </a:solidFill>
                        </a:rPr>
                        <a:t>FCFF 企业自由现金流</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725" b="1">
                          <a:solidFill>
                            <a:srgbClr val="FFFFFF"/>
                          </a:solidFill>
                        </a:rPr>
                        <a:t>FCFE 股权自由现金流</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590550">
                <a:tc>
                  <a:txBody>
                    <a:bodyPr/>
                    <a:lstStyle/>
                    <a:p>
                      <a:r>
                        <a:rPr sz="1725" b="0">
                          <a:solidFill>
                            <a:srgbClr val="102C3A"/>
                          </a:solidFill>
                        </a:rPr>
                        <a:t>先回答谁的钱</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725" b="0">
                          <a:solidFill>
                            <a:srgbClr val="102C3A"/>
                          </a:solidFill>
                        </a:rPr>
                        <a:t>整个经营留给债权人与股东的现金</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725" b="0">
                          <a:solidFill>
                            <a:srgbClr val="102C3A"/>
                          </a:solidFill>
                        </a:rPr>
                        <a:t>付息及借还债后，留给股东的现金</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90550">
                <a:tc>
                  <a:txBody>
                    <a:bodyPr/>
                    <a:lstStyle/>
                    <a:p>
                      <a:r>
                        <a:rPr sz="1725" b="0">
                          <a:solidFill>
                            <a:srgbClr val="102C3A"/>
                          </a:solidFill>
                        </a:rPr>
                        <a:t>利润起点</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725" b="0">
                          <a:solidFill>
                            <a:srgbClr val="102C3A"/>
                          </a:solidFill>
                        </a:rPr>
                        <a:t>融资费用前的税后经营利润</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725" b="0">
                          <a:solidFill>
                            <a:srgbClr val="102C3A"/>
                          </a:solidFill>
                        </a:rPr>
                        <a:t>已计利息的股东净利润</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90550">
                <a:tc>
                  <a:txBody>
                    <a:bodyPr/>
                    <a:lstStyle/>
                    <a:p>
                      <a:r>
                        <a:rPr sz="1725" b="0">
                          <a:solidFill>
                            <a:srgbClr val="102C3A"/>
                          </a:solidFill>
                        </a:rPr>
                        <a:t>投资与融资</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725" b="0">
                          <a:solidFill>
                            <a:srgbClr val="102C3A"/>
                          </a:solidFill>
                        </a:rPr>
                        <a:t>扣资本开支及营运资金，先不分借还债</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725" b="0">
                          <a:solidFill>
                            <a:srgbClr val="102C3A"/>
                          </a:solidFill>
                        </a:rPr>
                        <a:t>扣资本开支及营运资金，再计净借款</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90550">
                <a:tc>
                  <a:txBody>
                    <a:bodyPr/>
                    <a:lstStyle/>
                    <a:p>
                      <a:r>
                        <a:rPr sz="1725" b="0">
                          <a:solidFill>
                            <a:srgbClr val="102C3A"/>
                          </a:solidFill>
                        </a:rPr>
                        <a:t>怎样折现</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725" b="0">
                          <a:solidFill>
                            <a:srgbClr val="102C3A"/>
                          </a:solidFill>
                        </a:rPr>
                        <a:t>用综合资金成本WACC</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725" b="0">
                          <a:solidFill>
                            <a:srgbClr val="102C3A"/>
                          </a:solidFill>
                        </a:rPr>
                        <a:t>用股东要求回报率r</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90550">
                <a:tc>
                  <a:txBody>
                    <a:bodyPr/>
                    <a:lstStyle/>
                    <a:p>
                      <a:r>
                        <a:rPr sz="1725" b="0">
                          <a:solidFill>
                            <a:srgbClr val="102C3A"/>
                          </a:solidFill>
                        </a:rPr>
                        <a:t>得到什么</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725" b="0">
                          <a:solidFill>
                            <a:srgbClr val="102C3A"/>
                          </a:solidFill>
                        </a:rPr>
                        <a:t>先企业价值，再减同范围净债等</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725" b="0">
                          <a:solidFill>
                            <a:srgbClr val="102C3A"/>
                          </a:solidFill>
                        </a:rPr>
                        <a:t>直接股权价值，不再重复扣净债</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bl>
          </a:graphicData>
        </a:graphic>
      </p:graphicFrame>
      <p:sp>
        <p:nvSpPr>
          <p:cNvPr id="4" name="takeaway">
            <a:extLst xmlns:a="http://schemas.openxmlformats.org/drawingml/2006/main">
              <a:ext uri="{FF2B5EF4-FFF2-40B4-BE49-F238E27FC236}">
                <a16:creationId xmlns:a16="http://schemas.microsoft.com/office/drawing/2014/main" id="{A2B1D719-9AC7-4471-BC83-E79F6EE03CC8}"/>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跨周期：逐年处理高价、低价与恢复正常，并计入对应投资</a:t>
            </a:r>
          </a:p>
        </p:txBody>
      </p:sp>
      <p:sp>
        <p:nvSpPr>
          <p:cNvPr id="5" name="source">
            <a:extLst xmlns:a="http://schemas.openxmlformats.org/drawingml/2006/main">
              <a:ext uri="{FF2B5EF4-FFF2-40B4-BE49-F238E27FC236}">
                <a16:creationId xmlns:a16="http://schemas.microsoft.com/office/drawing/2014/main" id="{6C6659ED-34C5-4E2C-9371-6960E7026D63}"/>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修订报告§11方法说明、§12.5债务边界</a:t>
            </a:r>
          </a:p>
        </p:txBody>
      </p:sp>
      <p:sp>
        <p:nvSpPr>
          <p:cNvPr id="6" name="page">
            <a:extLst xmlns:a="http://schemas.openxmlformats.org/drawingml/2006/main">
              <a:ext uri="{FF2B5EF4-FFF2-40B4-BE49-F238E27FC236}">
                <a16:creationId xmlns:a16="http://schemas.microsoft.com/office/drawing/2014/main" id="{CF04DC70-D90B-4A21-BFAE-B0CBE034D301}"/>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38</a:t>
            </a:r>
          </a:p>
        </p:txBody>
      </p:sp>
    </p:spTree>
    <p:extLst>
      <p:ext uri="{BB962C8B-B14F-4D97-AF65-F5344CB8AC3E}">
        <p14:creationId xmlns:p14="http://schemas.microsoft.com/office/powerpoint/2010/main" val="219457618"/>
      </p:ext>
    </p:extLst>
  </p:cSld>
</p:sld>
</file>

<file path=ppt/slides/slide3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498A93C-8B50-4A3C-9E49-2C5D1E7F643E}"/>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利润到股权现金流的现金桥</a:t>
            </a:r>
          </a:p>
        </p:txBody>
      </p:sp>
      <p:graphicFrame>
        <p:nvGraphicFramePr>
          <p:cNvPr id="3" name="">
            <a:extLst xmlns:a="http://schemas.openxmlformats.org/drawingml/2006/main">
              <a:ext uri="{FF2B5EF4-FFF2-40B4-BE49-F238E27FC236}">
                <a16:creationId xmlns:a16="http://schemas.microsoft.com/office/drawing/2014/main" id="{B563B6A5-75A9-4525-925F-C21038C776DE}"/>
              </a:ext>
            </a:extLst>
          </p:cNvPr>
          <p:cNvGraphicFramePr/>
          <p:nvPr/>
        </p:nvGraphicFramePr>
        <p:xfrm>
          <a:off xmlns:a="http://schemas.openxmlformats.org/drawingml/2006/main" x="609600" y="1485900"/>
          <a:ext xmlns:a="http://schemas.openxmlformats.org/drawingml/2006/main" cx="10972800" cy="4076700"/>
        </p:xfrm>
        <a:graphic xmlns:a="http://schemas.openxmlformats.org/drawingml/2006/main">
          <a:graphicData uri="http://schemas.openxmlformats.org/drawingml/2006/table">
            <a:tbl>
              <a:tblPr/>
              <a:tblGrid>
                <a:gridCol w="4937760"/>
                <a:gridCol w="6035040"/>
              </a:tblGrid>
              <a:tr h="452967">
                <a:tc>
                  <a:txBody>
                    <a:bodyPr/>
                    <a:lstStyle/>
                    <a:p>
                      <a:r>
                        <a:rPr sz="1875" b="1">
                          <a:solidFill>
                            <a:srgbClr val="FFFFFF"/>
                          </a:solidFill>
                        </a:rPr>
                        <a:t>2027参照项目</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对FCFE影响 亿元</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452967">
                <a:tc>
                  <a:txBody>
                    <a:bodyPr/>
                    <a:lstStyle/>
                    <a:p>
                      <a:r>
                        <a:rPr sz="1875" b="0">
                          <a:solidFill>
                            <a:srgbClr val="102C3A"/>
                          </a:solidFill>
                        </a:rPr>
                        <a:t>归属等价利润</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233.0821</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452967">
                <a:tc>
                  <a:txBody>
                    <a:bodyPr/>
                    <a:lstStyle/>
                    <a:p>
                      <a:r>
                        <a:rPr sz="1875" b="0">
                          <a:solidFill>
                            <a:srgbClr val="102C3A"/>
                          </a:solidFill>
                        </a:rPr>
                        <a:t>加回同范围D&amp;A</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+115.2000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452967">
                <a:tc>
                  <a:txBody>
                    <a:bodyPr/>
                    <a:lstStyle/>
                    <a:p>
                      <a:r>
                        <a:rPr sz="1875" b="0">
                          <a:solidFill>
                            <a:srgbClr val="102C3A"/>
                          </a:solidFill>
                        </a:rPr>
                        <a:t>固定维护更新</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−65.0000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452967">
                <a:tc>
                  <a:txBody>
                    <a:bodyPr/>
                    <a:lstStyle/>
                    <a:p>
                      <a:r>
                        <a:rPr sz="1875" b="0">
                          <a:solidFill>
                            <a:srgbClr val="102C3A"/>
                          </a:solidFill>
                        </a:rPr>
                        <a:t>其他必要更新</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−30.0000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452967">
                <a:tc>
                  <a:txBody>
                    <a:bodyPr/>
                    <a:lstStyle/>
                    <a:p>
                      <a:r>
                        <a:rPr sz="1875" b="0">
                          <a:solidFill>
                            <a:srgbClr val="102C3A"/>
                          </a:solidFill>
                        </a:rPr>
                        <a:t>增长固定投资</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0.0000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452967">
                <a:tc>
                  <a:txBody>
                    <a:bodyPr/>
                    <a:lstStyle/>
                    <a:p>
                      <a:r>
                        <a:rPr sz="1875" b="0">
                          <a:solidFill>
                            <a:srgbClr val="102C3A"/>
                          </a:solidFill>
                        </a:rPr>
                        <a:t>营运资金释放</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+1.0925</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452967">
                <a:tc>
                  <a:txBody>
                    <a:bodyPr/>
                    <a:lstStyle/>
                    <a:p>
                      <a:r>
                        <a:rPr sz="1875" b="0">
                          <a:solidFill>
                            <a:srgbClr val="102C3A"/>
                          </a:solidFill>
                        </a:rPr>
                        <a:t>净借款</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0.0000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452967">
                <a:tc>
                  <a:txBody>
                    <a:bodyPr/>
                    <a:lstStyle/>
                    <a:p>
                      <a:r>
                        <a:rPr sz="1875" b="0">
                          <a:solidFill>
                            <a:srgbClr val="102C3A"/>
                          </a:solidFill>
                        </a:rPr>
                        <a:t>股权自由现金流FCFE</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254.3746</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bl>
          </a:graphicData>
        </a:graphic>
      </p:graphicFrame>
      <p:sp>
        <p:nvSpPr>
          <p:cNvPr id="4" name="takeaway">
            <a:extLst xmlns:a="http://schemas.openxmlformats.org/drawingml/2006/main">
              <a:ext uri="{FF2B5EF4-FFF2-40B4-BE49-F238E27FC236}">
                <a16:creationId xmlns:a16="http://schemas.microsoft.com/office/drawing/2014/main" id="{AB569599-612C-4F34-A3AA-1764B181F0F7}"/>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FCFE = NI + D&amp;A − 维护 − 增长资本 − ΔNWC + 净借款</a:t>
            </a:r>
          </a:p>
        </p:txBody>
      </p:sp>
      <p:sp>
        <p:nvSpPr>
          <p:cNvPr id="5" name="source">
            <a:extLst xmlns:a="http://schemas.openxmlformats.org/drawingml/2006/main">
              <a:ext uri="{FF2B5EF4-FFF2-40B4-BE49-F238E27FC236}">
                <a16:creationId xmlns:a16="http://schemas.microsoft.com/office/drawing/2014/main" id="{36DF6E7F-C800-4C15-A8A7-90EE81FC3292}"/>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报告§11.1—§11.2</a:t>
            </a:r>
          </a:p>
        </p:txBody>
      </p:sp>
      <p:sp>
        <p:nvSpPr>
          <p:cNvPr id="6" name="page">
            <a:extLst xmlns:a="http://schemas.openxmlformats.org/drawingml/2006/main">
              <a:ext uri="{FF2B5EF4-FFF2-40B4-BE49-F238E27FC236}">
                <a16:creationId xmlns:a16="http://schemas.microsoft.com/office/drawing/2014/main" id="{08CD1E3D-BF76-4996-A294-49F542AB9AFE}"/>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39</a:t>
            </a:r>
          </a:p>
        </p:txBody>
      </p:sp>
    </p:spTree>
    <p:extLst>
      <p:ext uri="{BB962C8B-B14F-4D97-AF65-F5344CB8AC3E}">
        <p14:creationId xmlns:p14="http://schemas.microsoft.com/office/powerpoint/2010/main" val="1284801293"/>
      </p:ext>
    </p:extLst>
  </p:cSld>
</p:sld>
</file>

<file path=ppt/slides/slide4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21DCBB4-A48D-4384-8F5A-532493CE4978}"/>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正内在价值与短期资金缺口</a:t>
            </a:r>
          </a:p>
        </p:txBody>
      </p:sp>
      <p:graphicFrame>
        <p:nvGraphicFramePr>
          <p:cNvPr id="3" name="">
            <a:extLst xmlns:a="http://schemas.openxmlformats.org/drawingml/2006/main">
              <a:ext uri="{FF2B5EF4-FFF2-40B4-BE49-F238E27FC236}">
                <a16:creationId xmlns:a16="http://schemas.microsoft.com/office/drawing/2014/main" id="{0D867020-670B-4E88-8A6B-D66EA5DBDE5C}"/>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4279392"/>
                <a:gridCol w="2523744"/>
                <a:gridCol w="4169664"/>
              </a:tblGrid>
              <a:tr h="628650">
                <a:tc>
                  <a:txBody>
                    <a:bodyPr/>
                    <a:lstStyle/>
                    <a:p>
                      <a:r>
                        <a:rPr sz="1875" b="1">
                          <a:solidFill>
                            <a:srgbClr val="FFFFFF"/>
                          </a:solidFill>
                        </a:rPr>
                        <a:t>情景及目标</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2027 FCFE亿元</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最低期初自由资金亿元</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628650">
                <a:tc>
                  <a:txBody>
                    <a:bodyPr/>
                    <a:lstStyle/>
                    <a:p>
                      <a:r>
                        <a:rPr sz="1875" b="0">
                          <a:solidFill>
                            <a:srgbClr val="102C3A"/>
                          </a:solidFill>
                        </a:rPr>
                        <a:t>正常修复，8000万</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254.37</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0.00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628650">
                <a:tc>
                  <a:txBody>
                    <a:bodyPr/>
                    <a:lstStyle/>
                    <a:p>
                      <a:r>
                        <a:rPr sz="1875" b="0">
                          <a:solidFill>
                            <a:srgbClr val="102C3A"/>
                          </a:solidFill>
                        </a:rPr>
                        <a:t>正常修复，9000万</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206.56</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0.00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628650">
                <a:tc>
                  <a:txBody>
                    <a:bodyPr/>
                    <a:lstStyle/>
                    <a:p>
                      <a:r>
                        <a:rPr sz="1875" b="0">
                          <a:solidFill>
                            <a:srgbClr val="102C3A"/>
                          </a:solidFill>
                        </a:rPr>
                        <a:t>缓慢修复，9000万</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17.91</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0.00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628650">
                <a:tc>
                  <a:txBody>
                    <a:bodyPr/>
                    <a:lstStyle/>
                    <a:p>
                      <a:r>
                        <a:rPr sz="1875" b="0">
                          <a:solidFill>
                            <a:srgbClr val="102C3A"/>
                          </a:solidFill>
                        </a:rPr>
                        <a:t>低谷延长，8000万</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−87.56</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87.56</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628650">
                <a:tc>
                  <a:txBody>
                    <a:bodyPr/>
                    <a:lstStyle/>
                    <a:p>
                      <a:r>
                        <a:rPr sz="1875" b="0">
                          <a:solidFill>
                            <a:srgbClr val="102C3A"/>
                          </a:solidFill>
                        </a:rPr>
                        <a:t>低谷延长，9000万</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−135.37</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179.93</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bl>
          </a:graphicData>
        </a:graphic>
      </p:graphicFrame>
      <p:sp>
        <p:nvSpPr>
          <p:cNvPr id="4" name="takeaway">
            <a:extLst xmlns:a="http://schemas.openxmlformats.org/drawingml/2006/main">
              <a:ext uri="{FF2B5EF4-FFF2-40B4-BE49-F238E27FC236}">
                <a16:creationId xmlns:a16="http://schemas.microsoft.com/office/drawing/2014/main" id="{B7582E24-1333-4AD1-9742-A720F3EE9CD3}"/>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最低资金按年度年末累计缺口计算，还需月内支出、到期债务和经营储备</a:t>
            </a:r>
          </a:p>
        </p:txBody>
      </p:sp>
      <p:sp>
        <p:nvSpPr>
          <p:cNvPr id="5" name="source">
            <a:extLst xmlns:a="http://schemas.openxmlformats.org/drawingml/2006/main">
              <a:ext uri="{FF2B5EF4-FFF2-40B4-BE49-F238E27FC236}">
                <a16:creationId xmlns:a16="http://schemas.microsoft.com/office/drawing/2014/main" id="{43393B62-E10A-4E8F-9580-B12BF55FAB3A}"/>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报告§11.3、§13.1；参考[61]</a:t>
            </a:r>
          </a:p>
        </p:txBody>
      </p:sp>
      <p:sp>
        <p:nvSpPr>
          <p:cNvPr id="6" name="page">
            <a:extLst xmlns:a="http://schemas.openxmlformats.org/drawingml/2006/main">
              <a:ext uri="{FF2B5EF4-FFF2-40B4-BE49-F238E27FC236}">
                <a16:creationId xmlns:a16="http://schemas.microsoft.com/office/drawing/2014/main" id="{4C48E754-591B-4699-B574-E0E3DE6BAC75}"/>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40</a:t>
            </a:r>
          </a:p>
        </p:txBody>
      </p:sp>
    </p:spTree>
    <p:extLst>
      <p:ext uri="{BB962C8B-B14F-4D97-AF65-F5344CB8AC3E}">
        <p14:creationId xmlns:p14="http://schemas.microsoft.com/office/powerpoint/2010/main" val="578981573"/>
      </p:ext>
    </p:extLst>
  </p:cSld>
</p:sld>
</file>

<file path=ppt/slides/slide4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5970E7A-F44E-42A3-B3D6-8618FA258EA1}"/>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折旧、完全成本与现金流</a:t>
            </a:r>
          </a:p>
        </p:txBody>
      </p:sp>
      <p:graphicFrame>
        <p:nvGraphicFramePr>
          <p:cNvPr id="3" name="">
            <a:extLst xmlns:a="http://schemas.openxmlformats.org/drawingml/2006/main">
              <a:ext uri="{FF2B5EF4-FFF2-40B4-BE49-F238E27FC236}">
                <a16:creationId xmlns:a16="http://schemas.microsoft.com/office/drawing/2014/main" id="{B55111F5-027C-4A82-B9A5-5BC85F309D1E}"/>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4279392"/>
                <a:gridCol w="2523744"/>
                <a:gridCol w="4169664"/>
              </a:tblGrid>
              <a:tr h="538843">
                <a:tc>
                  <a:txBody>
                    <a:bodyPr/>
                    <a:lstStyle/>
                    <a:p>
                      <a:r>
                        <a:rPr sz="1875" b="1">
                          <a:solidFill>
                            <a:srgbClr val="FFFFFF"/>
                          </a:solidFill>
                        </a:rPr>
                        <a:t>独立会计演示</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折旧1.2元/kg</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折旧0.6元/kg</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538843">
                <a:tc>
                  <a:txBody>
                    <a:bodyPr/>
                    <a:lstStyle/>
                    <a:p>
                      <a:r>
                        <a:rPr sz="1875" b="0">
                          <a:solidFill>
                            <a:srgbClr val="102C3A"/>
                          </a:solidFill>
                        </a:rPr>
                        <a:t>完全成本元/kg</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11.80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11.20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利润亿元</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403.20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460.80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38843">
                <a:tc>
                  <a:txBody>
                    <a:bodyPr/>
                    <a:lstStyle/>
                    <a:p>
                      <a:r>
                        <a:rPr sz="1875" b="0">
                          <a:solidFill>
                            <a:srgbClr val="102C3A"/>
                          </a:solidFill>
                        </a:rPr>
                        <a:t>加回折旧亿元</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115.20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57.60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利润加折旧亿元</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518.40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518.40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38843">
                <a:tc>
                  <a:txBody>
                    <a:bodyPr/>
                    <a:lstStyle/>
                    <a:p>
                      <a:r>
                        <a:rPr sz="1875" b="0">
                          <a:solidFill>
                            <a:srgbClr val="102C3A"/>
                          </a:solidFill>
                        </a:rPr>
                        <a:t>维护支出亿元</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95.00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95.00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FCFE亿元</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423.40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423.40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bl>
          </a:graphicData>
        </a:graphic>
      </p:graphicFrame>
      <p:sp>
        <p:nvSpPr>
          <p:cNvPr id="4" name="takeaway">
            <a:extLst xmlns:a="http://schemas.openxmlformats.org/drawingml/2006/main">
              <a:ext uri="{FF2B5EF4-FFF2-40B4-BE49-F238E27FC236}">
                <a16:creationId xmlns:a16="http://schemas.microsoft.com/office/drawing/2014/main" id="{DBF20F07-7C36-4752-8E37-07E59493E8CF}"/>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固定售价16元、96亿公斤，税费与归属差异设零，仅改变非现金折旧</a:t>
            </a:r>
          </a:p>
        </p:txBody>
      </p:sp>
      <p:sp>
        <p:nvSpPr>
          <p:cNvPr id="5" name="source">
            <a:extLst xmlns:a="http://schemas.openxmlformats.org/drawingml/2006/main">
              <a:ext uri="{FF2B5EF4-FFF2-40B4-BE49-F238E27FC236}">
                <a16:creationId xmlns:a16="http://schemas.microsoft.com/office/drawing/2014/main" id="{6D207483-929F-4B90-9AEC-C1F7B9206C47}"/>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报告修订版§12 折旧会计演示；本次独立复算</a:t>
            </a:r>
          </a:p>
        </p:txBody>
      </p:sp>
      <p:sp>
        <p:nvSpPr>
          <p:cNvPr id="6" name="page">
            <a:extLst xmlns:a="http://schemas.openxmlformats.org/drawingml/2006/main">
              <a:ext uri="{FF2B5EF4-FFF2-40B4-BE49-F238E27FC236}">
                <a16:creationId xmlns:a16="http://schemas.microsoft.com/office/drawing/2014/main" id="{FE2E17F7-EA9D-443C-9766-0A84BEC5FB92}"/>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41</a:t>
            </a:r>
          </a:p>
        </p:txBody>
      </p:sp>
    </p:spTree>
    <p:extLst>
      <p:ext uri="{BB962C8B-B14F-4D97-AF65-F5344CB8AC3E}">
        <p14:creationId xmlns:p14="http://schemas.microsoft.com/office/powerpoint/2010/main" val="339062260"/>
      </p:ext>
    </p:extLst>
  </p:cSld>
</p:sld>
</file>

<file path=ppt/slides/slide4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EA24D6B9-10DB-4AF4-9ACC-8B29C8A867D9}"/>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FCFE估值分解</a:t>
            </a:r>
          </a:p>
        </p:txBody>
      </p:sp>
      <p:graphicFrame>
        <p:nvGraphicFramePr>
          <p:cNvPr id="3" name="">
            <a:extLst xmlns:a="http://schemas.openxmlformats.org/drawingml/2006/main">
              <a:ext uri="{FF2B5EF4-FFF2-40B4-BE49-F238E27FC236}">
                <a16:creationId xmlns:a16="http://schemas.microsoft.com/office/drawing/2014/main" id="{A1B397FF-4431-42B8-90D8-4580F432C366}"/>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4937760"/>
                <a:gridCol w="6035040"/>
              </a:tblGrid>
              <a:tr h="538843">
                <a:tc>
                  <a:txBody>
                    <a:bodyPr/>
                    <a:lstStyle/>
                    <a:p>
                      <a:r>
                        <a:rPr sz="1875" b="1">
                          <a:solidFill>
                            <a:srgbClr val="FFFFFF"/>
                          </a:solidFill>
                        </a:rPr>
                        <a:t>参照假设或结果</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数值</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538843">
                <a:tc>
                  <a:txBody>
                    <a:bodyPr/>
                    <a:lstStyle/>
                    <a:p>
                      <a:r>
                        <a:rPr sz="1875" b="0">
                          <a:solidFill>
                            <a:srgbClr val="102C3A"/>
                          </a:solidFill>
                        </a:rPr>
                        <a:t>显性期 / 权益要求回报r</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2027—2036 / 10%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长期全国价 / 基础成本</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15.5 / 11.8元/kg</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38843">
                <a:tc>
                  <a:txBody>
                    <a:bodyPr/>
                    <a:lstStyle/>
                    <a:p>
                      <a:r>
                        <a:rPr sz="1875" b="0">
                          <a:solidFill>
                            <a:srgbClr val="102C3A"/>
                          </a:solidFill>
                        </a:rPr>
                        <a:t>显性十年现金流现值</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2056.21亿元</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终值首年FCFE / 终值现值</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337.44 / 1300.98亿元</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38843">
                <a:tc>
                  <a:txBody>
                    <a:bodyPr/>
                    <a:lstStyle/>
                    <a:p>
                      <a:r>
                        <a:rPr sz="1875" b="0">
                          <a:solidFill>
                            <a:srgbClr val="102C3A"/>
                          </a:solidFill>
                        </a:rPr>
                        <a:t>股权总价值 / 终值占比</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3357.19亿元 / 38.75%</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每股条件价值</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58.1533元</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bl>
          </a:graphicData>
        </a:graphic>
      </p:graphicFrame>
      <p:sp>
        <p:nvSpPr>
          <p:cNvPr id="4" name="takeaway">
            <a:extLst xmlns:a="http://schemas.openxmlformats.org/drawingml/2006/main">
              <a:ext uri="{FF2B5EF4-FFF2-40B4-BE49-F238E27FC236}">
                <a16:creationId xmlns:a16="http://schemas.microsoft.com/office/drawing/2014/main" id="{8BA7FCEB-5CF9-48E2-8130-835DA3D949C5}"/>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各年FCFE逐期折现，终值维护等于D&amp;A，额外现金设零</a:t>
            </a:r>
          </a:p>
        </p:txBody>
      </p:sp>
      <p:sp>
        <p:nvSpPr>
          <p:cNvPr id="5" name="source">
            <a:extLst xmlns:a="http://schemas.openxmlformats.org/drawingml/2006/main">
              <a:ext uri="{FF2B5EF4-FFF2-40B4-BE49-F238E27FC236}">
                <a16:creationId xmlns:a16="http://schemas.microsoft.com/office/drawing/2014/main" id="{D0A6CBAC-800E-4FD1-B4BE-E7A7E3DD4A3A}"/>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报告§12.2.1</a:t>
            </a:r>
          </a:p>
        </p:txBody>
      </p:sp>
      <p:sp>
        <p:nvSpPr>
          <p:cNvPr id="6" name="page">
            <a:extLst xmlns:a="http://schemas.openxmlformats.org/drawingml/2006/main">
              <a:ext uri="{FF2B5EF4-FFF2-40B4-BE49-F238E27FC236}">
                <a16:creationId xmlns:a16="http://schemas.microsoft.com/office/drawing/2014/main" id="{46012222-C1D9-4D4B-ACA4-B1B0A27E89CB}"/>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42</a:t>
            </a:r>
          </a:p>
        </p:txBody>
      </p:sp>
    </p:spTree>
    <p:extLst>
      <p:ext uri="{BB962C8B-B14F-4D97-AF65-F5344CB8AC3E}">
        <p14:creationId xmlns:p14="http://schemas.microsoft.com/office/powerpoint/2010/main" val="2127455375"/>
      </p:ext>
    </p:extLst>
  </p:cSld>
</p:sld>
</file>

<file path=ppt/slides/slide4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C277969C-DF99-4460-BD49-37792F14D831}"/>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长期价格与要求回报敏感性</a:t>
            </a:r>
          </a:p>
        </p:txBody>
      </p:sp>
      <p:graphicFrame>
        <p:nvGraphicFramePr>
          <p:cNvPr id="3" name="">
            <a:extLst xmlns:a="http://schemas.openxmlformats.org/drawingml/2006/main">
              <a:ext uri="{FF2B5EF4-FFF2-40B4-BE49-F238E27FC236}">
                <a16:creationId xmlns:a16="http://schemas.microsoft.com/office/drawing/2014/main" id="{99D5B909-625A-4335-8026-B905B9DF7C71}"/>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2743200"/>
                <a:gridCol w="2743200"/>
                <a:gridCol w="2743200"/>
                <a:gridCol w="2743200"/>
              </a:tblGrid>
              <a:tr h="628650">
                <a:tc>
                  <a:txBody>
                    <a:bodyPr/>
                    <a:lstStyle/>
                    <a:p>
                      <a:r>
                        <a:rPr sz="1650" b="1">
                          <a:solidFill>
                            <a:srgbClr val="FFFFFF"/>
                          </a:solidFill>
                        </a:rPr>
                        <a:t>长期全国价元/kg</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650" b="1">
                          <a:solidFill>
                            <a:srgbClr val="FFFFFF"/>
                          </a:solidFill>
                        </a:rPr>
                        <a:t>r=8%</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650" b="1">
                          <a:solidFill>
                            <a:srgbClr val="FFFFFF"/>
                          </a:solidFill>
                        </a:rPr>
                        <a:t>r=10%</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650" b="1">
                          <a:solidFill>
                            <a:srgbClr val="FFFFFF"/>
                          </a:solidFill>
                        </a:rPr>
                        <a:t>r=12%</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628650">
                <a:tc>
                  <a:txBody>
                    <a:bodyPr/>
                    <a:lstStyle/>
                    <a:p>
                      <a:r>
                        <a:rPr sz="1650" b="0">
                          <a:solidFill>
                            <a:srgbClr val="102C3A"/>
                          </a:solidFill>
                        </a:rPr>
                        <a:t>14.0</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46.59</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37.69</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31.70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628650">
                <a:tc>
                  <a:txBody>
                    <a:bodyPr/>
                    <a:lstStyle/>
                    <a:p>
                      <a:r>
                        <a:rPr sz="1650" b="0">
                          <a:solidFill>
                            <a:srgbClr val="102C3A"/>
                          </a:solidFill>
                        </a:rPr>
                        <a:t>15.0</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64.13</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51.33</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42.77</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628650">
                <a:tc>
                  <a:txBody>
                    <a:bodyPr/>
                    <a:lstStyle/>
                    <a:p>
                      <a:r>
                        <a:rPr sz="1650" b="0">
                          <a:solidFill>
                            <a:srgbClr val="102C3A"/>
                          </a:solidFill>
                        </a:rPr>
                        <a:t>15.5</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72.90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58.15</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48.30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628650">
                <a:tc>
                  <a:txBody>
                    <a:bodyPr/>
                    <a:lstStyle/>
                    <a:p>
                      <a:r>
                        <a:rPr sz="1650" b="0">
                          <a:solidFill>
                            <a:srgbClr val="102C3A"/>
                          </a:solidFill>
                        </a:rPr>
                        <a:t>16.0</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81.67</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64.97</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53.83</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628650">
                <a:tc>
                  <a:txBody>
                    <a:bodyPr/>
                    <a:lstStyle/>
                    <a:p>
                      <a:r>
                        <a:rPr sz="1650" b="0">
                          <a:solidFill>
                            <a:srgbClr val="102C3A"/>
                          </a:solidFill>
                        </a:rPr>
                        <a:t>17.0</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99.21</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78.62</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64.89</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bl>
          </a:graphicData>
        </a:graphic>
      </p:graphicFrame>
      <p:sp>
        <p:nvSpPr>
          <p:cNvPr id="4" name="takeaway">
            <a:extLst xmlns:a="http://schemas.openxmlformats.org/drawingml/2006/main">
              <a:ext uri="{FF2B5EF4-FFF2-40B4-BE49-F238E27FC236}">
                <a16:creationId xmlns:a16="http://schemas.microsoft.com/office/drawing/2014/main" id="{FA35E57B-732A-48F7-BE20-AF7B7A784085}"/>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表内为元/股，2027需求价格保持不变，修改的是后续长期全国价</a:t>
            </a:r>
          </a:p>
        </p:txBody>
      </p:sp>
      <p:sp>
        <p:nvSpPr>
          <p:cNvPr id="5" name="source">
            <a:extLst xmlns:a="http://schemas.openxmlformats.org/drawingml/2006/main">
              <a:ext uri="{FF2B5EF4-FFF2-40B4-BE49-F238E27FC236}">
                <a16:creationId xmlns:a16="http://schemas.microsoft.com/office/drawing/2014/main" id="{947C9F6E-19D9-4EC1-9F28-19AB5EE1DEA1}"/>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报告§12.2.2、§13.3</a:t>
            </a:r>
          </a:p>
        </p:txBody>
      </p:sp>
      <p:sp>
        <p:nvSpPr>
          <p:cNvPr id="6" name="page">
            <a:extLst xmlns:a="http://schemas.openxmlformats.org/drawingml/2006/main">
              <a:ext uri="{FF2B5EF4-FFF2-40B4-BE49-F238E27FC236}">
                <a16:creationId xmlns:a16="http://schemas.microsoft.com/office/drawing/2014/main" id="{A908AB89-2030-4438-B85E-8DA55237F8AC}"/>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43</a:t>
            </a:r>
          </a:p>
        </p:txBody>
      </p:sp>
    </p:spTree>
    <p:extLst>
      <p:ext uri="{BB962C8B-B14F-4D97-AF65-F5344CB8AC3E}">
        <p14:creationId xmlns:p14="http://schemas.microsoft.com/office/powerpoint/2010/main" val="509737704"/>
      </p:ext>
    </p:extLst>
  </p:cSld>
</p:sld>
</file>

<file path=ppt/slides/slide4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945A5071-93AF-477F-90FF-5B92E194060D}"/>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终值增长与再投资</a:t>
            </a:r>
          </a:p>
        </p:txBody>
      </p:sp>
      <p:graphicFrame>
        <p:nvGraphicFramePr>
          <p:cNvPr id="3" name="">
            <a:extLst xmlns:a="http://schemas.openxmlformats.org/drawingml/2006/main">
              <a:ext uri="{FF2B5EF4-FFF2-40B4-BE49-F238E27FC236}">
                <a16:creationId xmlns:a16="http://schemas.microsoft.com/office/drawing/2014/main" id="{E85E4707-16F4-4460-AE8D-739C85C5AAC0}"/>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4279392"/>
                <a:gridCol w="2523744"/>
                <a:gridCol w="4169664"/>
              </a:tblGrid>
              <a:tr h="942975">
                <a:tc>
                  <a:txBody>
                    <a:bodyPr/>
                    <a:lstStyle/>
                    <a:p>
                      <a:r>
                        <a:rPr sz="1875" b="1">
                          <a:solidFill>
                            <a:srgbClr val="FFFFFF"/>
                          </a:solidFill>
                        </a:rPr>
                        <a:t>终值增长g</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每股条件价值</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支持增长的条件</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942975">
                <a:tc>
                  <a:txBody>
                    <a:bodyPr/>
                    <a:lstStyle/>
                    <a:p>
                      <a:r>
                        <a:rPr sz="1875" b="0">
                          <a:solidFill>
                            <a:srgbClr val="102C3A"/>
                          </a:solidFill>
                        </a:rPr>
                        <a:t>0%</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58.15</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新增权益回报15%，扣除所需再投资</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942975">
                <a:tc>
                  <a:txBody>
                    <a:bodyPr/>
                    <a:lstStyle/>
                    <a:p>
                      <a:r>
                        <a:rPr sz="1875" b="0">
                          <a:solidFill>
                            <a:srgbClr val="102C3A"/>
                          </a:solidFill>
                        </a:rPr>
                        <a:t>1%</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59.22</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新增权益回报15%，扣除所需再投资</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942975">
                <a:tc>
                  <a:txBody>
                    <a:bodyPr/>
                    <a:lstStyle/>
                    <a:p>
                      <a:r>
                        <a:rPr sz="1875" b="0">
                          <a:solidFill>
                            <a:srgbClr val="102C3A"/>
                          </a:solidFill>
                        </a:rPr>
                        <a:t>2%</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60.52</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新增权益回报15%，扣除所需再投资</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bl>
          </a:graphicData>
        </a:graphic>
      </p:graphicFrame>
      <p:sp>
        <p:nvSpPr>
          <p:cNvPr id="4" name="takeaway">
            <a:extLst xmlns:a="http://schemas.openxmlformats.org/drawingml/2006/main">
              <a:ext uri="{FF2B5EF4-FFF2-40B4-BE49-F238E27FC236}">
                <a16:creationId xmlns:a16="http://schemas.microsoft.com/office/drawing/2014/main" id="{EF48C979-2C1E-427C-99F9-2E0CD766B487}"/>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再投资=正利润×g/新增ROE；销量增长还需与每头资本预算匹配</a:t>
            </a:r>
          </a:p>
        </p:txBody>
      </p:sp>
      <p:sp>
        <p:nvSpPr>
          <p:cNvPr id="5" name="source">
            <a:extLst xmlns:a="http://schemas.openxmlformats.org/drawingml/2006/main">
              <a:ext uri="{FF2B5EF4-FFF2-40B4-BE49-F238E27FC236}">
                <a16:creationId xmlns:a16="http://schemas.microsoft.com/office/drawing/2014/main" id="{6F3871C8-C21E-40C2-A210-BD845F24988F}"/>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报告§12.2.3；physicalTerminalExtension</a:t>
            </a:r>
          </a:p>
        </p:txBody>
      </p:sp>
      <p:sp>
        <p:nvSpPr>
          <p:cNvPr id="6" name="page">
            <a:extLst xmlns:a="http://schemas.openxmlformats.org/drawingml/2006/main">
              <a:ext uri="{FF2B5EF4-FFF2-40B4-BE49-F238E27FC236}">
                <a16:creationId xmlns:a16="http://schemas.microsoft.com/office/drawing/2014/main" id="{069BF8A2-828B-4C2D-AA1D-4C14C2103BDF}"/>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44</a:t>
            </a:r>
          </a:p>
        </p:txBody>
      </p:sp>
    </p:spTree>
    <p:extLst>
      <p:ext uri="{BB962C8B-B14F-4D97-AF65-F5344CB8AC3E}">
        <p14:creationId xmlns:p14="http://schemas.microsoft.com/office/powerpoint/2010/main" val="1647649028"/>
      </p:ext>
    </p:extLst>
  </p:cSld>
</p:sld>
</file>

<file path=ppt/slides/slide4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AB2ECA9-8334-4A7E-8B8E-623BE25FE8C4}"/>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PE、PB、剩余收益与EV的口径</a:t>
            </a:r>
          </a:p>
        </p:txBody>
      </p:sp>
      <p:graphicFrame>
        <p:nvGraphicFramePr>
          <p:cNvPr id="3" name="">
            <a:extLst xmlns:a="http://schemas.openxmlformats.org/drawingml/2006/main">
              <a:ext uri="{FF2B5EF4-FFF2-40B4-BE49-F238E27FC236}">
                <a16:creationId xmlns:a16="http://schemas.microsoft.com/office/drawing/2014/main" id="{F704012E-849A-4AAC-B2A2-444CC0F3EEE5}"/>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4279392"/>
                <a:gridCol w="2523744"/>
                <a:gridCol w="4169664"/>
              </a:tblGrid>
              <a:tr h="754380">
                <a:tc>
                  <a:txBody>
                    <a:bodyPr/>
                    <a:lstStyle/>
                    <a:p>
                      <a:r>
                        <a:rPr sz="1875" b="1">
                          <a:solidFill>
                            <a:srgbClr val="FFFFFF"/>
                          </a:solidFill>
                        </a:rPr>
                        <a:t>方法</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相同条件下的计算</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关键边界</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754380">
                <a:tc>
                  <a:txBody>
                    <a:bodyPr/>
                    <a:lstStyle/>
                    <a:p>
                      <a:r>
                        <a:rPr sz="1875" b="0">
                          <a:solidFill>
                            <a:srgbClr val="102C3A"/>
                          </a:solidFill>
                        </a:rPr>
                        <a:t>正常PE</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正常NI × PE / 股数</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先确定正常利润</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754380">
                <a:tc>
                  <a:txBody>
                    <a:bodyPr/>
                    <a:lstStyle/>
                    <a:p>
                      <a:r>
                        <a:rPr sz="1875" b="0">
                          <a:solidFill>
                            <a:srgbClr val="102C3A"/>
                          </a:solidFill>
                        </a:rPr>
                        <a:t>ROE—PB</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PB=(ROE−g)/(r−g)</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清洁盈余及持续ROE</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754380">
                <a:tc>
                  <a:txBody>
                    <a:bodyPr/>
                    <a:lstStyle/>
                    <a:p>
                      <a:r>
                        <a:rPr sz="1875" b="0">
                          <a:solidFill>
                            <a:srgbClr val="102C3A"/>
                          </a:solidFill>
                        </a:rPr>
                        <a:t>剩余收益</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账面权益 + 超额收益现值</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同盈利与分配政策</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754380">
                <a:tc>
                  <a:txBody>
                    <a:bodyPr/>
                    <a:lstStyle/>
                    <a:p>
                      <a:r>
                        <a:rPr sz="1875" b="0">
                          <a:solidFill>
                            <a:srgbClr val="102C3A"/>
                          </a:solidFill>
                        </a:rPr>
                        <a:t>EV/EBITDA</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EBITDA × 倍数 − 净债等</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集团与归母范围桥接</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bl>
          </a:graphicData>
        </a:graphic>
      </p:graphicFrame>
      <p:sp>
        <p:nvSpPr>
          <p:cNvPr id="4" name="takeaway">
            <a:extLst xmlns:a="http://schemas.openxmlformats.org/drawingml/2006/main">
              <a:ext uri="{FF2B5EF4-FFF2-40B4-BE49-F238E27FC236}">
                <a16:creationId xmlns:a16="http://schemas.microsoft.com/office/drawing/2014/main" id="{3E5E3848-69A3-4E43-917C-D71BC7A0C914}"/>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统一盈利、增长和资本条件后，方法之间可做一致性检验</a:t>
            </a:r>
          </a:p>
        </p:txBody>
      </p:sp>
      <p:sp>
        <p:nvSpPr>
          <p:cNvPr id="5" name="source">
            <a:extLst xmlns:a="http://schemas.openxmlformats.org/drawingml/2006/main">
              <a:ext uri="{FF2B5EF4-FFF2-40B4-BE49-F238E27FC236}">
                <a16:creationId xmlns:a16="http://schemas.microsoft.com/office/drawing/2014/main" id="{F4C44FC9-3CEA-4DDC-A465-55371954E857}"/>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报告§12.3—§12.6</a:t>
            </a:r>
          </a:p>
        </p:txBody>
      </p:sp>
      <p:sp>
        <p:nvSpPr>
          <p:cNvPr id="6" name="page">
            <a:extLst xmlns:a="http://schemas.openxmlformats.org/drawingml/2006/main">
              <a:ext uri="{FF2B5EF4-FFF2-40B4-BE49-F238E27FC236}">
                <a16:creationId xmlns:a16="http://schemas.microsoft.com/office/drawing/2014/main" id="{352E27DA-E9D0-45F9-817F-FDED9620C5BD}"/>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45</a:t>
            </a:r>
          </a:p>
        </p:txBody>
      </p:sp>
    </p:spTree>
    <p:extLst>
      <p:ext uri="{BB962C8B-B14F-4D97-AF65-F5344CB8AC3E}">
        <p14:creationId xmlns:p14="http://schemas.microsoft.com/office/powerpoint/2010/main" val="1024860034"/>
      </p:ext>
    </p:extLst>
  </p:cSld>
</p:sld>
</file>

<file path=ppt/slides/slide4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68CE294-BDDA-4B2A-A7A5-51DAC73FF3B8}"/>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销量成长的净增价值</a:t>
            </a:r>
          </a:p>
        </p:txBody>
      </p:sp>
      <p:graphicFrame>
        <p:nvGraphicFramePr>
          <p:cNvPr id="3" name="Chart">
            <a:extLst xmlns:a="http://schemas.openxmlformats.org/drawingml/2006/main">
              <a:ext uri="{FF2B5EF4-FFF2-40B4-BE49-F238E27FC236}">
                <a16:creationId xmlns:a16="http://schemas.microsoft.com/office/drawing/2014/main" id="{F1760418-8252-4982-9BC4-44D8A9435A67}"/>
              </a:ext>
            </a:extLst>
          </p:cNvPr>
          <p:cNvGraphicFramePr/>
          <p:nvPr/>
        </p:nvGraphicFramePr>
        <p:xfrm>
          <a:off xmlns:a="http://schemas.openxmlformats.org/drawingml/2006/main" x="609600" y="1543050"/>
          <a:ext xmlns:a="http://schemas.openxmlformats.org/drawingml/2006/main" cx="10934700" cy="3619500"/>
        </p:xfrm>
        <a:graphic xmlns:a="http://schemas.openxmlformats.org/drawingml/2006/main">
          <a:graphicData uri="http://schemas.openxmlformats.org/drawingml/2006/chart">
            <c:chart xmlns:r="http://schemas.openxmlformats.org/officeDocument/2006/relationships" xmlns:c="http://schemas.openxmlformats.org/drawingml/2006/chart" r:id="R91b110f5ba224f61"/>
          </a:graphicData>
        </a:graphic>
      </p:graphicFrame>
      <p:sp>
        <p:nvSpPr>
          <p:cNvPr id="4" name="takeaway">
            <a:extLst xmlns:a="http://schemas.openxmlformats.org/drawingml/2006/main">
              <a:ext uri="{FF2B5EF4-FFF2-40B4-BE49-F238E27FC236}">
                <a16:creationId xmlns:a16="http://schemas.microsoft.com/office/drawing/2014/main" id="{741E167B-D81F-4836-B69E-3E9A96EE513D}"/>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九千万路径较平量增加3.07元/股；长期成本降低0.5元的单因素示例约增加7.90元</a:t>
            </a:r>
          </a:p>
        </p:txBody>
      </p:sp>
      <p:sp>
        <p:nvSpPr>
          <p:cNvPr id="5" name="source">
            <a:extLst xmlns:a="http://schemas.openxmlformats.org/drawingml/2006/main">
              <a:ext uri="{FF2B5EF4-FFF2-40B4-BE49-F238E27FC236}">
                <a16:creationId xmlns:a16="http://schemas.microsoft.com/office/drawing/2014/main" id="{9A692B68-498D-4F1C-AE49-BB94BAD701A3}"/>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报告§10.5、§12.7</a:t>
            </a:r>
          </a:p>
        </p:txBody>
      </p:sp>
      <p:sp>
        <p:nvSpPr>
          <p:cNvPr id="6" name="page">
            <a:extLst xmlns:a="http://schemas.openxmlformats.org/drawingml/2006/main">
              <a:ext uri="{FF2B5EF4-FFF2-40B4-BE49-F238E27FC236}">
                <a16:creationId xmlns:a16="http://schemas.microsoft.com/office/drawing/2014/main" id="{ACEC4BF1-C0F4-4F69-ABA9-B89302433D17}"/>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46</a:t>
            </a:r>
          </a:p>
        </p:txBody>
      </p:sp>
    </p:spTree>
    <p:extLst>
      <p:ext uri="{BB962C8B-B14F-4D97-AF65-F5344CB8AC3E}">
        <p14:creationId xmlns:p14="http://schemas.microsoft.com/office/powerpoint/2010/main" val="1013596614"/>
      </p:ext>
    </p:extLst>
  </p:cSld>
</p:sld>
</file>

<file path=ppt/slides/slide4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1D57822C-6678-460B-A37B-9354A6C179CD}"/>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峰值利润外推与周期回归</a:t>
            </a:r>
          </a:p>
        </p:txBody>
      </p:sp>
      <p:graphicFrame>
        <p:nvGraphicFramePr>
          <p:cNvPr id="3" name="Chart">
            <a:extLst xmlns:a="http://schemas.openxmlformats.org/drawingml/2006/main">
              <a:ext uri="{FF2B5EF4-FFF2-40B4-BE49-F238E27FC236}">
                <a16:creationId xmlns:a16="http://schemas.microsoft.com/office/drawing/2014/main" id="{4BB9A8C3-E0A9-4A42-AE8D-E126CE7C2436}"/>
              </a:ext>
            </a:extLst>
          </p:cNvPr>
          <p:cNvGraphicFramePr/>
          <p:nvPr/>
        </p:nvGraphicFramePr>
        <p:xfrm>
          <a:off xmlns:a="http://schemas.openxmlformats.org/drawingml/2006/main" x="609600" y="1543050"/>
          <a:ext xmlns:a="http://schemas.openxmlformats.org/drawingml/2006/main" cx="10934700" cy="3619500"/>
        </p:xfrm>
        <a:graphic xmlns:a="http://schemas.openxmlformats.org/drawingml/2006/main">
          <a:graphicData uri="http://schemas.openxmlformats.org/drawingml/2006/chart">
            <c:chart xmlns:r="http://schemas.openxmlformats.org/officeDocument/2006/relationships" xmlns:c="http://schemas.openxmlformats.org/drawingml/2006/chart" r:id="Rcfe7601c047f4695"/>
          </a:graphicData>
        </a:graphic>
      </p:graphicFrame>
      <p:sp>
        <p:nvSpPr>
          <p:cNvPr id="4" name="takeaway">
            <a:extLst xmlns:a="http://schemas.openxmlformats.org/drawingml/2006/main">
              <a:ext uri="{FF2B5EF4-FFF2-40B4-BE49-F238E27FC236}">
                <a16:creationId xmlns:a16="http://schemas.microsoft.com/office/drawing/2014/main" id="{C727CB89-9011-4FFD-BB2F-17AA220E6008}"/>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同一首年高价，价格回归和必要再投资使现金流估值低于高位利润外推</a:t>
            </a:r>
          </a:p>
        </p:txBody>
      </p:sp>
      <p:sp>
        <p:nvSpPr>
          <p:cNvPr id="5" name="source">
            <a:extLst xmlns:a="http://schemas.openxmlformats.org/drawingml/2006/main">
              <a:ext uri="{FF2B5EF4-FFF2-40B4-BE49-F238E27FC236}">
                <a16:creationId xmlns:a16="http://schemas.microsoft.com/office/drawing/2014/main" id="{C7F5906E-9A2C-4BE7-A144-4ABF1A596C90}"/>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报告§12.8</a:t>
            </a:r>
          </a:p>
        </p:txBody>
      </p:sp>
      <p:sp>
        <p:nvSpPr>
          <p:cNvPr id="6" name="page">
            <a:extLst xmlns:a="http://schemas.openxmlformats.org/drawingml/2006/main">
              <a:ext uri="{FF2B5EF4-FFF2-40B4-BE49-F238E27FC236}">
                <a16:creationId xmlns:a16="http://schemas.microsoft.com/office/drawing/2014/main" id="{B8532E03-1A5F-4B05-A2CA-F292004C18A8}"/>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47</a:t>
            </a:r>
          </a:p>
        </p:txBody>
      </p:sp>
    </p:spTree>
    <p:extLst>
      <p:ext uri="{BB962C8B-B14F-4D97-AF65-F5344CB8AC3E}">
        <p14:creationId xmlns:p14="http://schemas.microsoft.com/office/powerpoint/2010/main" val="35242246"/>
      </p:ext>
    </p:extLst>
  </p:cSld>
</p:sld>
</file>

<file path=ppt/slides/slide4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2F105AC2-D3C5-4648-8808-65332E055088}"/>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主线与补充方法的结果对照</a:t>
            </a:r>
          </a:p>
        </p:txBody>
      </p:sp>
      <p:graphicFrame>
        <p:nvGraphicFramePr>
          <p:cNvPr id="3" name="">
            <a:extLst xmlns:a="http://schemas.openxmlformats.org/drawingml/2006/main">
              <a:ext uri="{FF2B5EF4-FFF2-40B4-BE49-F238E27FC236}">
                <a16:creationId xmlns:a16="http://schemas.microsoft.com/office/drawing/2014/main" id="{9E77B6A1-9702-417A-879E-73D061E48E36}"/>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4279392"/>
                <a:gridCol w="2523744"/>
                <a:gridCol w="4169664"/>
              </a:tblGrid>
              <a:tr h="628650">
                <a:tc>
                  <a:txBody>
                    <a:bodyPr/>
                    <a:lstStyle/>
                    <a:p>
                      <a:r>
                        <a:rPr sz="1875" b="1">
                          <a:solidFill>
                            <a:srgbClr val="FFFFFF"/>
                          </a:solidFill>
                        </a:rPr>
                        <a:t>方法与条件</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重新计算结果</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用途</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628650">
                <a:tc>
                  <a:txBody>
                    <a:bodyPr/>
                    <a:lstStyle/>
                    <a:p>
                      <a:r>
                        <a:rPr sz="1875" b="0">
                          <a:solidFill>
                            <a:srgbClr val="102C3A"/>
                          </a:solidFill>
                        </a:rPr>
                        <a:t>必要产能成本中枢</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15.73元/kg</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长期价格参照</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628650">
                <a:tc>
                  <a:txBody>
                    <a:bodyPr/>
                    <a:lstStyle/>
                    <a:p>
                      <a:r>
                        <a:rPr sz="1875" b="0">
                          <a:solidFill>
                            <a:srgbClr val="102C3A"/>
                          </a:solidFill>
                        </a:rPr>
                        <a:t>2027需求 / 历史振幅年均</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14.36 / 20.81元/kg</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补充价格对照</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628650">
                <a:tc>
                  <a:txBody>
                    <a:bodyPr/>
                    <a:lstStyle/>
                    <a:p>
                      <a:r>
                        <a:rPr sz="1875" b="0">
                          <a:solidFill>
                            <a:srgbClr val="102C3A"/>
                          </a:solidFill>
                        </a:rPr>
                        <a:t>全年20元利润 × 10PE</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129.54元/股</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主线高位外推</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628650">
                <a:tc>
                  <a:txBody>
                    <a:bodyPr/>
                    <a:lstStyle/>
                    <a:p>
                      <a:r>
                        <a:rPr sz="1875" b="0">
                          <a:solidFill>
                            <a:srgbClr val="102C3A"/>
                          </a:solidFill>
                        </a:rPr>
                        <a:t>需求路线 平量FCFE</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58.15元/股</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价格修复及现金投入</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628650">
                <a:tc>
                  <a:txBody>
                    <a:bodyPr/>
                    <a:lstStyle/>
                    <a:p>
                      <a:r>
                        <a:rPr sz="1875" b="0">
                          <a:solidFill>
                            <a:srgbClr val="102C3A"/>
                          </a:solidFill>
                        </a:rPr>
                        <a:t>需求路线 2031年9000万头</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61.23元/股</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含提前增长投资</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bl>
          </a:graphicData>
        </a:graphic>
      </p:graphicFrame>
      <p:sp>
        <p:nvSpPr>
          <p:cNvPr id="4" name="takeaway">
            <a:extLst xmlns:a="http://schemas.openxmlformats.org/drawingml/2006/main">
              <a:ext uri="{FF2B5EF4-FFF2-40B4-BE49-F238E27FC236}">
                <a16:creationId xmlns:a16="http://schemas.microsoft.com/office/drawing/2014/main" id="{7423FD9D-7B8A-4E50-AE47-012CA36EFCE4}"/>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不同结果对应不同价格路径、利润持续期和资本条件</a:t>
            </a:r>
          </a:p>
        </p:txBody>
      </p:sp>
      <p:sp>
        <p:nvSpPr>
          <p:cNvPr id="5" name="source">
            <a:extLst xmlns:a="http://schemas.openxmlformats.org/drawingml/2006/main">
              <a:ext uri="{FF2B5EF4-FFF2-40B4-BE49-F238E27FC236}">
                <a16:creationId xmlns:a16="http://schemas.microsoft.com/office/drawing/2014/main" id="{6EEB7C6C-F285-4DCF-BEEF-5CCD4B4326A4}"/>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报告摘要、§12.2、§12.7</a:t>
            </a:r>
          </a:p>
        </p:txBody>
      </p:sp>
      <p:sp>
        <p:nvSpPr>
          <p:cNvPr id="6" name="page">
            <a:extLst xmlns:a="http://schemas.openxmlformats.org/drawingml/2006/main">
              <a:ext uri="{FF2B5EF4-FFF2-40B4-BE49-F238E27FC236}">
                <a16:creationId xmlns:a16="http://schemas.microsoft.com/office/drawing/2014/main" id="{0712155D-2A37-4561-8B42-54399457D47D}"/>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48</a:t>
            </a:r>
          </a:p>
        </p:txBody>
      </p:sp>
    </p:spTree>
    <p:extLst>
      <p:ext uri="{BB962C8B-B14F-4D97-AF65-F5344CB8AC3E}">
        <p14:creationId xmlns:p14="http://schemas.microsoft.com/office/powerpoint/2010/main" val="1721112240"/>
      </p:ext>
    </p:extLst>
  </p:cSld>
</p:sld>
</file>

<file path=ppt/slides/slide4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1103760B-B7F5-4783-A90F-7F9196A7AD71}"/>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观测清单与计算网页演示</a:t>
            </a:r>
          </a:p>
        </p:txBody>
      </p:sp>
      <p:sp>
        <p:nvSpPr>
          <p:cNvPr id="3" name="content-0">
            <a:extLst xmlns:a="http://schemas.openxmlformats.org/drawingml/2006/main">
              <a:ext uri="{FF2B5EF4-FFF2-40B4-BE49-F238E27FC236}">
                <a16:creationId xmlns:a16="http://schemas.microsoft.com/office/drawing/2014/main" id="{31416434-8D82-4967-B039-56CE439B9C5D}"/>
              </a:ext>
            </a:extLst>
          </p:cNvPr>
          <p:cNvSpPr>
            <a:spLocks xmlns:a="http://schemas.openxmlformats.org/drawingml/2006/main" noGrp="1"/>
          </p:cNvSpPr>
          <p:nvPr/>
        </p:nvSpPr>
        <p:spPr>
          <a:xfrm xmlns:a="http://schemas.openxmlformats.org/drawingml/2006/main">
            <a:off x="714375" y="156210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行业：仔猪出生、母猪口径、实际出栏重量、进口与冻品</a:t>
            </a:r>
          </a:p>
        </p:txBody>
      </p:sp>
      <p:sp>
        <p:nvSpPr>
          <p:cNvPr id="4" name="content-1">
            <a:extLst xmlns:a="http://schemas.openxmlformats.org/drawingml/2006/main">
              <a:ext uri="{FF2B5EF4-FFF2-40B4-BE49-F238E27FC236}">
                <a16:creationId xmlns:a16="http://schemas.microsoft.com/office/drawing/2014/main" id="{C0B3CC30-6CD8-4660-A71A-3D904897F5CA}"/>
              </a:ext>
            </a:extLst>
          </p:cNvPr>
          <p:cNvSpPr>
            <a:spLocks xmlns:a="http://schemas.openxmlformats.org/drawingml/2006/main" noGrp="1"/>
          </p:cNvSpPr>
          <p:nvPr/>
        </p:nvSpPr>
        <p:spPr>
          <a:xfrm xmlns:a="http://schemas.openxmlformats.org/drawingml/2006/main">
            <a:off x="714375" y="254317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公司：售价差、同范围完全成本、销量及资本预算</a:t>
            </a:r>
          </a:p>
        </p:txBody>
      </p:sp>
      <p:sp>
        <p:nvSpPr>
          <p:cNvPr id="5" name="content-2">
            <a:extLst xmlns:a="http://schemas.openxmlformats.org/drawingml/2006/main">
              <a:ext uri="{FF2B5EF4-FFF2-40B4-BE49-F238E27FC236}">
                <a16:creationId xmlns:a16="http://schemas.microsoft.com/office/drawing/2014/main" id="{E1E3C3B6-EEA8-4AAD-B5C7-91E48EDB8A17}"/>
              </a:ext>
            </a:extLst>
          </p:cNvPr>
          <p:cNvSpPr>
            <a:spLocks xmlns:a="http://schemas.openxmlformats.org/drawingml/2006/main" noGrp="1"/>
          </p:cNvSpPr>
          <p:nvPr/>
        </p:nvSpPr>
        <p:spPr>
          <a:xfrm xmlns:a="http://schemas.openxmlformats.org/drawingml/2006/main">
            <a:off x="714375" y="352425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财务：自由现金、债务到期、授信与股份变化</a:t>
            </a:r>
          </a:p>
        </p:txBody>
      </p:sp>
      <p:sp>
        <p:nvSpPr>
          <p:cNvPr id="6" name="content-3">
            <a:extLst xmlns:a="http://schemas.openxmlformats.org/drawingml/2006/main">
              <a:ext uri="{FF2B5EF4-FFF2-40B4-BE49-F238E27FC236}">
                <a16:creationId xmlns:a16="http://schemas.microsoft.com/office/drawing/2014/main" id="{0EE5E6E3-CE4F-49EF-BCCC-9A4D0C19B26E}"/>
              </a:ext>
            </a:extLst>
          </p:cNvPr>
          <p:cNvSpPr>
            <a:spLocks xmlns:a="http://schemas.openxmlformats.org/drawingml/2006/main" noGrp="1"/>
          </p:cNvSpPr>
          <p:nvPr/>
        </p:nvSpPr>
        <p:spPr>
          <a:xfrm xmlns:a="http://schemas.openxmlformats.org/drawingml/2006/main">
            <a:off x="714375" y="4505325"/>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102C3A"/>
                </a:solidFill>
              </a:defRPr>
            </a:defPPr>
            <a:lvl1pPr>
              <a:defRPr sz="2250" b="0">
                <a:solidFill>
                  <a:srgbClr val="102C3A"/>
                </a:solidFill>
              </a:defRPr>
            </a:lvl1pPr>
            <a:lvl2pPr>
              <a:defRPr sz="2250" b="0">
                <a:solidFill>
                  <a:srgbClr val="102C3A"/>
                </a:solidFill>
              </a:defRPr>
            </a:lvl2pPr>
            <a:lvl3pPr>
              <a:defRPr sz="2250" b="0">
                <a:solidFill>
                  <a:srgbClr val="102C3A"/>
                </a:solidFill>
              </a:defRPr>
            </a:lvl3pPr>
            <a:lvl4pPr>
              <a:defRPr sz="2250" b="0">
                <a:solidFill>
                  <a:srgbClr val="102C3A"/>
                </a:solidFill>
              </a:defRPr>
            </a:lvl4pPr>
            <a:lvl5pPr>
              <a:defRPr sz="2250" b="0">
                <a:solidFill>
                  <a:srgbClr val="102C3A"/>
                </a:solidFill>
              </a:defRPr>
            </a:lvl5pPr>
            <a:lvl6pPr>
              <a:defRPr sz="2250" b="0">
                <a:solidFill>
                  <a:srgbClr val="102C3A"/>
                </a:solidFill>
              </a:defRPr>
            </a:lvl6pPr>
            <a:lvl7pPr>
              <a:defRPr sz="2250" b="0">
                <a:solidFill>
                  <a:srgbClr val="102C3A"/>
                </a:solidFill>
              </a:defRPr>
            </a:lvl7pPr>
            <a:lvl8pPr>
              <a:defRPr sz="2250" b="0">
                <a:solidFill>
                  <a:srgbClr val="102C3A"/>
                </a:solidFill>
              </a:defRPr>
            </a:lvl8pPr>
            <a:lvl9pPr>
              <a:defRPr sz="2250" b="0">
                <a:solidFill>
                  <a:srgbClr val="102C3A"/>
                </a:solidFill>
              </a:defRPr>
            </a:lvl9pPr>
          </a:lstStyle>
          <a:p xmlns:a="http://schemas.openxmlformats.org/drawingml/2006/main">
            <a:pPr>
              <a:defRPr sz="2250" b="0">
                <a:solidFill>
                  <a:srgbClr val="102C3A"/>
                </a:solidFill>
              </a:defRPr>
            </a:pPr>
            <a:r>
              <a:rPr sz="2250" b="0">
                <a:solidFill>
                  <a:srgbClr val="102C3A"/>
                </a:solidFill>
              </a:rPr>
              <a:t>网页演示：主线高位、修订现金流、目标销量与结果导出</a:t>
            </a:r>
          </a:p>
        </p:txBody>
      </p:sp>
      <p:sp>
        <p:nvSpPr>
          <p:cNvPr id="7" name="takeaway">
            <a:extLst xmlns:a="http://schemas.openxmlformats.org/drawingml/2006/main">
              <a:ext uri="{FF2B5EF4-FFF2-40B4-BE49-F238E27FC236}">
                <a16:creationId xmlns:a16="http://schemas.microsoft.com/office/drawing/2014/main" id="{C7F483C4-59A4-41D9-BF18-5F22C6C07D5E}"/>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研究判断可以更新，每一次更新都保留参数、依据和结果</a:t>
            </a:r>
          </a:p>
        </p:txBody>
      </p:sp>
      <p:sp>
        <p:nvSpPr>
          <p:cNvPr id="8" name="source">
            <a:extLst xmlns:a="http://schemas.openxmlformats.org/drawingml/2006/main">
              <a:ext uri="{FF2B5EF4-FFF2-40B4-BE49-F238E27FC236}">
                <a16:creationId xmlns:a16="http://schemas.microsoft.com/office/drawing/2014/main" id="{59580E37-1732-4A86-B25D-E2F097C90057}"/>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报告§13—§15、附录A；配套网页</a:t>
            </a:r>
          </a:p>
        </p:txBody>
      </p:sp>
      <p:sp>
        <p:nvSpPr>
          <p:cNvPr id="9" name="page">
            <a:extLst xmlns:a="http://schemas.openxmlformats.org/drawingml/2006/main">
              <a:ext uri="{FF2B5EF4-FFF2-40B4-BE49-F238E27FC236}">
                <a16:creationId xmlns:a16="http://schemas.microsoft.com/office/drawing/2014/main" id="{6A3DDF39-FFC0-4EB3-B28B-6DE733D9122D}"/>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49</a:t>
            </a:r>
          </a:p>
        </p:txBody>
      </p:sp>
    </p:spTree>
    <p:extLst>
      <p:ext uri="{BB962C8B-B14F-4D97-AF65-F5344CB8AC3E}">
        <p14:creationId xmlns:p14="http://schemas.microsoft.com/office/powerpoint/2010/main" val="2064437238"/>
      </p:ext>
    </p:extLst>
  </p:cSld>
</p:sld>
</file>

<file path=ppt/slides/slide5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B9905953-C6FB-41DB-B44C-A5D54275E111}"/>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附录A：名词与单位</a:t>
            </a:r>
          </a:p>
        </p:txBody>
      </p:sp>
      <p:graphicFrame>
        <p:nvGraphicFramePr>
          <p:cNvPr id="3" name="">
            <a:extLst xmlns:a="http://schemas.openxmlformats.org/drawingml/2006/main">
              <a:ext uri="{FF2B5EF4-FFF2-40B4-BE49-F238E27FC236}">
                <a16:creationId xmlns:a16="http://schemas.microsoft.com/office/drawing/2014/main" id="{733B70DD-2079-44D8-BBEA-90DB2954BD78}"/>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4937760"/>
                <a:gridCol w="6035040"/>
              </a:tblGrid>
              <a:tr h="471488">
                <a:tc>
                  <a:txBody>
                    <a:bodyPr/>
                    <a:lstStyle/>
                    <a:p>
                      <a:r>
                        <a:rPr sz="1875" b="1">
                          <a:solidFill>
                            <a:srgbClr val="FFFFFF"/>
                          </a:solidFill>
                        </a:rPr>
                        <a:t>符号或名词</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含义与单位</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471488">
                <a:tc>
                  <a:txBody>
                    <a:bodyPr/>
                    <a:lstStyle/>
                    <a:p>
                      <a:r>
                        <a:rPr sz="1875" b="0">
                          <a:solidFill>
                            <a:srgbClr val="102C3A"/>
                          </a:solidFill>
                        </a:rPr>
                        <a:t>S / V</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母猪万头 / 商品猪销量万头</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471488">
                <a:tc>
                  <a:txBody>
                    <a:bodyPr/>
                    <a:lstStyle/>
                    <a:p>
                      <a:r>
                        <a:rPr sz="1875" b="0">
                          <a:solidFill>
                            <a:srgbClr val="102C3A"/>
                          </a:solidFill>
                        </a:rPr>
                        <a:t>W / K</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公斤每头 / 亿公斤销售量</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471488">
                <a:tc>
                  <a:txBody>
                    <a:bodyPr/>
                    <a:lstStyle/>
                    <a:p>
                      <a:r>
                        <a:rPr sz="1875" b="0">
                          <a:solidFill>
                            <a:srgbClr val="102C3A"/>
                          </a:solidFill>
                        </a:rPr>
                        <a:t>PSY / MSY</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断奶仔猪 / 商品猪，均按统一母猪年分母</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471488">
                <a:tc>
                  <a:txBody>
                    <a:bodyPr/>
                    <a:lstStyle/>
                    <a:p>
                      <a:r>
                        <a:rPr sz="1875" b="0">
                          <a:solidFill>
                            <a:srgbClr val="102C3A"/>
                          </a:solidFill>
                        </a:rPr>
                        <a:t>C / P / δ</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成本 / 全国价 / 公司售价差，元每公斤活重</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471488">
                <a:tc>
                  <a:txBody>
                    <a:bodyPr/>
                    <a:lstStyle/>
                    <a:p>
                      <a:r>
                        <a:rPr sz="1875" b="0">
                          <a:solidFill>
                            <a:srgbClr val="102C3A"/>
                          </a:solidFill>
                        </a:rPr>
                        <a:t>NI / FCFE</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归属等价利润 / 股权自由现金流，亿元</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471488">
                <a:tc>
                  <a:txBody>
                    <a:bodyPr/>
                    <a:lstStyle/>
                    <a:p>
                      <a:r>
                        <a:rPr sz="1875" b="0">
                          <a:solidFill>
                            <a:srgbClr val="102C3A"/>
                          </a:solidFill>
                        </a:rPr>
                        <a:t>r / g</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权益要求回报 / 终值增长</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471488">
                <a:tc>
                  <a:txBody>
                    <a:bodyPr/>
                    <a:lstStyle/>
                    <a:p>
                      <a:r>
                        <a:rPr sz="1875" b="0">
                          <a:solidFill>
                            <a:srgbClr val="102C3A"/>
                          </a:solidFill>
                        </a:rPr>
                        <a:t>股数及价值</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亿股 / 元每股</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bl>
          </a:graphicData>
        </a:graphic>
      </p:graphicFrame>
      <p:sp>
        <p:nvSpPr>
          <p:cNvPr id="4" name="takeaway">
            <a:extLst xmlns:a="http://schemas.openxmlformats.org/drawingml/2006/main">
              <a:ext uri="{FF2B5EF4-FFF2-40B4-BE49-F238E27FC236}">
                <a16:creationId xmlns:a16="http://schemas.microsoft.com/office/drawing/2014/main" id="{E5CC1533-2689-4985-868D-57F09DCA6700}"/>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全部公式先统一生产阶段、财务归属及时间口径</a:t>
            </a:r>
          </a:p>
        </p:txBody>
      </p:sp>
      <p:sp>
        <p:nvSpPr>
          <p:cNvPr id="5" name="source">
            <a:extLst xmlns:a="http://schemas.openxmlformats.org/drawingml/2006/main">
              <a:ext uri="{FF2B5EF4-FFF2-40B4-BE49-F238E27FC236}">
                <a16:creationId xmlns:a16="http://schemas.microsoft.com/office/drawing/2014/main" id="{C0B4DDC6-B519-46D1-8C72-239B0DB5A362}"/>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报告§2、附录C</a:t>
            </a:r>
          </a:p>
        </p:txBody>
      </p:sp>
      <p:sp>
        <p:nvSpPr>
          <p:cNvPr id="6" name="page">
            <a:extLst xmlns:a="http://schemas.openxmlformats.org/drawingml/2006/main">
              <a:ext uri="{FF2B5EF4-FFF2-40B4-BE49-F238E27FC236}">
                <a16:creationId xmlns:a16="http://schemas.microsoft.com/office/drawing/2014/main" id="{54442494-6B4A-4BFA-ADB1-1B10E7591D9C}"/>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50</a:t>
            </a:r>
          </a:p>
        </p:txBody>
      </p:sp>
    </p:spTree>
    <p:extLst>
      <p:ext uri="{BB962C8B-B14F-4D97-AF65-F5344CB8AC3E}">
        <p14:creationId xmlns:p14="http://schemas.microsoft.com/office/powerpoint/2010/main" val="228806312"/>
      </p:ext>
    </p:extLst>
  </p:cSld>
</p:sld>
</file>

<file path=ppt/slides/slide5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B958938E-D28B-450F-B286-F75EE701A189}"/>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附录B：主要参照参数</a:t>
            </a:r>
          </a:p>
        </p:txBody>
      </p:sp>
      <p:graphicFrame>
        <p:nvGraphicFramePr>
          <p:cNvPr id="3" name="">
            <a:extLst xmlns:a="http://schemas.openxmlformats.org/drawingml/2006/main">
              <a:ext uri="{FF2B5EF4-FFF2-40B4-BE49-F238E27FC236}">
                <a16:creationId xmlns:a16="http://schemas.microsoft.com/office/drawing/2014/main" id="{4EFAADDB-8EE0-471D-A370-4C07105A2D42}"/>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2743200"/>
                <a:gridCol w="2743200"/>
                <a:gridCol w="2743200"/>
                <a:gridCol w="2743200"/>
              </a:tblGrid>
              <a:tr h="628650">
                <a:tc>
                  <a:txBody>
                    <a:bodyPr/>
                    <a:lstStyle/>
                    <a:p>
                      <a:r>
                        <a:rPr sz="1650" b="1">
                          <a:solidFill>
                            <a:srgbClr val="FFFFFF"/>
                          </a:solidFill>
                        </a:rPr>
                        <a:t>供需参数</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650" b="1">
                          <a:solidFill>
                            <a:srgbClr val="FFFFFF"/>
                          </a:solidFill>
                        </a:rPr>
                        <a:t>设定</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650" b="1">
                          <a:solidFill>
                            <a:srgbClr val="FFFFFF"/>
                          </a:solidFill>
                        </a:rPr>
                        <a:t>公司及估值参数</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650" b="1">
                          <a:solidFill>
                            <a:srgbClr val="FFFFFF"/>
                          </a:solidFill>
                        </a:rPr>
                        <a:t>设定</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628650">
                <a:tc>
                  <a:txBody>
                    <a:bodyPr/>
                    <a:lstStyle/>
                    <a:p>
                      <a:r>
                        <a:rPr sz="1650" b="0">
                          <a:solidFill>
                            <a:srgbClr val="102C3A"/>
                          </a:solidFill>
                        </a:rPr>
                        <a:t>政策母猪 / Q3母猪</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3750 / 3602万头</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商品猪 / 重量</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8000万 / 120kg</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628650">
                <a:tc>
                  <a:txBody>
                    <a:bodyPr/>
                    <a:lstStyle/>
                    <a:p>
                      <a:r>
                        <a:rPr sz="1650" b="0">
                          <a:solidFill>
                            <a:srgbClr val="102C3A"/>
                          </a:solidFill>
                        </a:rPr>
                        <a:t>滞后 / Q4去化</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10月 / 4.709%</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首年及基础成本</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11.8元/kg</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628650">
                <a:tc>
                  <a:txBody>
                    <a:bodyPr/>
                    <a:lstStyle/>
                    <a:p>
                      <a:r>
                        <a:rPr sz="1650" b="0">
                          <a:solidFill>
                            <a:srgbClr val="102C3A"/>
                          </a:solidFill>
                        </a:rPr>
                        <a:t>PSY起点 / 收敛水平</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23.4 / 32</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售价差 / 归属折算</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0 / 95%</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628650">
                <a:tc>
                  <a:txBody>
                    <a:bodyPr/>
                    <a:lstStyle/>
                    <a:p>
                      <a:r>
                        <a:rPr sz="1650" b="0">
                          <a:solidFill>
                            <a:srgbClr val="102C3A"/>
                          </a:solidFill>
                        </a:rPr>
                        <a:t>效率差距缩小 / 需求</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6% / −1%每年</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r / g / 基础成本</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650" b="0">
                          <a:solidFill>
                            <a:srgbClr val="102C3A"/>
                          </a:solidFill>
                        </a:rPr>
                        <a:t>10% / 0% / 11.8元/kg</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628650">
                <a:tc>
                  <a:txBody>
                    <a:bodyPr/>
                    <a:lstStyle/>
                    <a:p>
                      <a:r>
                        <a:rPr sz="1650" b="0">
                          <a:solidFill>
                            <a:srgbClr val="102C3A"/>
                          </a:solidFill>
                        </a:rPr>
                        <a:t>ε / λ / 进口占比</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0.374 / 0.75 / 2%</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新增投资 / 支付</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650" b="0">
                          <a:solidFill>
                            <a:srgbClr val="102C3A"/>
                          </a:solidFill>
                        </a:rPr>
                        <a:t>2000元 / 前一年</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bl>
          </a:graphicData>
        </a:graphic>
      </p:graphicFrame>
      <p:sp>
        <p:nvSpPr>
          <p:cNvPr id="4" name="takeaway">
            <a:extLst xmlns:a="http://schemas.openxmlformats.org/drawingml/2006/main">
              <a:ext uri="{FF2B5EF4-FFF2-40B4-BE49-F238E27FC236}">
                <a16:creationId xmlns:a16="http://schemas.microsoft.com/office/drawing/2014/main" id="{F5C0C3C3-B891-44A1-ABEA-B8D0AD22B501}"/>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125项完整参数见修订报告参数账本及网页导出配置</a:t>
            </a:r>
          </a:p>
        </p:txBody>
      </p:sp>
      <p:sp>
        <p:nvSpPr>
          <p:cNvPr id="5" name="source">
            <a:extLst xmlns:a="http://schemas.openxmlformats.org/drawingml/2006/main">
              <a:ext uri="{FF2B5EF4-FFF2-40B4-BE49-F238E27FC236}">
                <a16:creationId xmlns:a16="http://schemas.microsoft.com/office/drawing/2014/main" id="{FB38FFB5-D90F-4029-8D09-361D7FC0165C}"/>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报告附录C、附录E</a:t>
            </a:r>
          </a:p>
        </p:txBody>
      </p:sp>
      <p:sp>
        <p:nvSpPr>
          <p:cNvPr id="6" name="page">
            <a:extLst xmlns:a="http://schemas.openxmlformats.org/drawingml/2006/main">
              <a:ext uri="{FF2B5EF4-FFF2-40B4-BE49-F238E27FC236}">
                <a16:creationId xmlns:a16="http://schemas.microsoft.com/office/drawing/2014/main" id="{2D30A489-691E-4478-9C69-C970DD5E98B8}"/>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51</a:t>
            </a:r>
          </a:p>
        </p:txBody>
      </p:sp>
    </p:spTree>
    <p:extLst>
      <p:ext uri="{BB962C8B-B14F-4D97-AF65-F5344CB8AC3E}">
        <p14:creationId xmlns:p14="http://schemas.microsoft.com/office/powerpoint/2010/main" val="661246115"/>
      </p:ext>
    </p:extLst>
  </p:cSld>
</p:sld>
</file>

<file path=ppt/slides/slide5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9BCE8E74-A772-449A-A2A1-03C1F5B5ED55}"/>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附录C：十年现金流参照</a:t>
            </a:r>
          </a:p>
        </p:txBody>
      </p:sp>
      <p:graphicFrame>
        <p:nvGraphicFramePr>
          <p:cNvPr id="3" name="">
            <a:extLst xmlns:a="http://schemas.openxmlformats.org/drawingml/2006/main">
              <a:ext uri="{FF2B5EF4-FFF2-40B4-BE49-F238E27FC236}">
                <a16:creationId xmlns:a16="http://schemas.microsoft.com/office/drawing/2014/main" id="{9D8A41FD-5049-4373-B4E5-970F70CBFAB5}"/>
              </a:ext>
            </a:extLst>
          </p:cNvPr>
          <p:cNvGraphicFramePr/>
          <p:nvPr/>
        </p:nvGraphicFramePr>
        <p:xfrm>
          <a:off xmlns:a="http://schemas.openxmlformats.org/drawingml/2006/main" x="609600" y="1485900"/>
          <a:ext xmlns:a="http://schemas.openxmlformats.org/drawingml/2006/main" cx="10972800" cy="4191000"/>
        </p:xfrm>
        <a:graphic xmlns:a="http://schemas.openxmlformats.org/drawingml/2006/main">
          <a:graphicData uri="http://schemas.openxmlformats.org/drawingml/2006/table">
            <a:tbl>
              <a:tblPr/>
              <a:tblGrid>
                <a:gridCol w="1097280"/>
                <a:gridCol w="1316736"/>
                <a:gridCol w="1316736"/>
                <a:gridCol w="1536192"/>
                <a:gridCol w="1316736"/>
                <a:gridCol w="1316736"/>
                <a:gridCol w="1536192"/>
                <a:gridCol w="1536192"/>
              </a:tblGrid>
              <a:tr h="381000">
                <a:tc>
                  <a:txBody>
                    <a:bodyPr/>
                    <a:lstStyle/>
                    <a:p>
                      <a:r>
                        <a:rPr sz="1500" b="1">
                          <a:solidFill>
                            <a:srgbClr val="FFFFFF"/>
                          </a:solidFill>
                        </a:rPr>
                        <a:t>年份</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500" b="1">
                          <a:solidFill>
                            <a:srgbClr val="FFFFFF"/>
                          </a:solidFill>
                        </a:rPr>
                        <a:t>公司价</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500" b="1">
                          <a:solidFill>
                            <a:srgbClr val="FFFFFF"/>
                          </a:solidFill>
                        </a:rPr>
                        <a:t>基础成本</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500" b="1">
                          <a:solidFill>
                            <a:srgbClr val="FFFFFF"/>
                          </a:solidFill>
                        </a:rPr>
                        <a:t>利润</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500" b="1">
                          <a:solidFill>
                            <a:srgbClr val="FFFFFF"/>
                          </a:solidFill>
                        </a:rPr>
                        <a:t>D&amp;A</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500" b="1">
                          <a:solidFill>
                            <a:srgbClr val="FFFFFF"/>
                          </a:solidFill>
                        </a:rPr>
                        <a:t>维护</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500" b="1">
                          <a:solidFill>
                            <a:srgbClr val="FFFFFF"/>
                          </a:solidFill>
                        </a:rPr>
                        <a:t>ΔNWC</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500" b="1">
                          <a:solidFill>
                            <a:srgbClr val="FFFFFF"/>
                          </a:solidFill>
                        </a:rPr>
                        <a:t>FCFE</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381000">
                <a:tc>
                  <a:txBody>
                    <a:bodyPr/>
                    <a:lstStyle/>
                    <a:p>
                      <a:r>
                        <a:rPr sz="1500" b="0">
                          <a:solidFill>
                            <a:srgbClr val="102C3A"/>
                          </a:solidFill>
                        </a:rPr>
                        <a:t>2027</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14.36</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11.80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233.08</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115.20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95.00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-1.09</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254.37</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381000">
                <a:tc>
                  <a:txBody>
                    <a:bodyPr/>
                    <a:lstStyle/>
                    <a:p>
                      <a:r>
                        <a:rPr sz="1500" b="0">
                          <a:solidFill>
                            <a:srgbClr val="102C3A"/>
                          </a:solidFill>
                        </a:rPr>
                        <a:t>2028</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14.93</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11.80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285.26</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115.20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95.00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2.75</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302.71</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381000">
                <a:tc>
                  <a:txBody>
                    <a:bodyPr/>
                    <a:lstStyle/>
                    <a:p>
                      <a:r>
                        <a:rPr sz="1500" b="0">
                          <a:solidFill>
                            <a:srgbClr val="102C3A"/>
                          </a:solidFill>
                        </a:rPr>
                        <a:t>2029</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15.50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11.80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337.44</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115.20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95.00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2.75</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354.89</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381000">
                <a:tc>
                  <a:txBody>
                    <a:bodyPr/>
                    <a:lstStyle/>
                    <a:p>
                      <a:r>
                        <a:rPr sz="1500" b="0">
                          <a:solidFill>
                            <a:srgbClr val="102C3A"/>
                          </a:solidFill>
                        </a:rPr>
                        <a:t>2030</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15.50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11.80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337.44</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115.20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95.00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0.00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357.64</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381000">
                <a:tc>
                  <a:txBody>
                    <a:bodyPr/>
                    <a:lstStyle/>
                    <a:p>
                      <a:r>
                        <a:rPr sz="1500" b="0">
                          <a:solidFill>
                            <a:srgbClr val="102C3A"/>
                          </a:solidFill>
                        </a:rPr>
                        <a:t>2031</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15.50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11.80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337.44</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115.20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95.00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0.00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357.64</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381000">
                <a:tc>
                  <a:txBody>
                    <a:bodyPr/>
                    <a:lstStyle/>
                    <a:p>
                      <a:r>
                        <a:rPr sz="1500" b="0">
                          <a:solidFill>
                            <a:srgbClr val="102C3A"/>
                          </a:solidFill>
                        </a:rPr>
                        <a:t>2032</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15.50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11.80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337.44</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115.20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95.00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0.00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357.64</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381000">
                <a:tc>
                  <a:txBody>
                    <a:bodyPr/>
                    <a:lstStyle/>
                    <a:p>
                      <a:r>
                        <a:rPr sz="1500" b="0">
                          <a:solidFill>
                            <a:srgbClr val="102C3A"/>
                          </a:solidFill>
                        </a:rPr>
                        <a:t>2033</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15.50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11.80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337.44</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115.20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95.00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0.00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357.64</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381000">
                <a:tc>
                  <a:txBody>
                    <a:bodyPr/>
                    <a:lstStyle/>
                    <a:p>
                      <a:r>
                        <a:rPr sz="1500" b="0">
                          <a:solidFill>
                            <a:srgbClr val="102C3A"/>
                          </a:solidFill>
                        </a:rPr>
                        <a:t>2034</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15.50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11.80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337.44</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115.20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95.00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0.00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357.64</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381000">
                <a:tc>
                  <a:txBody>
                    <a:bodyPr/>
                    <a:lstStyle/>
                    <a:p>
                      <a:r>
                        <a:rPr sz="1500" b="0">
                          <a:solidFill>
                            <a:srgbClr val="102C3A"/>
                          </a:solidFill>
                        </a:rPr>
                        <a:t>2035</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15.50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11.80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337.44</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115.20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95.00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0.00</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357.64</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381000">
                <a:tc>
                  <a:txBody>
                    <a:bodyPr/>
                    <a:lstStyle/>
                    <a:p>
                      <a:r>
                        <a:rPr sz="1500" b="0">
                          <a:solidFill>
                            <a:srgbClr val="102C3A"/>
                          </a:solidFill>
                        </a:rPr>
                        <a:t>2036</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15.50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11.80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337.44</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115.20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95.00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0.00</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357.64</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bl>
          </a:graphicData>
        </a:graphic>
      </p:graphicFrame>
      <p:sp>
        <p:nvSpPr>
          <p:cNvPr id="4" name="takeaway">
            <a:extLst xmlns:a="http://schemas.openxmlformats.org/drawingml/2006/main">
              <a:ext uri="{FF2B5EF4-FFF2-40B4-BE49-F238E27FC236}">
                <a16:creationId xmlns:a16="http://schemas.microsoft.com/office/drawing/2014/main" id="{C80930C6-358B-4CA5-8A6C-CF3B218EB763}"/>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基础完全成本11.8元/kg为参照假设，各年同口径折旧单列</a:t>
            </a:r>
          </a:p>
        </p:txBody>
      </p:sp>
      <p:sp>
        <p:nvSpPr>
          <p:cNvPr id="5" name="source">
            <a:extLst xmlns:a="http://schemas.openxmlformats.org/drawingml/2006/main">
              <a:ext uri="{FF2B5EF4-FFF2-40B4-BE49-F238E27FC236}">
                <a16:creationId xmlns:a16="http://schemas.microsoft.com/office/drawing/2014/main" id="{F1EFF24D-870D-4EAE-A733-C84B93B194D6}"/>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报告§12.2.1</a:t>
            </a:r>
          </a:p>
        </p:txBody>
      </p:sp>
      <p:sp>
        <p:nvSpPr>
          <p:cNvPr id="6" name="page">
            <a:extLst xmlns:a="http://schemas.openxmlformats.org/drawingml/2006/main">
              <a:ext uri="{FF2B5EF4-FFF2-40B4-BE49-F238E27FC236}">
                <a16:creationId xmlns:a16="http://schemas.microsoft.com/office/drawing/2014/main" id="{A17C98D2-68BE-4417-B01B-1579AE95D81B}"/>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52</a:t>
            </a:r>
          </a:p>
        </p:txBody>
      </p:sp>
    </p:spTree>
    <p:extLst>
      <p:ext uri="{BB962C8B-B14F-4D97-AF65-F5344CB8AC3E}">
        <p14:creationId xmlns:p14="http://schemas.microsoft.com/office/powerpoint/2010/main" val="1281065164"/>
      </p:ext>
    </p:extLst>
  </p:cSld>
</p:sld>
</file>

<file path=ppt/slides/slide5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ABB97B3-C2CB-477D-99FC-905CCA48DDFF}"/>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附录D：报告、网页与脚本对应</a:t>
            </a:r>
          </a:p>
        </p:txBody>
      </p:sp>
      <p:graphicFrame>
        <p:nvGraphicFramePr>
          <p:cNvPr id="3" name="">
            <a:extLst xmlns:a="http://schemas.openxmlformats.org/drawingml/2006/main">
              <a:ext uri="{FF2B5EF4-FFF2-40B4-BE49-F238E27FC236}">
                <a16:creationId xmlns:a16="http://schemas.microsoft.com/office/drawing/2014/main" id="{89A6741B-F8D3-40D2-B28A-BB8F5D86F5BF}"/>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3072384"/>
                <a:gridCol w="4718304"/>
                <a:gridCol w="3182112"/>
              </a:tblGrid>
              <a:tr h="538843">
                <a:tc>
                  <a:txBody>
                    <a:bodyPr/>
                    <a:lstStyle/>
                    <a:p>
                      <a:r>
                        <a:rPr sz="1500" b="1">
                          <a:solidFill>
                            <a:srgbClr val="FFFFFF"/>
                          </a:solidFill>
                        </a:rPr>
                        <a:t>研究模块</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500" b="1">
                          <a:solidFill>
                            <a:srgbClr val="FFFFFF"/>
                          </a:solidFill>
                        </a:rPr>
                        <a:t>网页关键字段</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500" b="1">
                          <a:solidFill>
                            <a:srgbClr val="FFFFFF"/>
                          </a:solidFill>
                        </a:rPr>
                        <a:t>复算材料</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538843">
                <a:tc>
                  <a:txBody>
                    <a:bodyPr/>
                    <a:lstStyle/>
                    <a:p>
                      <a:r>
                        <a:rPr sz="1500" b="0">
                          <a:solidFill>
                            <a:srgbClr val="102C3A"/>
                          </a:solidFill>
                        </a:rPr>
                        <a:t>必要产能成本</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costBasis / marginalFullCost</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price_assumptions.js</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500" b="0">
                          <a:solidFill>
                            <a:srgbClr val="102C3A"/>
                          </a:solidFill>
                        </a:rPr>
                        <a:t>有效供给与猪价</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capacityMetric / lagMode / priceMethod</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results_price.json</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38843">
                <a:tc>
                  <a:txBody>
                    <a:bodyPr/>
                    <a:lstStyle/>
                    <a:p>
                      <a:r>
                        <a:rPr sz="1500" b="0">
                          <a:solidFill>
                            <a:srgbClr val="102C3A"/>
                          </a:solidFill>
                        </a:rPr>
                        <a:t>利润与实现价</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realizedPriceDelta / companyCost</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reproduce_valuation.js</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500" b="0">
                          <a:solidFill>
                            <a:srgbClr val="102C3A"/>
                          </a:solidFill>
                        </a:rPr>
                        <a:t>成长与支付时点</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companyGrowthMode / growthInvestmentTiming</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results_valuation.json</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38843">
                <a:tc>
                  <a:txBody>
                    <a:bodyPr/>
                    <a:lstStyle/>
                    <a:p>
                      <a:r>
                        <a:rPr sz="1500" b="0">
                          <a:solidFill>
                            <a:srgbClr val="102C3A"/>
                          </a:solidFill>
                        </a:rPr>
                        <a:t>现金桥与成本</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cashflowMode / longRunCost</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c>
                  <a:txBody>
                    <a:bodyPr/>
                    <a:lstStyle/>
                    <a:p>
                      <a:r>
                        <a:rPr sz="1500" b="0">
                          <a:solidFill>
                            <a:srgbClr val="102C3A"/>
                          </a:solidFill>
                        </a:rPr>
                        <a:t>年度FCFE输出</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500" b="0">
                          <a:solidFill>
                            <a:srgbClr val="102C3A"/>
                          </a:solidFill>
                        </a:rPr>
                        <a:t>资金需求及终值物理闭环</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附加分析，网页未直接实现</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c>
                  <a:txBody>
                    <a:bodyPr/>
                    <a:lstStyle/>
                    <a:p>
                      <a:r>
                        <a:rPr sz="1500" b="0">
                          <a:solidFill>
                            <a:srgbClr val="102C3A"/>
                          </a:solidFill>
                        </a:rPr>
                        <a:t>reproduce_valuation.js</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bl>
          </a:graphicData>
        </a:graphic>
      </p:graphicFrame>
      <p:sp>
        <p:nvSpPr>
          <p:cNvPr id="4" name="takeaway">
            <a:extLst xmlns:a="http://schemas.openxmlformats.org/drawingml/2006/main">
              <a:ext uri="{FF2B5EF4-FFF2-40B4-BE49-F238E27FC236}">
                <a16:creationId xmlns:a16="http://schemas.microsoft.com/office/drawing/2014/main" id="{0B1977BA-5F67-4D2D-88C0-CA51012C716F}"/>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报告额外计算与网页已实现功能分别标识</a:t>
            </a:r>
          </a:p>
        </p:txBody>
      </p:sp>
      <p:sp>
        <p:nvSpPr>
          <p:cNvPr id="5" name="source">
            <a:extLst xmlns:a="http://schemas.openxmlformats.org/drawingml/2006/main">
              <a:ext uri="{FF2B5EF4-FFF2-40B4-BE49-F238E27FC236}">
                <a16:creationId xmlns:a16="http://schemas.microsoft.com/office/drawing/2014/main" id="{D9512CEB-E375-49B2-A4F5-1D3FBED4D380}"/>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报告附录A—B</a:t>
            </a:r>
          </a:p>
        </p:txBody>
      </p:sp>
      <p:sp>
        <p:nvSpPr>
          <p:cNvPr id="6" name="page">
            <a:extLst xmlns:a="http://schemas.openxmlformats.org/drawingml/2006/main">
              <a:ext uri="{FF2B5EF4-FFF2-40B4-BE49-F238E27FC236}">
                <a16:creationId xmlns:a16="http://schemas.microsoft.com/office/drawing/2014/main" id="{E31F2EF6-B4D1-4CFF-A95A-F1731C0AA247}"/>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53</a:t>
            </a:r>
          </a:p>
        </p:txBody>
      </p:sp>
    </p:spTree>
    <p:extLst>
      <p:ext uri="{BB962C8B-B14F-4D97-AF65-F5344CB8AC3E}">
        <p14:creationId xmlns:p14="http://schemas.microsoft.com/office/powerpoint/2010/main" val="95858140"/>
      </p:ext>
    </p:extLst>
  </p:cSld>
</p:sld>
</file>

<file path=ppt/slides/slide5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96CDBD50-7762-4F0C-B8AB-081B0D321234}"/>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附录E：算法核查结论</a:t>
            </a:r>
          </a:p>
        </p:txBody>
      </p:sp>
      <p:graphicFrame>
        <p:nvGraphicFramePr>
          <p:cNvPr id="3" name="">
            <a:extLst xmlns:a="http://schemas.openxmlformats.org/drawingml/2006/main">
              <a:ext uri="{FF2B5EF4-FFF2-40B4-BE49-F238E27FC236}">
                <a16:creationId xmlns:a16="http://schemas.microsoft.com/office/drawing/2014/main" id="{7157718E-8A4F-49D9-BA83-476C3F80DF66}"/>
              </a:ext>
            </a:extLst>
          </p:cNvPr>
          <p:cNvGraphicFramePr/>
          <p:nvPr/>
        </p:nvGraphicFramePr>
        <p:xfrm>
          <a:off xmlns:a="http://schemas.openxmlformats.org/drawingml/2006/main" x="609600" y="1485900"/>
          <a:ext xmlns:a="http://schemas.openxmlformats.org/drawingml/2006/main" cx="10972800" cy="3771900"/>
        </p:xfrm>
        <a:graphic xmlns:a="http://schemas.openxmlformats.org/drawingml/2006/main">
          <a:graphicData uri="http://schemas.openxmlformats.org/drawingml/2006/table">
            <a:tbl>
              <a:tblPr/>
              <a:tblGrid>
                <a:gridCol w="4937760"/>
                <a:gridCol w="6035040"/>
              </a:tblGrid>
              <a:tr h="538843">
                <a:tc>
                  <a:txBody>
                    <a:bodyPr/>
                    <a:lstStyle/>
                    <a:p>
                      <a:r>
                        <a:rPr sz="1875" b="1">
                          <a:solidFill>
                            <a:srgbClr val="FFFFFF"/>
                          </a:solidFill>
                        </a:rPr>
                        <a:t>检查</a:t>
                      </a:r>
                    </a:p>
                  </a:txBody>
                  <a:tcPr marL="133350" marR="114300" marT="76200" marB="76200" anchor="ctr">
                    <a:lnL w="9525">
                      <a:solidFill>
                        <a:srgbClr val="CCD9DE"/>
                      </a:solidFill>
                      <a:prstDash val="solid"/>
                    </a:lnL>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c>
                  <a:txBody>
                    <a:bodyPr/>
                    <a:lstStyle/>
                    <a:p>
                      <a:r>
                        <a:rPr sz="1875" b="1">
                          <a:solidFill>
                            <a:srgbClr val="FFFFFF"/>
                          </a:solidFill>
                        </a:rPr>
                        <a:t>修订结果</a:t>
                      </a:r>
                    </a:p>
                  </a:txBody>
                  <a:tcPr marL="133350" marR="114300" marT="76200" marB="76200" anchor="ctr">
                    <a:lnR w="9525">
                      <a:solidFill>
                        <a:srgbClr val="CCD9DE"/>
                      </a:solidFill>
                      <a:prstDash val="solid"/>
                    </a:lnR>
                    <a:lnT w="9525">
                      <a:solidFill>
                        <a:srgbClr val="CCD9DE"/>
                      </a:solidFill>
                      <a:prstDash val="solid"/>
                    </a:lnT>
                    <a:lnB w="9525">
                      <a:solidFill>
                        <a:srgbClr val="CCD9DE"/>
                      </a:solidFill>
                      <a:prstDash val="solid"/>
                    </a:lnB>
                    <a:solidFill>
                      <a:srgbClr val="102C3A"/>
                    </a:solidFill>
                  </a:tcPr>
                </a:tc>
              </a:tr>
              <a:tr h="538843">
                <a:tc>
                  <a:txBody>
                    <a:bodyPr/>
                    <a:lstStyle/>
                    <a:p>
                      <a:r>
                        <a:rPr sz="1875" b="0">
                          <a:solidFill>
                            <a:srgbClr val="102C3A"/>
                          </a:solidFill>
                        </a:rPr>
                        <a:t>计算版本</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1.3.0，网页与报告共用修订引擎</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基础成本与现金桥</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长期基础成本11.8，不再额外调高</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38843">
                <a:tc>
                  <a:txBody>
                    <a:bodyPr/>
                    <a:lstStyle/>
                    <a:p>
                      <a:r>
                        <a:rPr sz="1875" b="0">
                          <a:solidFill>
                            <a:srgbClr val="102C3A"/>
                          </a:solidFill>
                        </a:rPr>
                        <a:t>重新计算</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逐年利润、现金流、终值和成长价值重算</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独立校验</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恒等式、成本固定、投资时点与折现检查</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r h="538843">
                <a:tc>
                  <a:txBody>
                    <a:bodyPr/>
                    <a:lstStyle/>
                    <a:p>
                      <a:r>
                        <a:rPr sz="1875" b="0">
                          <a:solidFill>
                            <a:srgbClr val="102C3A"/>
                          </a:solidFill>
                        </a:rPr>
                        <a:t>平量及9000万路径</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FFFFFF"/>
                    </a:solidFill>
                  </a:tcPr>
                </a:tc>
                <a:tc>
                  <a:txBody>
                    <a:bodyPr/>
                    <a:lstStyle/>
                    <a:p>
                      <a:r>
                        <a:rPr sz="1875" b="0">
                          <a:solidFill>
                            <a:srgbClr val="102C3A"/>
                          </a:solidFill>
                        </a:rPr>
                        <a:t>58.1533 / 61.2262元/股</a:t>
                      </a:r>
                    </a:p>
                  </a:txBody>
                  <a:tcPr marL="133350" marR="114300" marT="76200" marB="76200" anchor="ctr">
                    <a:lnR w="9525">
                      <a:solidFill>
                        <a:srgbClr val="CCD9DE"/>
                      </a:solidFill>
                      <a:prstDash val="solid"/>
                    </a:lnR>
                    <a:lnB w="9525">
                      <a:solidFill>
                        <a:srgbClr val="CCD9DE"/>
                      </a:solidFill>
                      <a:prstDash val="solid"/>
                    </a:lnB>
                    <a:solidFill>
                      <a:srgbClr val="FFFFFF"/>
                    </a:solidFill>
                  </a:tcPr>
                </a:tc>
              </a:tr>
              <a:tr h="538843">
                <a:tc>
                  <a:txBody>
                    <a:bodyPr/>
                    <a:lstStyle/>
                    <a:p>
                      <a:r>
                        <a:rPr sz="1875" b="0">
                          <a:solidFill>
                            <a:srgbClr val="102C3A"/>
                          </a:solidFill>
                        </a:rPr>
                        <a:t>主要边界</a:t>
                      </a:r>
                    </a:p>
                  </a:txBody>
                  <a:tcPr marL="133350" marR="114300" marT="76200" marB="76200" anchor="ctr">
                    <a:lnL w="9525">
                      <a:solidFill>
                        <a:srgbClr val="CCD9DE"/>
                      </a:solidFill>
                      <a:prstDash val="solid"/>
                    </a:lnL>
                    <a:lnR w="9525">
                      <a:solidFill>
                        <a:srgbClr val="CCD9DE"/>
                      </a:solidFill>
                      <a:prstDash val="solid"/>
                    </a:lnR>
                    <a:lnB w="9525">
                      <a:solidFill>
                        <a:srgbClr val="CCD9DE"/>
                      </a:solidFill>
                      <a:prstDash val="solid"/>
                    </a:lnB>
                    <a:solidFill>
                      <a:srgbClr val="EFF4F5"/>
                    </a:solidFill>
                  </a:tcPr>
                </a:tc>
                <a:tc>
                  <a:txBody>
                    <a:bodyPr/>
                    <a:lstStyle/>
                    <a:p>
                      <a:r>
                        <a:rPr sz="1875" b="0">
                          <a:solidFill>
                            <a:srgbClr val="102C3A"/>
                          </a:solidFill>
                        </a:rPr>
                        <a:t>真实月度MSY、融资预算及实际折旧年限待核</a:t>
                      </a:r>
                    </a:p>
                  </a:txBody>
                  <a:tcPr marL="133350" marR="114300" marT="76200" marB="76200" anchor="ctr">
                    <a:lnR w="9525">
                      <a:solidFill>
                        <a:srgbClr val="CCD9DE"/>
                      </a:solidFill>
                      <a:prstDash val="solid"/>
                    </a:lnR>
                    <a:lnB w="9525">
                      <a:solidFill>
                        <a:srgbClr val="CCD9DE"/>
                      </a:solidFill>
                      <a:prstDash val="solid"/>
                    </a:lnB>
                    <a:solidFill>
                      <a:srgbClr val="EFF4F5"/>
                    </a:solidFill>
                  </a:tcPr>
                </a:tc>
              </a:tr>
            </a:tbl>
          </a:graphicData>
        </a:graphic>
      </p:graphicFrame>
      <p:sp>
        <p:nvSpPr>
          <p:cNvPr id="4" name="takeaway">
            <a:extLst xmlns:a="http://schemas.openxmlformats.org/drawingml/2006/main">
              <a:ext uri="{FF2B5EF4-FFF2-40B4-BE49-F238E27FC236}">
                <a16:creationId xmlns:a16="http://schemas.microsoft.com/office/drawing/2014/main" id="{A787E812-993D-46BB-A52D-A3DA4B3A02FF}"/>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修订结果与现行代码对应，旧版估值已退出当前报告和讲稿</a:t>
            </a:r>
          </a:p>
        </p:txBody>
      </p:sp>
      <p:sp>
        <p:nvSpPr>
          <p:cNvPr id="5" name="source">
            <a:extLst xmlns:a="http://schemas.openxmlformats.org/drawingml/2006/main">
              <a:ext uri="{FF2B5EF4-FFF2-40B4-BE49-F238E27FC236}">
                <a16:creationId xmlns:a16="http://schemas.microsoft.com/office/drawing/2014/main" id="{1391082F-F79D-4F2C-AC5C-0D49E87D7D41}"/>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修订audit.md、测试日志</a:t>
            </a:r>
          </a:p>
        </p:txBody>
      </p:sp>
      <p:sp>
        <p:nvSpPr>
          <p:cNvPr id="6" name="page">
            <a:extLst xmlns:a="http://schemas.openxmlformats.org/drawingml/2006/main">
              <a:ext uri="{FF2B5EF4-FFF2-40B4-BE49-F238E27FC236}">
                <a16:creationId xmlns:a16="http://schemas.microsoft.com/office/drawing/2014/main" id="{3F2B0D35-FDB3-4EFF-8658-046F7EDD475F}"/>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54</a:t>
            </a:r>
          </a:p>
        </p:txBody>
      </p:sp>
    </p:spTree>
    <p:extLst>
      <p:ext uri="{BB962C8B-B14F-4D97-AF65-F5344CB8AC3E}">
        <p14:creationId xmlns:p14="http://schemas.microsoft.com/office/powerpoint/2010/main" val="1446233663"/>
      </p:ext>
    </p:extLst>
  </p:cSld>
</p:sld>
</file>

<file path=ppt/slides/slide5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CB7547B-124D-44C8-974A-1FE4AFE8600F}"/>
              </a:ext>
            </a:extLst>
          </p:cNvPr>
          <p:cNvSpPr>
            <a:spLocks xmlns:a="http://schemas.openxmlformats.org/drawingml/2006/main" noGrp="1"/>
          </p:cNvSpPr>
          <p:nvPr/>
        </p:nvSpPr>
        <p:spPr>
          <a:xfrm xmlns:a="http://schemas.openxmlformats.org/drawingml/2006/main">
            <a:off x="609600" y="4286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102C3A"/>
                </a:solidFill>
              </a:defRPr>
            </a:defPPr>
            <a:lvl1pPr>
              <a:defRPr sz="3225" b="1">
                <a:solidFill>
                  <a:srgbClr val="102C3A"/>
                </a:solidFill>
              </a:defRPr>
            </a:lvl1pPr>
            <a:lvl2pPr>
              <a:defRPr sz="3225" b="1">
                <a:solidFill>
                  <a:srgbClr val="102C3A"/>
                </a:solidFill>
              </a:defRPr>
            </a:lvl2pPr>
            <a:lvl3pPr>
              <a:defRPr sz="3225" b="1">
                <a:solidFill>
                  <a:srgbClr val="102C3A"/>
                </a:solidFill>
              </a:defRPr>
            </a:lvl3pPr>
            <a:lvl4pPr>
              <a:defRPr sz="3225" b="1">
                <a:solidFill>
                  <a:srgbClr val="102C3A"/>
                </a:solidFill>
              </a:defRPr>
            </a:lvl4pPr>
            <a:lvl5pPr>
              <a:defRPr sz="3225" b="1">
                <a:solidFill>
                  <a:srgbClr val="102C3A"/>
                </a:solidFill>
              </a:defRPr>
            </a:lvl5pPr>
            <a:lvl6pPr>
              <a:defRPr sz="3225" b="1">
                <a:solidFill>
                  <a:srgbClr val="102C3A"/>
                </a:solidFill>
              </a:defRPr>
            </a:lvl6pPr>
            <a:lvl7pPr>
              <a:defRPr sz="3225" b="1">
                <a:solidFill>
                  <a:srgbClr val="102C3A"/>
                </a:solidFill>
              </a:defRPr>
            </a:lvl7pPr>
            <a:lvl8pPr>
              <a:defRPr sz="3225" b="1">
                <a:solidFill>
                  <a:srgbClr val="102C3A"/>
                </a:solidFill>
              </a:defRPr>
            </a:lvl8pPr>
            <a:lvl9pPr>
              <a:defRPr sz="3225" b="1">
                <a:solidFill>
                  <a:srgbClr val="102C3A"/>
                </a:solidFill>
              </a:defRPr>
            </a:lvl9pPr>
          </a:lstStyle>
          <a:p xmlns:a="http://schemas.openxmlformats.org/drawingml/2006/main">
            <a:pPr>
              <a:defRPr sz="3225" b="1">
                <a:solidFill>
                  <a:srgbClr val="102C3A"/>
                </a:solidFill>
              </a:defRPr>
            </a:pPr>
            <a:r>
              <a:rPr sz="3225" b="1">
                <a:solidFill>
                  <a:srgbClr val="102C3A"/>
                </a:solidFill>
              </a:rPr>
              <a:t>附录F：来源与研究材料</a:t>
            </a:r>
          </a:p>
        </p:txBody>
      </p:sp>
      <p:sp>
        <p:nvSpPr>
          <p:cNvPr id="3" name="content-0">
            <a:extLst xmlns:a="http://schemas.openxmlformats.org/drawingml/2006/main">
              <a:ext uri="{FF2B5EF4-FFF2-40B4-BE49-F238E27FC236}">
                <a16:creationId xmlns:a16="http://schemas.microsoft.com/office/drawing/2014/main" id="{D23F4250-DD4D-4B12-8BDD-F1BAF4364649}"/>
              </a:ext>
            </a:extLst>
          </p:cNvPr>
          <p:cNvSpPr>
            <a:spLocks xmlns:a="http://schemas.openxmlformats.org/drawingml/2006/main" noGrp="1"/>
          </p:cNvSpPr>
          <p:nvPr/>
        </p:nvSpPr>
        <p:spPr>
          <a:xfrm xmlns:a="http://schemas.openxmlformats.org/drawingml/2006/main">
            <a:off x="714375" y="156210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0">
                <a:solidFill>
                  <a:srgbClr val="102C3A"/>
                </a:solidFill>
              </a:defRPr>
            </a:defPPr>
            <a:lvl1pPr>
              <a:defRPr sz="2025" b="0">
                <a:solidFill>
                  <a:srgbClr val="102C3A"/>
                </a:solidFill>
              </a:defRPr>
            </a:lvl1pPr>
            <a:lvl2pPr>
              <a:defRPr sz="2025" b="0">
                <a:solidFill>
                  <a:srgbClr val="102C3A"/>
                </a:solidFill>
              </a:defRPr>
            </a:lvl2pPr>
            <a:lvl3pPr>
              <a:defRPr sz="2025" b="0">
                <a:solidFill>
                  <a:srgbClr val="102C3A"/>
                </a:solidFill>
              </a:defRPr>
            </a:lvl3pPr>
            <a:lvl4pPr>
              <a:defRPr sz="2025" b="0">
                <a:solidFill>
                  <a:srgbClr val="102C3A"/>
                </a:solidFill>
              </a:defRPr>
            </a:lvl4pPr>
            <a:lvl5pPr>
              <a:defRPr sz="2025" b="0">
                <a:solidFill>
                  <a:srgbClr val="102C3A"/>
                </a:solidFill>
              </a:defRPr>
            </a:lvl5pPr>
            <a:lvl6pPr>
              <a:defRPr sz="2025" b="0">
                <a:solidFill>
                  <a:srgbClr val="102C3A"/>
                </a:solidFill>
              </a:defRPr>
            </a:lvl6pPr>
            <a:lvl7pPr>
              <a:defRPr sz="2025" b="0">
                <a:solidFill>
                  <a:srgbClr val="102C3A"/>
                </a:solidFill>
              </a:defRPr>
            </a:lvl7pPr>
            <a:lvl8pPr>
              <a:defRPr sz="2025" b="0">
                <a:solidFill>
                  <a:srgbClr val="102C3A"/>
                </a:solidFill>
              </a:defRPr>
            </a:lvl8pPr>
            <a:lvl9pPr>
              <a:defRPr sz="2025" b="0">
                <a:solidFill>
                  <a:srgbClr val="102C3A"/>
                </a:solidFill>
              </a:defRPr>
            </a:lvl9pPr>
          </a:lstStyle>
          <a:p xmlns:a="http://schemas.openxmlformats.org/drawingml/2006/main">
            <a:pPr>
              <a:defRPr sz="2025" b="0">
                <a:solidFill>
                  <a:srgbClr val="102C3A"/>
                </a:solidFill>
              </a:defRPr>
            </a:pPr>
            <a:r>
              <a:rPr sz="2025" b="0">
                <a:solidFill>
                  <a:srgbClr val="102C3A"/>
                </a:solidFill>
              </a:rPr>
              <a:t>成本：神农披露及浙江、沈阳、山东官方调查</a:t>
            </a:r>
          </a:p>
        </p:txBody>
      </p:sp>
      <p:sp>
        <p:nvSpPr>
          <p:cNvPr id="4" name="content-1">
            <a:extLst xmlns:a="http://schemas.openxmlformats.org/drawingml/2006/main">
              <a:ext uri="{FF2B5EF4-FFF2-40B4-BE49-F238E27FC236}">
                <a16:creationId xmlns:a16="http://schemas.microsoft.com/office/drawing/2014/main" id="{73F34AFF-0E26-4662-8337-48776B8826A4}"/>
              </a:ext>
            </a:extLst>
          </p:cNvPr>
          <p:cNvSpPr>
            <a:spLocks xmlns:a="http://schemas.openxmlformats.org/drawingml/2006/main" noGrp="1"/>
          </p:cNvSpPr>
          <p:nvPr/>
        </p:nvSpPr>
        <p:spPr>
          <a:xfrm xmlns:a="http://schemas.openxmlformats.org/drawingml/2006/main">
            <a:off x="714375" y="232410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0">
                <a:solidFill>
                  <a:srgbClr val="102C3A"/>
                </a:solidFill>
              </a:defRPr>
            </a:defPPr>
            <a:lvl1pPr>
              <a:defRPr sz="2025" b="0">
                <a:solidFill>
                  <a:srgbClr val="102C3A"/>
                </a:solidFill>
              </a:defRPr>
            </a:lvl1pPr>
            <a:lvl2pPr>
              <a:defRPr sz="2025" b="0">
                <a:solidFill>
                  <a:srgbClr val="102C3A"/>
                </a:solidFill>
              </a:defRPr>
            </a:lvl2pPr>
            <a:lvl3pPr>
              <a:defRPr sz="2025" b="0">
                <a:solidFill>
                  <a:srgbClr val="102C3A"/>
                </a:solidFill>
              </a:defRPr>
            </a:lvl3pPr>
            <a:lvl4pPr>
              <a:defRPr sz="2025" b="0">
                <a:solidFill>
                  <a:srgbClr val="102C3A"/>
                </a:solidFill>
              </a:defRPr>
            </a:lvl4pPr>
            <a:lvl5pPr>
              <a:defRPr sz="2025" b="0">
                <a:solidFill>
                  <a:srgbClr val="102C3A"/>
                </a:solidFill>
              </a:defRPr>
            </a:lvl5pPr>
            <a:lvl6pPr>
              <a:defRPr sz="2025" b="0">
                <a:solidFill>
                  <a:srgbClr val="102C3A"/>
                </a:solidFill>
              </a:defRPr>
            </a:lvl6pPr>
            <a:lvl7pPr>
              <a:defRPr sz="2025" b="0">
                <a:solidFill>
                  <a:srgbClr val="102C3A"/>
                </a:solidFill>
              </a:defRPr>
            </a:lvl7pPr>
            <a:lvl8pPr>
              <a:defRPr sz="2025" b="0">
                <a:solidFill>
                  <a:srgbClr val="102C3A"/>
                </a:solidFill>
              </a:defRPr>
            </a:lvl8pPr>
            <a:lvl9pPr>
              <a:defRPr sz="2025" b="0">
                <a:solidFill>
                  <a:srgbClr val="102C3A"/>
                </a:solidFill>
              </a:defRPr>
            </a:lvl9pPr>
          </a:lstStyle>
          <a:p xmlns:a="http://schemas.openxmlformats.org/drawingml/2006/main">
            <a:pPr>
              <a:defRPr sz="2025" b="0">
                <a:solidFill>
                  <a:srgbClr val="102C3A"/>
                </a:solidFill>
              </a:defRPr>
            </a:pPr>
            <a:r>
              <a:rPr sz="2025" b="0">
                <a:solidFill>
                  <a:srgbClr val="102C3A"/>
                </a:solidFill>
              </a:rPr>
              <a:t>效率与行业：主管部门统计、PigCHAMP、InterPIG、IFIP、SEGES</a:t>
            </a:r>
          </a:p>
        </p:txBody>
      </p:sp>
      <p:sp>
        <p:nvSpPr>
          <p:cNvPr id="5" name="content-2">
            <a:extLst xmlns:a="http://schemas.openxmlformats.org/drawingml/2006/main">
              <a:ext uri="{FF2B5EF4-FFF2-40B4-BE49-F238E27FC236}">
                <a16:creationId xmlns:a16="http://schemas.microsoft.com/office/drawing/2014/main" id="{DBE4AA6D-171D-4309-A9BB-82EBCA03117B}"/>
              </a:ext>
            </a:extLst>
          </p:cNvPr>
          <p:cNvSpPr>
            <a:spLocks xmlns:a="http://schemas.openxmlformats.org/drawingml/2006/main" noGrp="1"/>
          </p:cNvSpPr>
          <p:nvPr/>
        </p:nvSpPr>
        <p:spPr>
          <a:xfrm xmlns:a="http://schemas.openxmlformats.org/drawingml/2006/main">
            <a:off x="714375" y="308610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0">
                <a:solidFill>
                  <a:srgbClr val="102C3A"/>
                </a:solidFill>
              </a:defRPr>
            </a:defPPr>
            <a:lvl1pPr>
              <a:defRPr sz="2025" b="0">
                <a:solidFill>
                  <a:srgbClr val="102C3A"/>
                </a:solidFill>
              </a:defRPr>
            </a:lvl1pPr>
            <a:lvl2pPr>
              <a:defRPr sz="2025" b="0">
                <a:solidFill>
                  <a:srgbClr val="102C3A"/>
                </a:solidFill>
              </a:defRPr>
            </a:lvl2pPr>
            <a:lvl3pPr>
              <a:defRPr sz="2025" b="0">
                <a:solidFill>
                  <a:srgbClr val="102C3A"/>
                </a:solidFill>
              </a:defRPr>
            </a:lvl3pPr>
            <a:lvl4pPr>
              <a:defRPr sz="2025" b="0">
                <a:solidFill>
                  <a:srgbClr val="102C3A"/>
                </a:solidFill>
              </a:defRPr>
            </a:lvl4pPr>
            <a:lvl5pPr>
              <a:defRPr sz="2025" b="0">
                <a:solidFill>
                  <a:srgbClr val="102C3A"/>
                </a:solidFill>
              </a:defRPr>
            </a:lvl5pPr>
            <a:lvl6pPr>
              <a:defRPr sz="2025" b="0">
                <a:solidFill>
                  <a:srgbClr val="102C3A"/>
                </a:solidFill>
              </a:defRPr>
            </a:lvl6pPr>
            <a:lvl7pPr>
              <a:defRPr sz="2025" b="0">
                <a:solidFill>
                  <a:srgbClr val="102C3A"/>
                </a:solidFill>
              </a:defRPr>
            </a:lvl7pPr>
            <a:lvl8pPr>
              <a:defRPr sz="2025" b="0">
                <a:solidFill>
                  <a:srgbClr val="102C3A"/>
                </a:solidFill>
              </a:defRPr>
            </a:lvl8pPr>
            <a:lvl9pPr>
              <a:defRPr sz="2025" b="0">
                <a:solidFill>
                  <a:srgbClr val="102C3A"/>
                </a:solidFill>
              </a:defRPr>
            </a:lvl9pPr>
          </a:lstStyle>
          <a:p xmlns:a="http://schemas.openxmlformats.org/drawingml/2006/main">
            <a:pPr>
              <a:defRPr sz="2025" b="0">
                <a:solidFill>
                  <a:srgbClr val="102C3A"/>
                </a:solidFill>
              </a:defRPr>
            </a:pPr>
            <a:r>
              <a:rPr sz="2025" b="0">
                <a:solidFill>
                  <a:srgbClr val="102C3A"/>
                </a:solidFill>
              </a:rPr>
              <a:t>公司：发行人年报、投资者关系记录、评级及中期报告</a:t>
            </a:r>
          </a:p>
        </p:txBody>
      </p:sp>
      <p:sp>
        <p:nvSpPr>
          <p:cNvPr id="6" name="content-3">
            <a:extLst xmlns:a="http://schemas.openxmlformats.org/drawingml/2006/main">
              <a:ext uri="{FF2B5EF4-FFF2-40B4-BE49-F238E27FC236}">
                <a16:creationId xmlns:a16="http://schemas.microsoft.com/office/drawing/2014/main" id="{7140BCAD-1D9E-4C0A-8332-422B0CDB00C6}"/>
              </a:ext>
            </a:extLst>
          </p:cNvPr>
          <p:cNvSpPr>
            <a:spLocks xmlns:a="http://schemas.openxmlformats.org/drawingml/2006/main" noGrp="1"/>
          </p:cNvSpPr>
          <p:nvPr/>
        </p:nvSpPr>
        <p:spPr>
          <a:xfrm xmlns:a="http://schemas.openxmlformats.org/drawingml/2006/main">
            <a:off x="714375" y="384810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0">
                <a:solidFill>
                  <a:srgbClr val="102C3A"/>
                </a:solidFill>
              </a:defRPr>
            </a:defPPr>
            <a:lvl1pPr>
              <a:defRPr sz="2025" b="0">
                <a:solidFill>
                  <a:srgbClr val="102C3A"/>
                </a:solidFill>
              </a:defRPr>
            </a:lvl1pPr>
            <a:lvl2pPr>
              <a:defRPr sz="2025" b="0">
                <a:solidFill>
                  <a:srgbClr val="102C3A"/>
                </a:solidFill>
              </a:defRPr>
            </a:lvl2pPr>
            <a:lvl3pPr>
              <a:defRPr sz="2025" b="0">
                <a:solidFill>
                  <a:srgbClr val="102C3A"/>
                </a:solidFill>
              </a:defRPr>
            </a:lvl3pPr>
            <a:lvl4pPr>
              <a:defRPr sz="2025" b="0">
                <a:solidFill>
                  <a:srgbClr val="102C3A"/>
                </a:solidFill>
              </a:defRPr>
            </a:lvl4pPr>
            <a:lvl5pPr>
              <a:defRPr sz="2025" b="0">
                <a:solidFill>
                  <a:srgbClr val="102C3A"/>
                </a:solidFill>
              </a:defRPr>
            </a:lvl5pPr>
            <a:lvl6pPr>
              <a:defRPr sz="2025" b="0">
                <a:solidFill>
                  <a:srgbClr val="102C3A"/>
                </a:solidFill>
              </a:defRPr>
            </a:lvl6pPr>
            <a:lvl7pPr>
              <a:defRPr sz="2025" b="0">
                <a:solidFill>
                  <a:srgbClr val="102C3A"/>
                </a:solidFill>
              </a:defRPr>
            </a:lvl7pPr>
            <a:lvl8pPr>
              <a:defRPr sz="2025" b="0">
                <a:solidFill>
                  <a:srgbClr val="102C3A"/>
                </a:solidFill>
              </a:defRPr>
            </a:lvl8pPr>
            <a:lvl9pPr>
              <a:defRPr sz="2025" b="0">
                <a:solidFill>
                  <a:srgbClr val="102C3A"/>
                </a:solidFill>
              </a:defRPr>
            </a:lvl9pPr>
          </a:lstStyle>
          <a:p xmlns:a="http://schemas.openxmlformats.org/drawingml/2006/main">
            <a:pPr>
              <a:defRPr sz="2025" b="0">
                <a:solidFill>
                  <a:srgbClr val="102C3A"/>
                </a:solidFill>
              </a:defRPr>
            </a:pPr>
            <a:r>
              <a:rPr sz="2025" b="0">
                <a:solidFill>
                  <a:srgbClr val="102C3A"/>
                </a:solidFill>
              </a:rPr>
              <a:t>方法与美国：USDA统计研究、Smithfield 10-K、Damodaran</a:t>
            </a:r>
          </a:p>
        </p:txBody>
      </p:sp>
      <p:sp>
        <p:nvSpPr>
          <p:cNvPr id="7" name="content-4">
            <a:extLst xmlns:a="http://schemas.openxmlformats.org/drawingml/2006/main">
              <a:ext uri="{FF2B5EF4-FFF2-40B4-BE49-F238E27FC236}">
                <a16:creationId xmlns:a16="http://schemas.microsoft.com/office/drawing/2014/main" id="{DF9E1B1C-294E-400D-8B6E-80EF5790097F}"/>
              </a:ext>
            </a:extLst>
          </p:cNvPr>
          <p:cNvSpPr>
            <a:spLocks xmlns:a="http://schemas.openxmlformats.org/drawingml/2006/main" noGrp="1"/>
          </p:cNvSpPr>
          <p:nvPr/>
        </p:nvSpPr>
        <p:spPr>
          <a:xfrm xmlns:a="http://schemas.openxmlformats.org/drawingml/2006/main">
            <a:off x="714375" y="461010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0">
                <a:solidFill>
                  <a:srgbClr val="102C3A"/>
                </a:solidFill>
              </a:defRPr>
            </a:defPPr>
            <a:lvl1pPr>
              <a:defRPr sz="2025" b="0">
                <a:solidFill>
                  <a:srgbClr val="102C3A"/>
                </a:solidFill>
              </a:defRPr>
            </a:lvl1pPr>
            <a:lvl2pPr>
              <a:defRPr sz="2025" b="0">
                <a:solidFill>
                  <a:srgbClr val="102C3A"/>
                </a:solidFill>
              </a:defRPr>
            </a:lvl2pPr>
            <a:lvl3pPr>
              <a:defRPr sz="2025" b="0">
                <a:solidFill>
                  <a:srgbClr val="102C3A"/>
                </a:solidFill>
              </a:defRPr>
            </a:lvl3pPr>
            <a:lvl4pPr>
              <a:defRPr sz="2025" b="0">
                <a:solidFill>
                  <a:srgbClr val="102C3A"/>
                </a:solidFill>
              </a:defRPr>
            </a:lvl4pPr>
            <a:lvl5pPr>
              <a:defRPr sz="2025" b="0">
                <a:solidFill>
                  <a:srgbClr val="102C3A"/>
                </a:solidFill>
              </a:defRPr>
            </a:lvl5pPr>
            <a:lvl6pPr>
              <a:defRPr sz="2025" b="0">
                <a:solidFill>
                  <a:srgbClr val="102C3A"/>
                </a:solidFill>
              </a:defRPr>
            </a:lvl6pPr>
            <a:lvl7pPr>
              <a:defRPr sz="2025" b="0">
                <a:solidFill>
                  <a:srgbClr val="102C3A"/>
                </a:solidFill>
              </a:defRPr>
            </a:lvl7pPr>
            <a:lvl8pPr>
              <a:defRPr sz="2025" b="0">
                <a:solidFill>
                  <a:srgbClr val="102C3A"/>
                </a:solidFill>
              </a:defRPr>
            </a:lvl8pPr>
            <a:lvl9pPr>
              <a:defRPr sz="2025" b="0">
                <a:solidFill>
                  <a:srgbClr val="102C3A"/>
                </a:solidFill>
              </a:defRPr>
            </a:lvl9pPr>
          </a:lstStyle>
          <a:p xmlns:a="http://schemas.openxmlformats.org/drawingml/2006/main">
            <a:pPr>
              <a:defRPr sz="2025" b="0">
                <a:solidFill>
                  <a:srgbClr val="102C3A"/>
                </a:solidFill>
              </a:defRPr>
            </a:pPr>
            <a:r>
              <a:rPr sz="2025" b="0">
                <a:solidFill>
                  <a:srgbClr val="102C3A"/>
                </a:solidFill>
              </a:rPr>
              <a:t>65项报告直接引用及逐行来源，见公开材料中的来源目录</a:t>
            </a:r>
          </a:p>
        </p:txBody>
      </p:sp>
      <p:sp>
        <p:nvSpPr>
          <p:cNvPr id="8" name="takeaway">
            <a:extLst xmlns:a="http://schemas.openxmlformats.org/drawingml/2006/main">
              <a:ext uri="{FF2B5EF4-FFF2-40B4-BE49-F238E27FC236}">
                <a16:creationId xmlns:a16="http://schemas.microsoft.com/office/drawing/2014/main" id="{CA061ACE-1754-4317-8309-2C723A13F5FF}"/>
              </a:ext>
            </a:extLst>
          </p:cNvPr>
          <p:cNvSpPr>
            <a:spLocks xmlns:a="http://schemas.openxmlformats.org/drawingml/2006/main" noGrp="1"/>
          </p:cNvSpPr>
          <p:nvPr/>
        </p:nvSpPr>
        <p:spPr>
          <a:xfrm xmlns:a="http://schemas.openxmlformats.org/drawingml/2006/main">
            <a:off x="609600" y="56769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75" b="1">
                <a:solidFill>
                  <a:srgbClr val="087F80"/>
                </a:solidFill>
              </a:defRPr>
            </a:defPPr>
            <a:lvl1pPr>
              <a:defRPr sz="1875" b="1">
                <a:solidFill>
                  <a:srgbClr val="087F80"/>
                </a:solidFill>
              </a:defRPr>
            </a:lvl1pPr>
            <a:lvl2pPr>
              <a:defRPr sz="1875" b="1">
                <a:solidFill>
                  <a:srgbClr val="087F80"/>
                </a:solidFill>
              </a:defRPr>
            </a:lvl2pPr>
            <a:lvl3pPr>
              <a:defRPr sz="1875" b="1">
                <a:solidFill>
                  <a:srgbClr val="087F80"/>
                </a:solidFill>
              </a:defRPr>
            </a:lvl3pPr>
            <a:lvl4pPr>
              <a:defRPr sz="1875" b="1">
                <a:solidFill>
                  <a:srgbClr val="087F80"/>
                </a:solidFill>
              </a:defRPr>
            </a:lvl4pPr>
            <a:lvl5pPr>
              <a:defRPr sz="1875" b="1">
                <a:solidFill>
                  <a:srgbClr val="087F80"/>
                </a:solidFill>
              </a:defRPr>
            </a:lvl5pPr>
            <a:lvl6pPr>
              <a:defRPr sz="1875" b="1">
                <a:solidFill>
                  <a:srgbClr val="087F80"/>
                </a:solidFill>
              </a:defRPr>
            </a:lvl6pPr>
            <a:lvl7pPr>
              <a:defRPr sz="1875" b="1">
                <a:solidFill>
                  <a:srgbClr val="087F80"/>
                </a:solidFill>
              </a:defRPr>
            </a:lvl7pPr>
            <a:lvl8pPr>
              <a:defRPr sz="1875" b="1">
                <a:solidFill>
                  <a:srgbClr val="087F80"/>
                </a:solidFill>
              </a:defRPr>
            </a:lvl8pPr>
            <a:lvl9pPr>
              <a:defRPr sz="1875" b="1">
                <a:solidFill>
                  <a:srgbClr val="087F80"/>
                </a:solidFill>
              </a:defRPr>
            </a:lvl9pPr>
          </a:lstStyle>
          <a:p xmlns:a="http://schemas.openxmlformats.org/drawingml/2006/main">
            <a:pPr>
              <a:defRPr sz="1875" b="1">
                <a:solidFill>
                  <a:srgbClr val="087F80"/>
                </a:solidFill>
              </a:defRPr>
            </a:pPr>
            <a:r>
              <a:rPr sz="1875" b="1">
                <a:solidFill>
                  <a:srgbClr val="087F80"/>
                </a:solidFill>
              </a:rPr>
              <a:t>公开仓库和计算网页均附资料截止日、原始链接与限制说明</a:t>
            </a:r>
          </a:p>
        </p:txBody>
      </p:sp>
      <p:sp>
        <p:nvSpPr>
          <p:cNvPr id="9" name="source">
            <a:extLst xmlns:a="http://schemas.openxmlformats.org/drawingml/2006/main">
              <a:ext uri="{FF2B5EF4-FFF2-40B4-BE49-F238E27FC236}">
                <a16:creationId xmlns:a16="http://schemas.microsoft.com/office/drawing/2014/main" id="{03DE46C6-324D-4158-AF01-CA89FAD04B96}"/>
              </a:ext>
            </a:extLst>
          </p:cNvPr>
          <p:cNvSpPr>
            <a:spLocks xmlns:a="http://schemas.openxmlformats.org/drawingml/2006/main" noGrp="1"/>
          </p:cNvSpPr>
          <p:nvPr/>
        </p:nvSpPr>
        <p:spPr>
          <a:xfrm xmlns:a="http://schemas.openxmlformats.org/drawingml/2006/main">
            <a:off x="609600" y="6362700"/>
            <a:ext cx="10191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125" b="0">
                <a:solidFill>
                  <a:srgbClr val="4A6271"/>
                </a:solidFill>
              </a:defRPr>
            </a:defPPr>
            <a:lvl1pPr>
              <a:defRPr sz="1125" b="0">
                <a:solidFill>
                  <a:srgbClr val="4A6271"/>
                </a:solidFill>
              </a:defRPr>
            </a:lvl1pPr>
            <a:lvl2pPr>
              <a:defRPr sz="1125" b="0">
                <a:solidFill>
                  <a:srgbClr val="4A6271"/>
                </a:solidFill>
              </a:defRPr>
            </a:lvl2pPr>
            <a:lvl3pPr>
              <a:defRPr sz="1125" b="0">
                <a:solidFill>
                  <a:srgbClr val="4A6271"/>
                </a:solidFill>
              </a:defRPr>
            </a:lvl3pPr>
            <a:lvl4pPr>
              <a:defRPr sz="1125" b="0">
                <a:solidFill>
                  <a:srgbClr val="4A6271"/>
                </a:solidFill>
              </a:defRPr>
            </a:lvl4pPr>
            <a:lvl5pPr>
              <a:defRPr sz="1125" b="0">
                <a:solidFill>
                  <a:srgbClr val="4A6271"/>
                </a:solidFill>
              </a:defRPr>
            </a:lvl5pPr>
            <a:lvl6pPr>
              <a:defRPr sz="1125" b="0">
                <a:solidFill>
                  <a:srgbClr val="4A6271"/>
                </a:solidFill>
              </a:defRPr>
            </a:lvl6pPr>
            <a:lvl7pPr>
              <a:defRPr sz="1125" b="0">
                <a:solidFill>
                  <a:srgbClr val="4A6271"/>
                </a:solidFill>
              </a:defRPr>
            </a:lvl7pPr>
            <a:lvl8pPr>
              <a:defRPr sz="1125" b="0">
                <a:solidFill>
                  <a:srgbClr val="4A6271"/>
                </a:solidFill>
              </a:defRPr>
            </a:lvl8pPr>
            <a:lvl9pPr>
              <a:defRPr sz="1125" b="0">
                <a:solidFill>
                  <a:srgbClr val="4A6271"/>
                </a:solidFill>
              </a:defRPr>
            </a:lvl9pPr>
          </a:lstStyle>
          <a:p xmlns:a="http://schemas.openxmlformats.org/drawingml/2006/main">
            <a:pPr>
              <a:defRPr sz="1125" b="0">
                <a:solidFill>
                  <a:srgbClr val="4A6271"/>
                </a:solidFill>
              </a:defRPr>
            </a:pPr>
            <a:r>
              <a:rPr sz="1125" b="0">
                <a:solidFill>
                  <a:srgbClr val="4A6271"/>
                </a:solidFill>
              </a:rPr>
              <a:t>报告参考文献[1]—[65]</a:t>
            </a:r>
          </a:p>
        </p:txBody>
      </p:sp>
      <p:sp>
        <p:nvSpPr>
          <p:cNvPr id="10" name="page">
            <a:extLst xmlns:a="http://schemas.openxmlformats.org/drawingml/2006/main">
              <a:ext uri="{FF2B5EF4-FFF2-40B4-BE49-F238E27FC236}">
                <a16:creationId xmlns:a16="http://schemas.microsoft.com/office/drawing/2014/main" id="{814557C1-415C-4A32-BCA2-C2755944CCA3}"/>
              </a:ext>
            </a:extLst>
          </p:cNvPr>
          <p:cNvSpPr>
            <a:spLocks xmlns:a="http://schemas.openxmlformats.org/drawingml/2006/main" noGrp="1"/>
          </p:cNvSpPr>
          <p:nvPr/>
        </p:nvSpPr>
        <p:spPr>
          <a:xfrm xmlns:a="http://schemas.openxmlformats.org/drawingml/2006/main">
            <a:off x="10953750" y="63055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4A6271"/>
                </a:solidFill>
              </a:defRPr>
            </a:defPPr>
            <a:lvl1pPr>
              <a:defRPr sz="1350" b="0">
                <a:solidFill>
                  <a:srgbClr val="4A6271"/>
                </a:solidFill>
              </a:defRPr>
            </a:lvl1pPr>
            <a:lvl2pPr>
              <a:defRPr sz="1350" b="0">
                <a:solidFill>
                  <a:srgbClr val="4A6271"/>
                </a:solidFill>
              </a:defRPr>
            </a:lvl2pPr>
            <a:lvl3pPr>
              <a:defRPr sz="1350" b="0">
                <a:solidFill>
                  <a:srgbClr val="4A6271"/>
                </a:solidFill>
              </a:defRPr>
            </a:lvl3pPr>
            <a:lvl4pPr>
              <a:defRPr sz="1350" b="0">
                <a:solidFill>
                  <a:srgbClr val="4A6271"/>
                </a:solidFill>
              </a:defRPr>
            </a:lvl4pPr>
            <a:lvl5pPr>
              <a:defRPr sz="1350" b="0">
                <a:solidFill>
                  <a:srgbClr val="4A6271"/>
                </a:solidFill>
              </a:defRPr>
            </a:lvl5pPr>
            <a:lvl6pPr>
              <a:defRPr sz="1350" b="0">
                <a:solidFill>
                  <a:srgbClr val="4A6271"/>
                </a:solidFill>
              </a:defRPr>
            </a:lvl6pPr>
            <a:lvl7pPr>
              <a:defRPr sz="1350" b="0">
                <a:solidFill>
                  <a:srgbClr val="4A6271"/>
                </a:solidFill>
              </a:defRPr>
            </a:lvl7pPr>
            <a:lvl8pPr>
              <a:defRPr sz="1350" b="0">
                <a:solidFill>
                  <a:srgbClr val="4A6271"/>
                </a:solidFill>
              </a:defRPr>
            </a:lvl8pPr>
            <a:lvl9pPr>
              <a:defRPr sz="1350" b="0">
                <a:solidFill>
                  <a:srgbClr val="4A6271"/>
                </a:solidFill>
              </a:defRPr>
            </a:lvl9pPr>
          </a:lstStyle>
          <a:p xmlns:a="http://schemas.openxmlformats.org/drawingml/2006/main">
            <a:pPr>
              <a:defRPr sz="1350" b="0">
                <a:solidFill>
                  <a:srgbClr val="4A6271"/>
                </a:solidFill>
              </a:defRPr>
            </a:pPr>
            <a:r>
              <a:rPr sz="1350" b="0">
                <a:solidFill>
                  <a:srgbClr val="4A6271"/>
                </a:solidFill>
              </a:rPr>
              <a:t>55</a:t>
            </a:r>
          </a:p>
        </p:txBody>
      </p:sp>
    </p:spTree>
    <p:extLst>
      <p:ext uri="{BB962C8B-B14F-4D97-AF65-F5344CB8AC3E}">
        <p14:creationId xmlns:p14="http://schemas.microsoft.com/office/powerpoint/2010/main" val="17690092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icrosoft YaHei"/>
        <a:ea typeface=""/>
        <a:cs typeface=""/>
      </a:majorFont>
      <a:minorFont>
        <a:latin typeface="Microsoft YaHe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2026-10-24T01:44:12.0470000Z</dcterms:created>
  <dcterms:modified xsi:type="dcterms:W3CDTF">2026-10-24T01:44:12.0470000Z</dcterms:modified>
</coreProperties>
</file>